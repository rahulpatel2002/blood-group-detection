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98" r:id="rId1"/>
  </p:sldMasterIdLst>
  <p:notesMasterIdLst>
    <p:notesMasterId r:id="rId22"/>
  </p:notesMasterIdLst>
  <p:sldIdLst>
    <p:sldId id="275" r:id="rId2"/>
    <p:sldId id="256" r:id="rId3"/>
    <p:sldId id="264" r:id="rId4"/>
    <p:sldId id="276" r:id="rId5"/>
    <p:sldId id="257" r:id="rId6"/>
    <p:sldId id="258" r:id="rId7"/>
    <p:sldId id="268" r:id="rId8"/>
    <p:sldId id="265" r:id="rId9"/>
    <p:sldId id="259" r:id="rId10"/>
    <p:sldId id="260" r:id="rId11"/>
    <p:sldId id="261" r:id="rId12"/>
    <p:sldId id="266" r:id="rId13"/>
    <p:sldId id="262" r:id="rId14"/>
    <p:sldId id="269" r:id="rId15"/>
    <p:sldId id="273" r:id="rId16"/>
    <p:sldId id="263" r:id="rId17"/>
    <p:sldId id="270" r:id="rId18"/>
    <p:sldId id="271" r:id="rId19"/>
    <p:sldId id="272" r:id="rId20"/>
    <p:sldId id="267" r:id="rId21"/>
  </p:sldIdLst>
  <p:sldSz cx="14630400" cy="8229600"/>
  <p:notesSz cx="8229600" cy="14630400"/>
  <p:embeddedFontLst>
    <p:embeddedFont>
      <p:font typeface="Dela Gothic One" panose="020B0604020202020204" charset="-128"/>
      <p:regular r:id="rId23"/>
    </p:embeddedFont>
    <p:embeddedFont>
      <p:font typeface="Arial Black" panose="020B0A04020102020204" pitchFamily="34" charset="0"/>
      <p:bold r:id="rId24"/>
    </p:embeddedFont>
    <p:embeddedFont>
      <p:font typeface="Century Gothic" panose="020B0502020202020204" pitchFamily="34" charset="0"/>
      <p:regular r:id="rId25"/>
      <p:bold r:id="rId26"/>
      <p:italic r:id="rId27"/>
      <p:boldItalic r:id="rId28"/>
    </p:embeddedFont>
    <p:embeddedFont>
      <p:font typeface="DM Sans" pitchFamily="2" charset="0"/>
      <p:regular r:id="rId29"/>
      <p:bold r:id="rId30"/>
    </p:embeddedFont>
    <p:embeddedFont>
      <p:font typeface="DM Sans Bold" charset="0"/>
      <p:bold r:id="rId31"/>
    </p:embeddedFont>
    <p:embeddedFont>
      <p:font typeface="DM Sans Medium" pitchFamily="2" charset="0"/>
      <p:regular r:id="rId32"/>
      <p:italic r:id="rId33"/>
    </p:embeddedFont>
    <p:embeddedFont>
      <p:font typeface="Wingdings 3" panose="05040102010807070707" pitchFamily="18" charset="2"/>
      <p:regular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hul patel" initials="rp" lastIdx="1" clrIdx="0">
    <p:extLst>
      <p:ext uri="{19B8F6BF-5375-455C-9EA6-DF929625EA0E}">
        <p15:presenceInfo xmlns:p15="http://schemas.microsoft.com/office/powerpoint/2012/main" userId="eff3d87988ce1e9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6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11T02:23:36.997"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6219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74891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85946" y="1737361"/>
            <a:ext cx="10590790" cy="3995497"/>
          </a:xfrm>
        </p:spPr>
        <p:txBody>
          <a:bodyPr anchor="b"/>
          <a:lstStyle>
            <a:lvl1pPr>
              <a:defRPr sz="8640"/>
            </a:lvl1pPr>
          </a:lstStyle>
          <a:p>
            <a:r>
              <a:rPr lang="en-US"/>
              <a:t>Click to edit Master title style</a:t>
            </a:r>
            <a:endParaRPr lang="en-US" dirty="0"/>
          </a:p>
        </p:txBody>
      </p:sp>
      <p:sp>
        <p:nvSpPr>
          <p:cNvPr id="3" name="Subtitle 2"/>
          <p:cNvSpPr>
            <a:spLocks noGrp="1"/>
          </p:cNvSpPr>
          <p:nvPr>
            <p:ph type="subTitle" idx="1"/>
          </p:nvPr>
        </p:nvSpPr>
        <p:spPr>
          <a:xfrm>
            <a:off x="1385946" y="5732856"/>
            <a:ext cx="10590790" cy="1033704"/>
          </a:xfrm>
        </p:spPr>
        <p:txBody>
          <a:bodyPr anchor="t"/>
          <a:lstStyle>
            <a:lvl1pPr marL="0" indent="0" algn="l">
              <a:buNone/>
              <a:defRPr cap="all">
                <a:solidFill>
                  <a:schemeClr val="bg2">
                    <a:lumMod val="40000"/>
                    <a:lumOff val="6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1271451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69071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85948" y="3434080"/>
            <a:ext cx="10590788" cy="2298776"/>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385946" y="5732857"/>
            <a:ext cx="10590790" cy="1032480"/>
          </a:xfrm>
        </p:spPr>
        <p:txBody>
          <a:bodyPr anchor="t"/>
          <a:lstStyle>
            <a:lvl1pPr marL="0" indent="0" algn="l">
              <a:buNone/>
              <a:defRPr sz="2400" cap="all">
                <a:solidFill>
                  <a:schemeClr val="bg2">
                    <a:lumMod val="40000"/>
                    <a:lumOff val="6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3119078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23975" y="2472690"/>
            <a:ext cx="5275607" cy="503491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785392" y="2467311"/>
            <a:ext cx="5275609" cy="5040294"/>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024481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3975" y="2286000"/>
            <a:ext cx="5275606"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23975" y="3017520"/>
            <a:ext cx="5275607" cy="449008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785395" y="2286000"/>
            <a:ext cx="5275607"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785395" y="3017520"/>
            <a:ext cx="5275607" cy="449008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012933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73568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843449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4" y="1737360"/>
            <a:ext cx="4081277" cy="1737360"/>
          </a:xfrm>
        </p:spPr>
        <p:txBody>
          <a:bodyPr anchor="b"/>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5741540" y="1737360"/>
            <a:ext cx="6235196" cy="5486400"/>
          </a:xfrm>
        </p:spPr>
        <p:txBody>
          <a:bodyPr anchor="ctr">
            <a:normAutofit/>
          </a:bodyPr>
          <a:lstStyle>
            <a:lvl1pPr>
              <a:defRPr sz="2400"/>
            </a:lvl1pPr>
            <a:lvl2pPr>
              <a:defRPr sz="2160"/>
            </a:lvl2pPr>
            <a:lvl3pPr>
              <a:defRPr sz="192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85944" y="3755137"/>
            <a:ext cx="4081276" cy="3474719"/>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5509419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4689" y="2225030"/>
            <a:ext cx="6111487" cy="1889770"/>
          </a:xfrm>
        </p:spPr>
        <p:txBody>
          <a:bodyPr anchor="b">
            <a:normAutofit/>
          </a:bodyPr>
          <a:lstStyle>
            <a:lvl1pPr algn="l">
              <a:defRPr sz="43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39455" y="1371600"/>
            <a:ext cx="3840480" cy="548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85945" y="4389120"/>
            <a:ext cx="6101975" cy="1645920"/>
          </a:xfrm>
        </p:spPr>
        <p:txBody>
          <a:bodyPr>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7767534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8" y="5760704"/>
            <a:ext cx="10590788"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85946" y="822960"/>
            <a:ext cx="10590790" cy="436879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85947" y="6440790"/>
            <a:ext cx="10590787" cy="592454"/>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360891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5" y="1737360"/>
            <a:ext cx="10590791" cy="2377440"/>
          </a:xfrm>
        </p:spPr>
        <p:txBody>
          <a:bodyPr/>
          <a:lstStyle>
            <a:lvl1pPr>
              <a:defRPr sz="5760"/>
            </a:lvl1pPr>
          </a:lstStyle>
          <a:p>
            <a:r>
              <a:rPr lang="en-US"/>
              <a:t>Click to edit Master title style</a:t>
            </a:r>
            <a:endParaRPr lang="en-US" dirty="0"/>
          </a:p>
        </p:txBody>
      </p:sp>
      <p:sp>
        <p:nvSpPr>
          <p:cNvPr id="8" name="Text Placeholder 3"/>
          <p:cNvSpPr>
            <a:spLocks noGrp="1"/>
          </p:cNvSpPr>
          <p:nvPr>
            <p:ph type="body" sz="half" idx="2"/>
          </p:nvPr>
        </p:nvSpPr>
        <p:spPr>
          <a:xfrm>
            <a:off x="1385945" y="4389120"/>
            <a:ext cx="10590791" cy="283464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783190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762" y="1737360"/>
            <a:ext cx="9599178" cy="2788049"/>
          </a:xfrm>
        </p:spPr>
        <p:txBody>
          <a:bodyPr/>
          <a:lstStyle>
            <a:lvl1pPr>
              <a:defRPr sz="5760"/>
            </a:lvl1pPr>
          </a:lstStyle>
          <a:p>
            <a:r>
              <a:rPr lang="en-US"/>
              <a:t>Click to edit Master title style</a:t>
            </a:r>
            <a:endParaRPr lang="en-US" dirty="0"/>
          </a:p>
        </p:txBody>
      </p:sp>
      <p:sp>
        <p:nvSpPr>
          <p:cNvPr id="11" name="Text Placeholder 3"/>
          <p:cNvSpPr>
            <a:spLocks noGrp="1"/>
          </p:cNvSpPr>
          <p:nvPr>
            <p:ph type="body" sz="half" idx="14"/>
          </p:nvPr>
        </p:nvSpPr>
        <p:spPr>
          <a:xfrm>
            <a:off x="2316481" y="4525409"/>
            <a:ext cx="8735579" cy="410609"/>
          </a:xfrm>
        </p:spPr>
        <p:txBody>
          <a:bodyPr vert="horz" lIns="91440" tIns="45720" rIns="91440" bIns="45720" rtlCol="0" anchor="t">
            <a:normAutofit/>
          </a:bodyPr>
          <a:lstStyle>
            <a:lvl1pPr marL="0" indent="0">
              <a:buNone/>
              <a:defRPr lang="en-US" sz="1680" b="0" i="0" kern="1200" cap="small" dirty="0">
                <a:solidFill>
                  <a:schemeClr val="bg2">
                    <a:lumMod val="40000"/>
                    <a:lumOff val="60000"/>
                  </a:schemeClr>
                </a:solidFill>
                <a:latin typeface="+mj-lt"/>
                <a:ea typeface="+mj-ea"/>
                <a:cs typeface="+mj-cs"/>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marL="0" lvl="0" indent="0">
              <a:buNone/>
            </a:pPr>
            <a:r>
              <a:rPr lang="en-US"/>
              <a:t>Click to edit Master text styles</a:t>
            </a:r>
          </a:p>
        </p:txBody>
      </p:sp>
      <p:sp>
        <p:nvSpPr>
          <p:cNvPr id="10" name="Text Placeholder 3"/>
          <p:cNvSpPr>
            <a:spLocks noGrp="1"/>
          </p:cNvSpPr>
          <p:nvPr>
            <p:ph type="body" sz="half" idx="2"/>
          </p:nvPr>
        </p:nvSpPr>
        <p:spPr>
          <a:xfrm>
            <a:off x="1385945" y="5220788"/>
            <a:ext cx="10590791" cy="201168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1077954" y="1165504"/>
            <a:ext cx="962294" cy="2345257"/>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4640" dirty="0"/>
              <a:t>“</a:t>
            </a:r>
          </a:p>
        </p:txBody>
      </p:sp>
      <p:sp>
        <p:nvSpPr>
          <p:cNvPr id="15" name="TextBox 14"/>
          <p:cNvSpPr txBox="1"/>
          <p:nvPr/>
        </p:nvSpPr>
        <p:spPr>
          <a:xfrm>
            <a:off x="11196588" y="3136545"/>
            <a:ext cx="962294" cy="2345257"/>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4640" dirty="0"/>
              <a:t>”</a:t>
            </a:r>
          </a:p>
        </p:txBody>
      </p:sp>
    </p:spTree>
    <p:extLst>
      <p:ext uri="{BB962C8B-B14F-4D97-AF65-F5344CB8AC3E}">
        <p14:creationId xmlns:p14="http://schemas.microsoft.com/office/powerpoint/2010/main" val="188683238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85945" y="3749041"/>
            <a:ext cx="10590792" cy="1983816"/>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385945" y="5732857"/>
            <a:ext cx="10590791" cy="1032480"/>
          </a:xfrm>
        </p:spPr>
        <p:txBody>
          <a:bodyPr anchor="t"/>
          <a:lstStyle>
            <a:lvl1pPr marL="0" indent="0" algn="l">
              <a:buNone/>
              <a:defRPr sz="2400" cap="none">
                <a:solidFill>
                  <a:schemeClr val="bg2">
                    <a:lumMod val="40000"/>
                    <a:lumOff val="6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2375514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040"/>
            </a:lvl1pPr>
          </a:lstStyle>
          <a:p>
            <a:r>
              <a:rPr lang="en-US"/>
              <a:t>Click to edit Master title style</a:t>
            </a:r>
            <a:endParaRPr lang="en-US" dirty="0"/>
          </a:p>
        </p:txBody>
      </p:sp>
      <p:sp>
        <p:nvSpPr>
          <p:cNvPr id="3" name="Text Placeholder 2"/>
          <p:cNvSpPr>
            <a:spLocks noGrp="1"/>
          </p:cNvSpPr>
          <p:nvPr>
            <p:ph type="body" idx="1"/>
          </p:nvPr>
        </p:nvSpPr>
        <p:spPr>
          <a:xfrm>
            <a:off x="759537" y="2377440"/>
            <a:ext cx="3536239"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6" name="Text Placeholder 3"/>
          <p:cNvSpPr>
            <a:spLocks noGrp="1"/>
          </p:cNvSpPr>
          <p:nvPr>
            <p:ph type="body" sz="half" idx="15"/>
          </p:nvPr>
        </p:nvSpPr>
        <p:spPr>
          <a:xfrm>
            <a:off x="782956" y="3200400"/>
            <a:ext cx="3512820"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4660392" y="2377440"/>
            <a:ext cx="3523489"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9" name="Text Placeholder 3"/>
          <p:cNvSpPr>
            <a:spLocks noGrp="1"/>
          </p:cNvSpPr>
          <p:nvPr>
            <p:ph type="body" sz="half" idx="16"/>
          </p:nvPr>
        </p:nvSpPr>
        <p:spPr>
          <a:xfrm>
            <a:off x="4647727" y="3200400"/>
            <a:ext cx="3536153"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8549640" y="2377440"/>
            <a:ext cx="3518536"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Text Placeholder 3"/>
          <p:cNvSpPr>
            <a:spLocks noGrp="1"/>
          </p:cNvSpPr>
          <p:nvPr>
            <p:ph type="body" sz="half" idx="17"/>
          </p:nvPr>
        </p:nvSpPr>
        <p:spPr>
          <a:xfrm>
            <a:off x="8549640" y="3200400"/>
            <a:ext cx="3518536"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17" name="Straight Connector 16"/>
          <p:cNvCxnSpPr/>
          <p:nvPr/>
        </p:nvCxnSpPr>
        <p:spPr>
          <a:xfrm>
            <a:off x="4471370" y="2560320"/>
            <a:ext cx="0" cy="475488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8354672" y="2560320"/>
            <a:ext cx="0" cy="4760258"/>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3/11/2025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6870658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040"/>
            </a:lvl1pPr>
          </a:lstStyle>
          <a:p>
            <a:r>
              <a:rPr lang="en-US"/>
              <a:t>Click to edit Master title style</a:t>
            </a:r>
            <a:endParaRPr lang="en-US" dirty="0"/>
          </a:p>
        </p:txBody>
      </p:sp>
      <p:sp>
        <p:nvSpPr>
          <p:cNvPr id="3" name="Text Placeholder 2"/>
          <p:cNvSpPr>
            <a:spLocks noGrp="1"/>
          </p:cNvSpPr>
          <p:nvPr>
            <p:ph type="body" idx="1"/>
          </p:nvPr>
        </p:nvSpPr>
        <p:spPr>
          <a:xfrm>
            <a:off x="782956" y="5101139"/>
            <a:ext cx="3528060"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9" name="Picture Placeholder 2"/>
          <p:cNvSpPr>
            <a:spLocks noGrp="1" noChangeAspect="1"/>
          </p:cNvSpPr>
          <p:nvPr>
            <p:ph type="pic" idx="15"/>
          </p:nvPr>
        </p:nvSpPr>
        <p:spPr>
          <a:xfrm>
            <a:off x="782956" y="2651760"/>
            <a:ext cx="3528060"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2" name="Text Placeholder 3"/>
          <p:cNvSpPr>
            <a:spLocks noGrp="1"/>
          </p:cNvSpPr>
          <p:nvPr>
            <p:ph type="body" sz="half" idx="18"/>
          </p:nvPr>
        </p:nvSpPr>
        <p:spPr>
          <a:xfrm>
            <a:off x="782956" y="5792654"/>
            <a:ext cx="3528060"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4667251" y="5101139"/>
            <a:ext cx="3516630"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30" name="Picture Placeholder 2"/>
          <p:cNvSpPr>
            <a:spLocks noGrp="1" noChangeAspect="1"/>
          </p:cNvSpPr>
          <p:nvPr>
            <p:ph type="pic" idx="21"/>
          </p:nvPr>
        </p:nvSpPr>
        <p:spPr>
          <a:xfrm>
            <a:off x="4667249" y="2651760"/>
            <a:ext cx="3516630"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3" name="Text Placeholder 3"/>
          <p:cNvSpPr>
            <a:spLocks noGrp="1"/>
          </p:cNvSpPr>
          <p:nvPr>
            <p:ph type="body" sz="half" idx="19"/>
          </p:nvPr>
        </p:nvSpPr>
        <p:spPr>
          <a:xfrm>
            <a:off x="4665627" y="5792653"/>
            <a:ext cx="3521287"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8549640" y="5101139"/>
            <a:ext cx="3518536"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31" name="Picture Placeholder 2"/>
          <p:cNvSpPr>
            <a:spLocks noGrp="1" noChangeAspect="1"/>
          </p:cNvSpPr>
          <p:nvPr>
            <p:ph type="pic" idx="22"/>
          </p:nvPr>
        </p:nvSpPr>
        <p:spPr>
          <a:xfrm>
            <a:off x="8549639" y="2651760"/>
            <a:ext cx="3518536"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20"/>
          </p:nvPr>
        </p:nvSpPr>
        <p:spPr>
          <a:xfrm>
            <a:off x="8549491" y="5792650"/>
            <a:ext cx="3523196"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19" name="Straight Connector 18"/>
          <p:cNvCxnSpPr/>
          <p:nvPr/>
        </p:nvCxnSpPr>
        <p:spPr>
          <a:xfrm>
            <a:off x="4471370" y="2560320"/>
            <a:ext cx="0" cy="475488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8354672" y="2560320"/>
            <a:ext cx="0" cy="4760258"/>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3/11/2025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8542388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099109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65055" y="516256"/>
            <a:ext cx="2103121" cy="699135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782956" y="1064897"/>
            <a:ext cx="8907779" cy="644270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6858313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0647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6477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8403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356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37366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4488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9420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8598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 Id="rId30"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7">
            <a:extLst>
              <a:ext uri="{28A0092B-C50C-407E-A947-70E740481C1C}">
                <a14:useLocalDpi xmlns:a14="http://schemas.microsoft.com/office/drawing/2010/main" val="0"/>
              </a:ext>
            </a:extLst>
          </a:blip>
          <a:srcRect l="3613"/>
          <a:stretch/>
        </p:blipFill>
        <p:spPr>
          <a:xfrm>
            <a:off x="0" y="3203623"/>
            <a:ext cx="4844414" cy="5025978"/>
          </a:xfrm>
          <a:prstGeom prst="rect">
            <a:avLst/>
          </a:prstGeom>
        </p:spPr>
      </p:pic>
      <p:pic>
        <p:nvPicPr>
          <p:cNvPr id="7" name="Picture 6"/>
          <p:cNvPicPr>
            <a:picLocks noChangeAspect="1"/>
          </p:cNvPicPr>
          <p:nvPr/>
        </p:nvPicPr>
        <p:blipFill rotWithShape="1">
          <a:blip r:embed="rId28">
            <a:extLst>
              <a:ext uri="{28A0092B-C50C-407E-A947-70E740481C1C}">
                <a14:useLocalDpi xmlns:a14="http://schemas.microsoft.com/office/drawing/2010/main" val="0"/>
              </a:ext>
            </a:extLst>
          </a:blip>
          <a:srcRect l="35640"/>
          <a:stretch/>
        </p:blipFill>
        <p:spPr>
          <a:xfrm>
            <a:off x="0" y="3470817"/>
            <a:ext cx="1826894" cy="2838544"/>
          </a:xfrm>
          <a:prstGeom prst="rect">
            <a:avLst/>
          </a:prstGeom>
        </p:spPr>
      </p:pic>
      <p:sp>
        <p:nvSpPr>
          <p:cNvPr id="16" name="Oval 15"/>
          <p:cNvSpPr/>
          <p:nvPr/>
        </p:nvSpPr>
        <p:spPr>
          <a:xfrm>
            <a:off x="10330814" y="2011680"/>
            <a:ext cx="3383280" cy="338328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9">
            <a:extLst>
              <a:ext uri="{28A0092B-C50C-407E-A947-70E740481C1C}">
                <a14:useLocalDpi xmlns:a14="http://schemas.microsoft.com/office/drawing/2010/main" val="0"/>
              </a:ext>
            </a:extLst>
          </a:blip>
          <a:srcRect t="28813"/>
          <a:stretch/>
        </p:blipFill>
        <p:spPr>
          <a:xfrm>
            <a:off x="9599295" y="1"/>
            <a:ext cx="1924064" cy="1369688"/>
          </a:xfrm>
          <a:prstGeom prst="rect">
            <a:avLst/>
          </a:prstGeom>
        </p:spPr>
      </p:pic>
      <p:pic>
        <p:nvPicPr>
          <p:cNvPr id="10" name="Picture 9"/>
          <p:cNvPicPr>
            <a:picLocks noChangeAspect="1"/>
          </p:cNvPicPr>
          <p:nvPr/>
        </p:nvPicPr>
        <p:blipFill rotWithShape="1">
          <a:blip r:embed="rId30">
            <a:extLst>
              <a:ext uri="{28A0092B-C50C-407E-A947-70E740481C1C}">
                <a14:useLocalDpi xmlns:a14="http://schemas.microsoft.com/office/drawing/2010/main" val="0"/>
              </a:ext>
            </a:extLst>
          </a:blip>
          <a:srcRect b="23320"/>
          <a:stretch/>
        </p:blipFill>
        <p:spPr>
          <a:xfrm>
            <a:off x="10327054" y="7315200"/>
            <a:ext cx="1192481" cy="914400"/>
          </a:xfrm>
          <a:prstGeom prst="rect">
            <a:avLst/>
          </a:prstGeom>
        </p:spPr>
      </p:pic>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775334" y="543262"/>
            <a:ext cx="11285668" cy="1680636"/>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323975" y="2463502"/>
            <a:ext cx="10735849" cy="50345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2186767" y="2148842"/>
            <a:ext cx="1188719" cy="365759"/>
          </a:xfrm>
          <a:prstGeom prst="rect">
            <a:avLst/>
          </a:prstGeom>
        </p:spPr>
        <p:txBody>
          <a:bodyPr vert="horz" lIns="91440" tIns="45720" rIns="91440" bIns="45720" rtlCol="0" anchor="t"/>
          <a:lstStyle>
            <a:lvl1pPr algn="l">
              <a:defRPr sz="1320" b="0" i="0">
                <a:solidFill>
                  <a:schemeClr val="tx1">
                    <a:tint val="75000"/>
                    <a:alpha val="60000"/>
                  </a:schemeClr>
                </a:solidFill>
              </a:defRPr>
            </a:lvl1pPr>
          </a:lstStyle>
          <a:p>
            <a:fld id="{48A87A34-81AB-432B-8DAE-1953F412C126}" type="datetimeFigureOut">
              <a:rPr lang="en-US" smtClean="0"/>
              <a:pPr/>
              <a:t>3/11/2025</a:t>
            </a:fld>
            <a:endParaRPr lang="en-US" dirty="0"/>
          </a:p>
        </p:txBody>
      </p:sp>
      <p:sp>
        <p:nvSpPr>
          <p:cNvPr id="5" name="Footer Placeholder 4"/>
          <p:cNvSpPr>
            <a:spLocks noGrp="1"/>
          </p:cNvSpPr>
          <p:nvPr>
            <p:ph type="ftr" sz="quarter" idx="3"/>
          </p:nvPr>
        </p:nvSpPr>
        <p:spPr>
          <a:xfrm rot="5400000">
            <a:off x="10741888" y="3870357"/>
            <a:ext cx="4631754" cy="365761"/>
          </a:xfrm>
          <a:prstGeom prst="rect">
            <a:avLst/>
          </a:prstGeom>
        </p:spPr>
        <p:txBody>
          <a:bodyPr vert="horz" lIns="91440" tIns="45720" rIns="91440" bIns="45720" rtlCol="0" anchor="b"/>
          <a:lstStyle>
            <a:lvl1pPr algn="l">
              <a:defRPr sz="132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2423049" y="354876"/>
            <a:ext cx="1005839" cy="921224"/>
          </a:xfrm>
          <a:prstGeom prst="rect">
            <a:avLst/>
          </a:prstGeom>
        </p:spPr>
        <p:txBody>
          <a:bodyPr vert="horz" lIns="91440" tIns="45720" rIns="91440" bIns="45720" rtlCol="0" anchor="b"/>
          <a:lstStyle>
            <a:lvl1pPr algn="ctr">
              <a:defRPr sz="336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09265452"/>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Lst>
  <p:hf sldNum="0" hdr="0" ftr="0" dt="0"/>
  <p:txStyles>
    <p:titleStyle>
      <a:lvl1pPr algn="l" defTabSz="548640" rtl="0" eaLnBrk="1" latinLnBrk="0" hangingPunct="1">
        <a:spcBef>
          <a:spcPct val="0"/>
        </a:spcBef>
        <a:buNone/>
        <a:defRPr sz="504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1pPr>
      <a:lvl2pPr marL="891540" indent="-342900" algn="l" defTabSz="548640" rtl="0" eaLnBrk="1" latinLnBrk="0" hangingPunct="1">
        <a:spcBef>
          <a:spcPts val="1200"/>
        </a:spcBef>
        <a:spcAft>
          <a:spcPts val="0"/>
        </a:spcAft>
        <a:buClr>
          <a:schemeClr val="bg2">
            <a:lumMod val="40000"/>
            <a:lumOff val="60000"/>
          </a:schemeClr>
        </a:buClr>
        <a:buSzPct val="80000"/>
        <a:buFont typeface="Wingdings 3" charset="2"/>
        <a:buChar char=""/>
        <a:defRPr sz="2160" b="0" i="0" kern="1200">
          <a:solidFill>
            <a:schemeClr val="tx1"/>
          </a:solidFill>
          <a:latin typeface="+mj-lt"/>
          <a:ea typeface="+mj-ea"/>
          <a:cs typeface="+mj-cs"/>
        </a:defRPr>
      </a:lvl2pPr>
      <a:lvl3pPr marL="137160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920" b="0" i="0" kern="1200">
          <a:solidFill>
            <a:schemeClr val="tx1"/>
          </a:solidFill>
          <a:latin typeface="+mj-lt"/>
          <a:ea typeface="+mj-ea"/>
          <a:cs typeface="+mj-cs"/>
        </a:defRPr>
      </a:lvl3pPr>
      <a:lvl4pPr marL="192024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4pPr>
      <a:lvl5pPr marL="246888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5pPr>
      <a:lvl6pPr marL="300720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6pPr>
      <a:lvl7pPr marL="356616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7pPr>
      <a:lvl8pPr marL="411480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8pPr>
      <a:lvl9pPr marL="466344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9.xml"/><Relationship Id="rId4"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5.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9A2C91-77C4-9E3F-2D18-3D53AD30E89C}"/>
              </a:ext>
            </a:extLst>
          </p:cNvPr>
          <p:cNvSpPr txBox="1"/>
          <p:nvPr/>
        </p:nvSpPr>
        <p:spPr>
          <a:xfrm>
            <a:off x="5305777" y="463554"/>
            <a:ext cx="7315200" cy="523220"/>
          </a:xfrm>
          <a:prstGeom prst="rect">
            <a:avLst/>
          </a:prstGeom>
          <a:noFill/>
        </p:spPr>
        <p:txBody>
          <a:bodyPr wrap="square">
            <a:spAutoFit/>
          </a:bodyPr>
          <a:lstStyle/>
          <a:p>
            <a:r>
              <a:rPr lang="en-IN" sz="2800" dirty="0"/>
              <a:t>Mini Project Report On</a:t>
            </a:r>
          </a:p>
        </p:txBody>
      </p:sp>
      <p:sp>
        <p:nvSpPr>
          <p:cNvPr id="6" name="TextBox 5">
            <a:extLst>
              <a:ext uri="{FF2B5EF4-FFF2-40B4-BE49-F238E27FC236}">
                <a16:creationId xmlns:a16="http://schemas.microsoft.com/office/drawing/2014/main" id="{D4B62AA5-C9C4-CD8E-FAD7-F28AF6EC6BC9}"/>
              </a:ext>
            </a:extLst>
          </p:cNvPr>
          <p:cNvSpPr txBox="1"/>
          <p:nvPr/>
        </p:nvSpPr>
        <p:spPr>
          <a:xfrm>
            <a:off x="3149599" y="3196138"/>
            <a:ext cx="7315200" cy="1077218"/>
          </a:xfrm>
          <a:prstGeom prst="rect">
            <a:avLst/>
          </a:prstGeom>
          <a:noFill/>
        </p:spPr>
        <p:txBody>
          <a:bodyPr wrap="square">
            <a:spAutoFit/>
          </a:bodyPr>
          <a:lstStyle/>
          <a:p>
            <a:pPr marL="1569085" marR="1663065" algn="ctr" rtl="0"/>
            <a:r>
              <a:rPr lang="en-IN" sz="2800" b="0" i="0" u="none" strike="noStrike" dirty="0">
                <a:solidFill>
                  <a:schemeClr val="tx1">
                    <a:lumMod val="95000"/>
                  </a:schemeClr>
                </a:solidFill>
                <a:effectLst/>
                <a:latin typeface="Arial" panose="020B0604020202020204" pitchFamily="34" charset="0"/>
              </a:rPr>
              <a:t>Submitted </a:t>
            </a:r>
            <a:r>
              <a:rPr lang="en-IN" sz="2800" b="0" i="1" u="none" strike="noStrike" dirty="0">
                <a:solidFill>
                  <a:schemeClr val="tx1">
                    <a:lumMod val="95000"/>
                  </a:schemeClr>
                </a:solidFill>
                <a:effectLst/>
                <a:latin typeface="Arial" panose="020B0604020202020204" pitchFamily="34" charset="0"/>
              </a:rPr>
              <a:t>by</a:t>
            </a:r>
            <a:endParaRPr lang="en-IN" sz="2800" b="0" dirty="0">
              <a:solidFill>
                <a:schemeClr val="tx1">
                  <a:lumMod val="95000"/>
                </a:schemeClr>
              </a:solidFill>
              <a:effectLst/>
            </a:endParaRPr>
          </a:p>
          <a:p>
            <a:br>
              <a:rPr lang="en-IN" dirty="0"/>
            </a:br>
            <a:endParaRPr lang="en-IN" dirty="0"/>
          </a:p>
        </p:txBody>
      </p:sp>
      <p:sp>
        <p:nvSpPr>
          <p:cNvPr id="8" name="TextBox 7">
            <a:extLst>
              <a:ext uri="{FF2B5EF4-FFF2-40B4-BE49-F238E27FC236}">
                <a16:creationId xmlns:a16="http://schemas.microsoft.com/office/drawing/2014/main" id="{62E4A10D-F5C5-D873-37FB-F0044540AA3F}"/>
              </a:ext>
            </a:extLst>
          </p:cNvPr>
          <p:cNvSpPr txBox="1"/>
          <p:nvPr/>
        </p:nvSpPr>
        <p:spPr>
          <a:xfrm>
            <a:off x="4888089" y="3909799"/>
            <a:ext cx="7315200" cy="954107"/>
          </a:xfrm>
          <a:prstGeom prst="rect">
            <a:avLst/>
          </a:prstGeom>
          <a:noFill/>
        </p:spPr>
        <p:txBody>
          <a:bodyPr wrap="square">
            <a:spAutoFit/>
          </a:bodyPr>
          <a:lstStyle/>
          <a:p>
            <a:r>
              <a:rPr lang="en-IN" sz="2800" b="1" dirty="0"/>
              <a:t>Roll No.: UI22EC58 (Rahul Patel) </a:t>
            </a:r>
          </a:p>
          <a:p>
            <a:r>
              <a:rPr lang="en-IN" sz="2800" b="1" dirty="0"/>
              <a:t>Roll No.: UI22EC84 (Vibhu Mishra) </a:t>
            </a:r>
          </a:p>
        </p:txBody>
      </p:sp>
      <p:sp>
        <p:nvSpPr>
          <p:cNvPr id="12" name="TextBox 11">
            <a:extLst>
              <a:ext uri="{FF2B5EF4-FFF2-40B4-BE49-F238E27FC236}">
                <a16:creationId xmlns:a16="http://schemas.microsoft.com/office/drawing/2014/main" id="{CA4864EE-6884-4C3B-9FCC-807AD5CD2851}"/>
              </a:ext>
            </a:extLst>
          </p:cNvPr>
          <p:cNvSpPr txBox="1"/>
          <p:nvPr/>
        </p:nvSpPr>
        <p:spPr>
          <a:xfrm>
            <a:off x="4888089" y="5121037"/>
            <a:ext cx="7315200" cy="1015663"/>
          </a:xfrm>
          <a:prstGeom prst="rect">
            <a:avLst/>
          </a:prstGeom>
          <a:noFill/>
        </p:spPr>
        <p:txBody>
          <a:bodyPr wrap="square">
            <a:spAutoFit/>
          </a:bodyPr>
          <a:lstStyle/>
          <a:p>
            <a:r>
              <a:rPr lang="en-IN" dirty="0"/>
              <a:t>        Under the guidance of</a:t>
            </a:r>
          </a:p>
          <a:p>
            <a:endParaRPr lang="en-IN" dirty="0"/>
          </a:p>
          <a:p>
            <a:r>
              <a:rPr lang="en-IN" sz="2400" b="1" dirty="0"/>
              <a:t>Mr. Rahul Patel</a:t>
            </a:r>
          </a:p>
        </p:txBody>
      </p:sp>
      <p:pic>
        <p:nvPicPr>
          <p:cNvPr id="1028" name="Picture 4">
            <a:extLst>
              <a:ext uri="{FF2B5EF4-FFF2-40B4-BE49-F238E27FC236}">
                <a16:creationId xmlns:a16="http://schemas.microsoft.com/office/drawing/2014/main" id="{A78FA0D5-17A8-E1BD-EE52-118B6410B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788" y="995779"/>
            <a:ext cx="2419111" cy="291402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027A59DD-FC01-9B79-40CD-21AE82BC93C6}"/>
              </a:ext>
            </a:extLst>
          </p:cNvPr>
          <p:cNvSpPr txBox="1"/>
          <p:nvPr/>
        </p:nvSpPr>
        <p:spPr>
          <a:xfrm>
            <a:off x="4114800" y="6136700"/>
            <a:ext cx="7315200" cy="1938992"/>
          </a:xfrm>
          <a:prstGeom prst="rect">
            <a:avLst/>
          </a:prstGeom>
          <a:noFill/>
        </p:spPr>
        <p:txBody>
          <a:bodyPr wrap="square">
            <a:spAutoFit/>
          </a:bodyPr>
          <a:lstStyle/>
          <a:p>
            <a:r>
              <a:rPr lang="en-GB" sz="2000" b="1" dirty="0"/>
              <a:t>DEPARTMENT OF ELECTRONICS AND COMMUNICATION ENGINEERING </a:t>
            </a:r>
          </a:p>
          <a:p>
            <a:endParaRPr lang="en-GB" sz="2000" b="1" dirty="0"/>
          </a:p>
          <a:p>
            <a:r>
              <a:rPr lang="en-GB" sz="2000" b="1" dirty="0"/>
              <a:t>June, 2022-26</a:t>
            </a:r>
          </a:p>
          <a:p>
            <a:r>
              <a:rPr lang="en-GB" sz="2000" b="1" dirty="0"/>
              <a:t>INDIAN INSTITUTE OF INFORMATION TECHNOLOGY SURAT-394190</a:t>
            </a:r>
          </a:p>
        </p:txBody>
      </p:sp>
      <p:sp>
        <p:nvSpPr>
          <p:cNvPr id="16" name="TextBox 15">
            <a:extLst>
              <a:ext uri="{FF2B5EF4-FFF2-40B4-BE49-F238E27FC236}">
                <a16:creationId xmlns:a16="http://schemas.microsoft.com/office/drawing/2014/main" id="{2CFE40D7-2778-18F5-0A8E-59E4BA995904}"/>
              </a:ext>
            </a:extLst>
          </p:cNvPr>
          <p:cNvSpPr txBox="1"/>
          <p:nvPr/>
        </p:nvSpPr>
        <p:spPr>
          <a:xfrm>
            <a:off x="4343400" y="1083568"/>
            <a:ext cx="7315200" cy="1847878"/>
          </a:xfrm>
          <a:prstGeom prst="rect">
            <a:avLst/>
          </a:prstGeom>
          <a:noFill/>
        </p:spPr>
        <p:txBody>
          <a:bodyPr wrap="square">
            <a:spAutoFit/>
          </a:bodyPr>
          <a:lstStyle/>
          <a:p>
            <a:pPr marL="0" indent="0">
              <a:lnSpc>
                <a:spcPts val="7500"/>
              </a:lnSpc>
              <a:buNone/>
            </a:pPr>
            <a:r>
              <a:rPr lang="en-US" sz="2400" dirty="0">
                <a:solidFill>
                  <a:srgbClr val="FAEBEB"/>
                </a:solidFill>
                <a:latin typeface="Dela Gothic One" pitchFamily="34" charset="0"/>
                <a:ea typeface="Dela Gothic One" pitchFamily="34" charset="-122"/>
                <a:cs typeface="Dela Gothic One" pitchFamily="34" charset="-120"/>
              </a:rPr>
              <a:t>Blood Group Detection Using InfraRed Image and Machine Learning</a:t>
            </a:r>
            <a:endParaRPr lang="en-US" sz="2400" dirty="0"/>
          </a:p>
        </p:txBody>
      </p:sp>
    </p:spTree>
    <p:extLst>
      <p:ext uri="{BB962C8B-B14F-4D97-AF65-F5344CB8AC3E}">
        <p14:creationId xmlns:p14="http://schemas.microsoft.com/office/powerpoint/2010/main" val="1668887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0076"/>
          </a:xfrm>
          <a:prstGeom prst="rect">
            <a:avLst/>
          </a:prstGeom>
        </p:spPr>
      </p:pic>
      <p:sp>
        <p:nvSpPr>
          <p:cNvPr id="3" name="Text 0"/>
          <p:cNvSpPr/>
          <p:nvPr/>
        </p:nvSpPr>
        <p:spPr>
          <a:xfrm>
            <a:off x="739140" y="580668"/>
            <a:ext cx="7665720" cy="4793456"/>
          </a:xfrm>
          <a:prstGeom prst="rect">
            <a:avLst/>
          </a:prstGeom>
          <a:noFill/>
          <a:ln/>
        </p:spPr>
        <p:txBody>
          <a:bodyPr wrap="square" lIns="0" tIns="0" rIns="0" bIns="0" rtlCol="0" anchor="t"/>
          <a:lstStyle/>
          <a:p>
            <a:pPr marL="0" indent="0">
              <a:lnSpc>
                <a:spcPts val="7500"/>
              </a:lnSpc>
              <a:buNone/>
            </a:pPr>
            <a:r>
              <a:rPr lang="en-US" sz="6000" dirty="0">
                <a:solidFill>
                  <a:srgbClr val="FAEBEB"/>
                </a:solidFill>
                <a:latin typeface="Dela Gothic One" pitchFamily="34" charset="0"/>
                <a:ea typeface="Dela Gothic One" pitchFamily="34" charset="-122"/>
                <a:cs typeface="Dela Gothic One" pitchFamily="34" charset="-120"/>
              </a:rPr>
              <a:t>Blood Group Detection Using InfraRed Image and Machine Learning</a:t>
            </a:r>
            <a:endParaRPr lang="en-US" sz="6000" dirty="0"/>
          </a:p>
        </p:txBody>
      </p:sp>
      <p:sp>
        <p:nvSpPr>
          <p:cNvPr id="4" name="Text 1"/>
          <p:cNvSpPr/>
          <p:nvPr/>
        </p:nvSpPr>
        <p:spPr>
          <a:xfrm>
            <a:off x="739140" y="5690830"/>
            <a:ext cx="7665720" cy="1351598"/>
          </a:xfrm>
          <a:prstGeom prst="rect">
            <a:avLst/>
          </a:prstGeom>
          <a:noFill/>
          <a:ln/>
        </p:spPr>
        <p:txBody>
          <a:bodyPr wrap="square" lIns="0" tIns="0" rIns="0" bIns="0" rtlCol="0" anchor="t"/>
          <a:lstStyle/>
          <a:p>
            <a:pPr marL="0" indent="0">
              <a:lnSpc>
                <a:spcPts val="2650"/>
              </a:lnSpc>
              <a:buNone/>
            </a:pPr>
            <a:r>
              <a:rPr lang="en-US" sz="1650" dirty="0">
                <a:solidFill>
                  <a:srgbClr val="FFE5E5"/>
                </a:solidFill>
                <a:latin typeface="DM Sans" pitchFamily="34" charset="0"/>
                <a:ea typeface="DM Sans" pitchFamily="34" charset="-122"/>
                <a:cs typeface="DM Sans" pitchFamily="34" charset="-120"/>
              </a:rPr>
              <a:t>This project explores the use of machine learning to automate blood group detection using spectroscopic image processing. The goal is to develop a system that can accurately predict blood groups from images, leading to faster and more reliable blood group identification.</a:t>
            </a:r>
            <a:endParaRPr lang="en-US" sz="1650" dirty="0"/>
          </a:p>
        </p:txBody>
      </p:sp>
      <p:sp>
        <p:nvSpPr>
          <p:cNvPr id="5" name="Shape 2"/>
          <p:cNvSpPr/>
          <p:nvPr/>
        </p:nvSpPr>
        <p:spPr>
          <a:xfrm>
            <a:off x="739140" y="7295674"/>
            <a:ext cx="337780" cy="337780"/>
          </a:xfrm>
          <a:prstGeom prst="roundRect">
            <a:avLst>
              <a:gd name="adj" fmla="val 27068167"/>
            </a:avLst>
          </a:prstGeom>
          <a:solidFill>
            <a:srgbClr val="9AFC1C"/>
          </a:solidFill>
          <a:ln w="7620">
            <a:solidFill>
              <a:srgbClr val="FFFFFF"/>
            </a:solidFill>
            <a:prstDash val="solid"/>
          </a:ln>
        </p:spPr>
      </p:sp>
      <p:sp>
        <p:nvSpPr>
          <p:cNvPr id="6" name="Text 3"/>
          <p:cNvSpPr/>
          <p:nvPr/>
        </p:nvSpPr>
        <p:spPr>
          <a:xfrm>
            <a:off x="849630" y="7415808"/>
            <a:ext cx="116800" cy="97512"/>
          </a:xfrm>
          <a:prstGeom prst="rect">
            <a:avLst/>
          </a:prstGeom>
          <a:noFill/>
          <a:ln/>
        </p:spPr>
        <p:txBody>
          <a:bodyPr wrap="none" lIns="0" tIns="0" rIns="0" bIns="0" rtlCol="0" anchor="t"/>
          <a:lstStyle/>
          <a:p>
            <a:pPr marL="0" indent="0" algn="ctr">
              <a:lnSpc>
                <a:spcPts val="750"/>
              </a:lnSpc>
              <a:buNone/>
            </a:pPr>
            <a:r>
              <a:rPr lang="en-US" sz="750" dirty="0">
                <a:solidFill>
                  <a:srgbClr val="3C3838"/>
                </a:solidFill>
                <a:latin typeface="DM Sans Medium" pitchFamily="34" charset="0"/>
                <a:ea typeface="DM Sans Medium" pitchFamily="34" charset="-122"/>
                <a:cs typeface="DM Sans Medium" pitchFamily="34" charset="-120"/>
              </a:rPr>
              <a:t>RP</a:t>
            </a:r>
            <a:endParaRPr lang="en-US" sz="750" dirty="0"/>
          </a:p>
        </p:txBody>
      </p:sp>
      <p:sp>
        <p:nvSpPr>
          <p:cNvPr id="7" name="Text 4"/>
          <p:cNvSpPr/>
          <p:nvPr/>
        </p:nvSpPr>
        <p:spPr>
          <a:xfrm>
            <a:off x="1182410" y="7279958"/>
            <a:ext cx="1802368" cy="369451"/>
          </a:xfrm>
          <a:prstGeom prst="rect">
            <a:avLst/>
          </a:prstGeom>
          <a:noFill/>
          <a:ln/>
        </p:spPr>
        <p:txBody>
          <a:bodyPr wrap="none" lIns="0" tIns="0" rIns="0" bIns="0" rtlCol="0" anchor="t"/>
          <a:lstStyle/>
          <a:p>
            <a:pPr marL="0" indent="0" algn="l">
              <a:lnSpc>
                <a:spcPts val="2900"/>
              </a:lnSpc>
              <a:buNone/>
            </a:pPr>
            <a:r>
              <a:rPr lang="en-US" sz="2050" b="1" dirty="0">
                <a:solidFill>
                  <a:srgbClr val="FFE5E5"/>
                </a:solidFill>
                <a:latin typeface="DM Sans Bold" pitchFamily="34" charset="0"/>
                <a:ea typeface="DM Sans Bold" pitchFamily="34" charset="-122"/>
                <a:cs typeface="DM Sans Bold" pitchFamily="34" charset="-120"/>
              </a:rPr>
              <a:t>by Rahul Patel  and Vibhu Mishra</a:t>
            </a:r>
          </a:p>
          <a:p>
            <a:pPr marL="0" indent="0" algn="l">
              <a:lnSpc>
                <a:spcPts val="2900"/>
              </a:lnSpc>
              <a:buNone/>
            </a:pPr>
            <a:r>
              <a:rPr lang="en-US" sz="2050" b="1" dirty="0">
                <a:solidFill>
                  <a:srgbClr val="FFE5E5"/>
                </a:solidFill>
                <a:latin typeface="DM Sans Bold" pitchFamily="34" charset="0"/>
              </a:rPr>
              <a:t>Mentor: Mr. </a:t>
            </a:r>
            <a:r>
              <a:rPr lang="en-US" sz="2050" b="1">
                <a:solidFill>
                  <a:srgbClr val="FFE5E5"/>
                </a:solidFill>
                <a:latin typeface="DM Sans Bold" pitchFamily="34" charset="0"/>
              </a:rPr>
              <a:t>Rahul Patel</a:t>
            </a:r>
            <a:endParaRPr lang="en-US" sz="2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565791"/>
            <a:ext cx="5701546" cy="712708"/>
          </a:xfrm>
          <a:prstGeom prst="rect">
            <a:avLst/>
          </a:prstGeom>
          <a:noFill/>
          <a:ln/>
        </p:spPr>
        <p:txBody>
          <a:bodyPr wrap="none" lIns="0" tIns="0" rIns="0" bIns="0" rtlCol="0" anchor="t"/>
          <a:lstStyle/>
          <a:p>
            <a:pPr marL="0" indent="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Abstract</a:t>
            </a:r>
            <a:endParaRPr lang="en-US" sz="4450" dirty="0"/>
          </a:p>
        </p:txBody>
      </p:sp>
      <p:sp>
        <p:nvSpPr>
          <p:cNvPr id="3" name="Text 1"/>
          <p:cNvSpPr/>
          <p:nvPr/>
        </p:nvSpPr>
        <p:spPr>
          <a:xfrm>
            <a:off x="758309" y="2711768"/>
            <a:ext cx="13113782" cy="138684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This project focuses on automating blood group detection using spectroscopic images. Our approach utilizes a Machine learning model based on the VGG16 architecture, specifically fine-tuned for this classification task. This model has achieved a high accuracy of 93%, demonstrating its potential for efficient and reliable blood group determination. We have also developed a user-friendly web application that allows for easy integration into various medical settings.</a:t>
            </a:r>
            <a:endParaRPr lang="en-US" sz="1700" dirty="0"/>
          </a:p>
        </p:txBody>
      </p:sp>
      <p:sp>
        <p:nvSpPr>
          <p:cNvPr id="4" name="Shape 2"/>
          <p:cNvSpPr/>
          <p:nvPr/>
        </p:nvSpPr>
        <p:spPr>
          <a:xfrm>
            <a:off x="758309" y="4342328"/>
            <a:ext cx="4226838" cy="2321362"/>
          </a:xfrm>
          <a:prstGeom prst="roundRect">
            <a:avLst>
              <a:gd name="adj" fmla="val 3920"/>
            </a:avLst>
          </a:prstGeom>
          <a:solidFill>
            <a:srgbClr val="740B0B"/>
          </a:solidFill>
          <a:ln w="7620">
            <a:solidFill>
              <a:srgbClr val="8D2424"/>
            </a:solidFill>
            <a:prstDash val="solid"/>
          </a:ln>
        </p:spPr>
      </p:sp>
      <p:sp>
        <p:nvSpPr>
          <p:cNvPr id="5" name="Text 3"/>
          <p:cNvSpPr/>
          <p:nvPr/>
        </p:nvSpPr>
        <p:spPr>
          <a:xfrm>
            <a:off x="982504" y="4566523"/>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Objective</a:t>
            </a:r>
            <a:endParaRPr lang="en-US" sz="2200" dirty="0"/>
          </a:p>
        </p:txBody>
      </p:sp>
      <p:sp>
        <p:nvSpPr>
          <p:cNvPr id="6" name="Text 4"/>
          <p:cNvSpPr/>
          <p:nvPr/>
        </p:nvSpPr>
        <p:spPr>
          <a:xfrm>
            <a:off x="982504" y="5052655"/>
            <a:ext cx="3778448" cy="104013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Develop an automated system for blood group detection using image analysis and Machine learning.</a:t>
            </a:r>
            <a:endParaRPr lang="en-US" sz="1700" dirty="0"/>
          </a:p>
        </p:txBody>
      </p:sp>
      <p:sp>
        <p:nvSpPr>
          <p:cNvPr id="7" name="Shape 5"/>
          <p:cNvSpPr/>
          <p:nvPr/>
        </p:nvSpPr>
        <p:spPr>
          <a:xfrm>
            <a:off x="5201722" y="4342328"/>
            <a:ext cx="4226838" cy="2321362"/>
          </a:xfrm>
          <a:prstGeom prst="roundRect">
            <a:avLst>
              <a:gd name="adj" fmla="val 3920"/>
            </a:avLst>
          </a:prstGeom>
          <a:solidFill>
            <a:srgbClr val="740B0B"/>
          </a:solidFill>
          <a:ln w="7620">
            <a:solidFill>
              <a:srgbClr val="8D2424"/>
            </a:solidFill>
            <a:prstDash val="solid"/>
          </a:ln>
        </p:spPr>
      </p:sp>
      <p:sp>
        <p:nvSpPr>
          <p:cNvPr id="8" name="Text 6"/>
          <p:cNvSpPr/>
          <p:nvPr/>
        </p:nvSpPr>
        <p:spPr>
          <a:xfrm>
            <a:off x="5425916" y="4566523"/>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Approach</a:t>
            </a:r>
            <a:endParaRPr lang="en-US" sz="2200" dirty="0"/>
          </a:p>
        </p:txBody>
      </p:sp>
      <p:sp>
        <p:nvSpPr>
          <p:cNvPr id="9" name="Text 7"/>
          <p:cNvSpPr/>
          <p:nvPr/>
        </p:nvSpPr>
        <p:spPr>
          <a:xfrm>
            <a:off x="5425916" y="5052655"/>
            <a:ext cx="3778448" cy="104013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Employ a Machine learning model based on VGG16 architecture, fine-tuned for 7-class blood group classification.</a:t>
            </a:r>
            <a:endParaRPr lang="en-US" sz="1700" dirty="0"/>
          </a:p>
        </p:txBody>
      </p:sp>
      <p:sp>
        <p:nvSpPr>
          <p:cNvPr id="10" name="Shape 8"/>
          <p:cNvSpPr/>
          <p:nvPr/>
        </p:nvSpPr>
        <p:spPr>
          <a:xfrm>
            <a:off x="9645134" y="4342328"/>
            <a:ext cx="4226838" cy="2321362"/>
          </a:xfrm>
          <a:prstGeom prst="roundRect">
            <a:avLst>
              <a:gd name="adj" fmla="val 3920"/>
            </a:avLst>
          </a:prstGeom>
          <a:solidFill>
            <a:srgbClr val="740B0B"/>
          </a:solidFill>
          <a:ln w="7620">
            <a:solidFill>
              <a:srgbClr val="8D2424"/>
            </a:solidFill>
            <a:prstDash val="solid"/>
          </a:ln>
        </p:spPr>
      </p:sp>
      <p:sp>
        <p:nvSpPr>
          <p:cNvPr id="11" name="Text 9"/>
          <p:cNvSpPr/>
          <p:nvPr/>
        </p:nvSpPr>
        <p:spPr>
          <a:xfrm>
            <a:off x="9869329" y="4566523"/>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Results</a:t>
            </a:r>
            <a:endParaRPr lang="en-US" sz="2200" dirty="0"/>
          </a:p>
        </p:txBody>
      </p:sp>
      <p:sp>
        <p:nvSpPr>
          <p:cNvPr id="12" name="Text 10"/>
          <p:cNvSpPr/>
          <p:nvPr/>
        </p:nvSpPr>
        <p:spPr>
          <a:xfrm>
            <a:off x="9869329" y="5052655"/>
            <a:ext cx="3778448" cy="138684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Achieved a 93% accuracy on the test dataset and developed a user-friendly web application for real-time predictions.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D3D0E9-CF3F-1495-9371-3B096E8FB5B8}"/>
              </a:ext>
            </a:extLst>
          </p:cNvPr>
          <p:cNvPicPr>
            <a:picLocks noChangeAspect="1"/>
          </p:cNvPicPr>
          <p:nvPr/>
        </p:nvPicPr>
        <p:blipFill>
          <a:blip r:embed="rId2"/>
          <a:srcRect t="43361" r="58390"/>
          <a:stretch/>
        </p:blipFill>
        <p:spPr>
          <a:xfrm>
            <a:off x="852470" y="2280001"/>
            <a:ext cx="6248239" cy="5119862"/>
          </a:xfrm>
          <a:prstGeom prst="rect">
            <a:avLst/>
          </a:prstGeom>
        </p:spPr>
      </p:pic>
      <p:pic>
        <p:nvPicPr>
          <p:cNvPr id="2" name="Picture 1">
            <a:extLst>
              <a:ext uri="{FF2B5EF4-FFF2-40B4-BE49-F238E27FC236}">
                <a16:creationId xmlns:a16="http://schemas.microsoft.com/office/drawing/2014/main" id="{C4DEB1F5-680A-B593-A5C8-4A8D779DD8C2}"/>
              </a:ext>
            </a:extLst>
          </p:cNvPr>
          <p:cNvPicPr>
            <a:picLocks noChangeAspect="1"/>
          </p:cNvPicPr>
          <p:nvPr/>
        </p:nvPicPr>
        <p:blipFill>
          <a:blip r:embed="rId3"/>
          <a:stretch>
            <a:fillRect/>
          </a:stretch>
        </p:blipFill>
        <p:spPr>
          <a:xfrm rot="16200000">
            <a:off x="8844333" y="1862666"/>
            <a:ext cx="4629150" cy="5463822"/>
          </a:xfrm>
          <a:prstGeom prst="rect">
            <a:avLst/>
          </a:prstGeom>
        </p:spPr>
      </p:pic>
      <p:sp>
        <p:nvSpPr>
          <p:cNvPr id="4" name="TextBox 3">
            <a:extLst>
              <a:ext uri="{FF2B5EF4-FFF2-40B4-BE49-F238E27FC236}">
                <a16:creationId xmlns:a16="http://schemas.microsoft.com/office/drawing/2014/main" id="{A11FB3B6-EB23-DC1E-5164-8143A6062ADA}"/>
              </a:ext>
            </a:extLst>
          </p:cNvPr>
          <p:cNvSpPr txBox="1"/>
          <p:nvPr/>
        </p:nvSpPr>
        <p:spPr>
          <a:xfrm>
            <a:off x="400050" y="829737"/>
            <a:ext cx="11864340" cy="646331"/>
          </a:xfrm>
          <a:prstGeom prst="rect">
            <a:avLst/>
          </a:prstGeom>
          <a:noFill/>
        </p:spPr>
        <p:txBody>
          <a:bodyPr wrap="square" rtlCol="0">
            <a:spAutoFit/>
          </a:bodyPr>
          <a:lstStyle/>
          <a:p>
            <a:r>
              <a:rPr lang="en-IN" sz="3600" b="1" dirty="0">
                <a:solidFill>
                  <a:srgbClr val="FF0000"/>
                </a:solidFill>
                <a:latin typeface="Arial Black" panose="020B0A04020102020204" pitchFamily="34" charset="0"/>
              </a:rPr>
              <a:t>Traditional Method </a:t>
            </a:r>
            <a:r>
              <a:rPr lang="en-IN" sz="3600" b="1" dirty="0" err="1">
                <a:solidFill>
                  <a:srgbClr val="FF0000"/>
                </a:solidFill>
                <a:latin typeface="Arial Black" panose="020B0A04020102020204" pitchFamily="34" charset="0"/>
              </a:rPr>
              <a:t>Eroor</a:t>
            </a:r>
            <a:r>
              <a:rPr lang="en-IN" sz="3600" b="1" dirty="0">
                <a:solidFill>
                  <a:srgbClr val="FF0000"/>
                </a:solidFill>
                <a:latin typeface="Arial Black" panose="020B0A04020102020204" pitchFamily="34" charset="0"/>
              </a:rPr>
              <a:t>  (Not 100% Accuracy</a:t>
            </a:r>
          </a:p>
        </p:txBody>
      </p:sp>
    </p:spTree>
    <p:extLst>
      <p:ext uri="{BB962C8B-B14F-4D97-AF65-F5344CB8AC3E}">
        <p14:creationId xmlns:p14="http://schemas.microsoft.com/office/powerpoint/2010/main" val="2997597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1366242"/>
            <a:ext cx="5701546" cy="712708"/>
          </a:xfrm>
          <a:prstGeom prst="rect">
            <a:avLst/>
          </a:prstGeom>
          <a:noFill/>
          <a:ln/>
        </p:spPr>
        <p:txBody>
          <a:bodyPr wrap="none" lIns="0" tIns="0" rIns="0" bIns="0" rtlCol="0" anchor="t"/>
          <a:lstStyle/>
          <a:p>
            <a:pPr marL="0" indent="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Introduction</a:t>
            </a:r>
            <a:endParaRPr lang="en-US" sz="4450" dirty="0"/>
          </a:p>
        </p:txBody>
      </p:sp>
      <p:sp>
        <p:nvSpPr>
          <p:cNvPr id="4" name="Shape 1"/>
          <p:cNvSpPr/>
          <p:nvPr/>
        </p:nvSpPr>
        <p:spPr>
          <a:xfrm>
            <a:off x="6244709" y="2647593"/>
            <a:ext cx="487442" cy="487442"/>
          </a:xfrm>
          <a:prstGeom prst="roundRect">
            <a:avLst>
              <a:gd name="adj" fmla="val 18669"/>
            </a:avLst>
          </a:prstGeom>
          <a:solidFill>
            <a:srgbClr val="740B0B"/>
          </a:solidFill>
          <a:ln w="7620">
            <a:solidFill>
              <a:srgbClr val="8D2424"/>
            </a:solidFill>
            <a:prstDash val="solid"/>
          </a:ln>
        </p:spPr>
      </p:sp>
      <p:sp>
        <p:nvSpPr>
          <p:cNvPr id="5" name="Text 2"/>
          <p:cNvSpPr/>
          <p:nvPr/>
        </p:nvSpPr>
        <p:spPr>
          <a:xfrm>
            <a:off x="6387822" y="2720221"/>
            <a:ext cx="201097" cy="342067"/>
          </a:xfrm>
          <a:prstGeom prst="rect">
            <a:avLst/>
          </a:prstGeom>
          <a:noFill/>
          <a:ln/>
        </p:spPr>
        <p:txBody>
          <a:bodyPr wrap="none" lIns="0" tIns="0" rIns="0" bIns="0" rtlCol="0" anchor="t"/>
          <a:lstStyle/>
          <a:p>
            <a:pPr marL="0" indent="0" algn="ctr">
              <a:lnSpc>
                <a:spcPts val="2650"/>
              </a:lnSpc>
              <a:buNone/>
            </a:pPr>
            <a:r>
              <a:rPr lang="en-US" sz="2650" dirty="0">
                <a:solidFill>
                  <a:srgbClr val="FFE5E5"/>
                </a:solidFill>
                <a:latin typeface="Dela Gothic One" pitchFamily="34" charset="0"/>
                <a:ea typeface="Dela Gothic One" pitchFamily="34" charset="-122"/>
                <a:cs typeface="Dela Gothic One" pitchFamily="34" charset="-120"/>
              </a:rPr>
              <a:t>1</a:t>
            </a:r>
            <a:endParaRPr lang="en-US" sz="2650" dirty="0"/>
          </a:p>
        </p:txBody>
      </p:sp>
      <p:sp>
        <p:nvSpPr>
          <p:cNvPr id="6" name="Text 3"/>
          <p:cNvSpPr/>
          <p:nvPr/>
        </p:nvSpPr>
        <p:spPr>
          <a:xfrm>
            <a:off x="6948726" y="2647593"/>
            <a:ext cx="3001447" cy="712470"/>
          </a:xfrm>
          <a:prstGeom prst="rect">
            <a:avLst/>
          </a:prstGeom>
          <a:noFill/>
          <a:ln/>
        </p:spPr>
        <p:txBody>
          <a:bodyPr wrap="squar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Problem Statement</a:t>
            </a:r>
            <a:endParaRPr lang="en-US" sz="2200" dirty="0"/>
          </a:p>
        </p:txBody>
      </p:sp>
      <p:sp>
        <p:nvSpPr>
          <p:cNvPr id="7" name="Text 4"/>
          <p:cNvSpPr/>
          <p:nvPr/>
        </p:nvSpPr>
        <p:spPr>
          <a:xfrm>
            <a:off x="6948726" y="3489960"/>
            <a:ext cx="3001447" cy="104013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Manual blood group detection is time-consuming and prone to human error.</a:t>
            </a:r>
            <a:endParaRPr lang="en-US" sz="1700" dirty="0"/>
          </a:p>
        </p:txBody>
      </p:sp>
      <p:sp>
        <p:nvSpPr>
          <p:cNvPr id="8" name="Shape 5"/>
          <p:cNvSpPr/>
          <p:nvPr/>
        </p:nvSpPr>
        <p:spPr>
          <a:xfrm>
            <a:off x="10166747" y="2647593"/>
            <a:ext cx="487442" cy="487442"/>
          </a:xfrm>
          <a:prstGeom prst="roundRect">
            <a:avLst>
              <a:gd name="adj" fmla="val 18669"/>
            </a:avLst>
          </a:prstGeom>
          <a:solidFill>
            <a:srgbClr val="740B0B"/>
          </a:solidFill>
          <a:ln w="7620">
            <a:solidFill>
              <a:srgbClr val="8D2424"/>
            </a:solidFill>
            <a:prstDash val="solid"/>
          </a:ln>
        </p:spPr>
      </p:sp>
      <p:sp>
        <p:nvSpPr>
          <p:cNvPr id="9" name="Text 6"/>
          <p:cNvSpPr/>
          <p:nvPr/>
        </p:nvSpPr>
        <p:spPr>
          <a:xfrm>
            <a:off x="10267593" y="2720221"/>
            <a:ext cx="285631" cy="342067"/>
          </a:xfrm>
          <a:prstGeom prst="rect">
            <a:avLst/>
          </a:prstGeom>
          <a:noFill/>
          <a:ln/>
        </p:spPr>
        <p:txBody>
          <a:bodyPr wrap="none" lIns="0" tIns="0" rIns="0" bIns="0" rtlCol="0" anchor="t"/>
          <a:lstStyle/>
          <a:p>
            <a:pPr marL="0" indent="0" algn="ctr">
              <a:lnSpc>
                <a:spcPts val="2650"/>
              </a:lnSpc>
              <a:buNone/>
            </a:pPr>
            <a:r>
              <a:rPr lang="en-US" sz="2650" dirty="0">
                <a:solidFill>
                  <a:srgbClr val="FFE5E5"/>
                </a:solidFill>
                <a:latin typeface="Dela Gothic One" pitchFamily="34" charset="0"/>
                <a:ea typeface="Dela Gothic One" pitchFamily="34" charset="-122"/>
                <a:cs typeface="Dela Gothic One" pitchFamily="34" charset="-120"/>
              </a:rPr>
              <a:t>2</a:t>
            </a:r>
            <a:endParaRPr lang="en-US" sz="2650" dirty="0"/>
          </a:p>
        </p:txBody>
      </p:sp>
      <p:sp>
        <p:nvSpPr>
          <p:cNvPr id="10" name="Text 7"/>
          <p:cNvSpPr/>
          <p:nvPr/>
        </p:nvSpPr>
        <p:spPr>
          <a:xfrm>
            <a:off x="10870763" y="2647593"/>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Objective</a:t>
            </a:r>
            <a:endParaRPr lang="en-US" sz="2200" dirty="0"/>
          </a:p>
        </p:txBody>
      </p:sp>
      <p:sp>
        <p:nvSpPr>
          <p:cNvPr id="11" name="Text 8"/>
          <p:cNvSpPr/>
          <p:nvPr/>
        </p:nvSpPr>
        <p:spPr>
          <a:xfrm>
            <a:off x="10870763" y="3133725"/>
            <a:ext cx="3001447" cy="104013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Develop a machine learning model to predict blood groups from images.</a:t>
            </a:r>
            <a:endParaRPr lang="en-US" sz="1700" dirty="0"/>
          </a:p>
        </p:txBody>
      </p:sp>
      <p:sp>
        <p:nvSpPr>
          <p:cNvPr id="12" name="Shape 9"/>
          <p:cNvSpPr/>
          <p:nvPr/>
        </p:nvSpPr>
        <p:spPr>
          <a:xfrm>
            <a:off x="6244709" y="4990386"/>
            <a:ext cx="487442" cy="487442"/>
          </a:xfrm>
          <a:prstGeom prst="roundRect">
            <a:avLst>
              <a:gd name="adj" fmla="val 18669"/>
            </a:avLst>
          </a:prstGeom>
          <a:solidFill>
            <a:srgbClr val="740B0B"/>
          </a:solidFill>
          <a:ln w="7620">
            <a:solidFill>
              <a:srgbClr val="8D2424"/>
            </a:solidFill>
            <a:prstDash val="solid"/>
          </a:ln>
        </p:spPr>
      </p:sp>
      <p:sp>
        <p:nvSpPr>
          <p:cNvPr id="13" name="Text 10"/>
          <p:cNvSpPr/>
          <p:nvPr/>
        </p:nvSpPr>
        <p:spPr>
          <a:xfrm>
            <a:off x="6337697" y="5063014"/>
            <a:ext cx="301347" cy="342067"/>
          </a:xfrm>
          <a:prstGeom prst="rect">
            <a:avLst/>
          </a:prstGeom>
          <a:noFill/>
          <a:ln/>
        </p:spPr>
        <p:txBody>
          <a:bodyPr wrap="none" lIns="0" tIns="0" rIns="0" bIns="0" rtlCol="0" anchor="t"/>
          <a:lstStyle/>
          <a:p>
            <a:pPr marL="0" indent="0" algn="ctr">
              <a:lnSpc>
                <a:spcPts val="2650"/>
              </a:lnSpc>
              <a:buNone/>
            </a:pPr>
            <a:r>
              <a:rPr lang="en-US" sz="2650" dirty="0">
                <a:solidFill>
                  <a:srgbClr val="FFE5E5"/>
                </a:solidFill>
                <a:latin typeface="Dela Gothic One" pitchFamily="34" charset="0"/>
                <a:ea typeface="Dela Gothic One" pitchFamily="34" charset="-122"/>
                <a:cs typeface="Dela Gothic One" pitchFamily="34" charset="-120"/>
              </a:rPr>
              <a:t>3</a:t>
            </a:r>
            <a:endParaRPr lang="en-US" sz="2650" dirty="0"/>
          </a:p>
        </p:txBody>
      </p:sp>
      <p:sp>
        <p:nvSpPr>
          <p:cNvPr id="14" name="Text 11"/>
          <p:cNvSpPr/>
          <p:nvPr/>
        </p:nvSpPr>
        <p:spPr>
          <a:xfrm>
            <a:off x="6948726" y="4990386"/>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Significance</a:t>
            </a:r>
            <a:endParaRPr lang="en-US" sz="2200" dirty="0"/>
          </a:p>
        </p:txBody>
      </p:sp>
      <p:sp>
        <p:nvSpPr>
          <p:cNvPr id="15" name="Text 12"/>
          <p:cNvSpPr/>
          <p:nvPr/>
        </p:nvSpPr>
        <p:spPr>
          <a:xfrm>
            <a:off x="6948726" y="5476518"/>
            <a:ext cx="3001447" cy="138684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Faster blood group identification is crucial in emergency and medical scenarios.</a:t>
            </a:r>
            <a:endParaRPr lang="en-US" sz="1700" dirty="0"/>
          </a:p>
        </p:txBody>
      </p:sp>
      <p:sp>
        <p:nvSpPr>
          <p:cNvPr id="16" name="Shape 13"/>
          <p:cNvSpPr/>
          <p:nvPr/>
        </p:nvSpPr>
        <p:spPr>
          <a:xfrm>
            <a:off x="10166747" y="4990386"/>
            <a:ext cx="487442" cy="487442"/>
          </a:xfrm>
          <a:prstGeom prst="roundRect">
            <a:avLst>
              <a:gd name="adj" fmla="val 18669"/>
            </a:avLst>
          </a:prstGeom>
          <a:solidFill>
            <a:srgbClr val="740B0B"/>
          </a:solidFill>
          <a:ln w="7620">
            <a:solidFill>
              <a:srgbClr val="8D2424"/>
            </a:solidFill>
            <a:prstDash val="solid"/>
          </a:ln>
        </p:spPr>
      </p:sp>
      <p:sp>
        <p:nvSpPr>
          <p:cNvPr id="17" name="Text 14"/>
          <p:cNvSpPr/>
          <p:nvPr/>
        </p:nvSpPr>
        <p:spPr>
          <a:xfrm>
            <a:off x="10252472" y="5063014"/>
            <a:ext cx="315992" cy="342067"/>
          </a:xfrm>
          <a:prstGeom prst="rect">
            <a:avLst/>
          </a:prstGeom>
          <a:noFill/>
          <a:ln/>
        </p:spPr>
        <p:txBody>
          <a:bodyPr wrap="none" lIns="0" tIns="0" rIns="0" bIns="0" rtlCol="0" anchor="t"/>
          <a:lstStyle/>
          <a:p>
            <a:pPr marL="0" indent="0" algn="ctr">
              <a:lnSpc>
                <a:spcPts val="2650"/>
              </a:lnSpc>
              <a:buNone/>
            </a:pPr>
            <a:r>
              <a:rPr lang="en-US" sz="2650" dirty="0">
                <a:solidFill>
                  <a:srgbClr val="FFE5E5"/>
                </a:solidFill>
                <a:latin typeface="Dela Gothic One" pitchFamily="34" charset="0"/>
                <a:ea typeface="Dela Gothic One" pitchFamily="34" charset="-122"/>
                <a:cs typeface="Dela Gothic One" pitchFamily="34" charset="-120"/>
              </a:rPr>
              <a:t>4</a:t>
            </a:r>
            <a:endParaRPr lang="en-US" sz="2650" dirty="0"/>
          </a:p>
        </p:txBody>
      </p:sp>
      <p:sp>
        <p:nvSpPr>
          <p:cNvPr id="18" name="Text 15"/>
          <p:cNvSpPr/>
          <p:nvPr/>
        </p:nvSpPr>
        <p:spPr>
          <a:xfrm>
            <a:off x="10870763" y="4990386"/>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Benefits</a:t>
            </a:r>
            <a:endParaRPr lang="en-US" sz="2200" dirty="0"/>
          </a:p>
        </p:txBody>
      </p:sp>
      <p:sp>
        <p:nvSpPr>
          <p:cNvPr id="19" name="Text 16"/>
          <p:cNvSpPr/>
          <p:nvPr/>
        </p:nvSpPr>
        <p:spPr>
          <a:xfrm>
            <a:off x="10870763" y="5476518"/>
            <a:ext cx="3001447" cy="104013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Reduces human errors and improves the accuracy of blood group testing.</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2583775"/>
            <a:ext cx="5995511" cy="712708"/>
          </a:xfrm>
          <a:prstGeom prst="rect">
            <a:avLst/>
          </a:prstGeom>
          <a:noFill/>
          <a:ln/>
        </p:spPr>
        <p:txBody>
          <a:bodyPr wrap="none" lIns="0" tIns="0" rIns="0" bIns="0" rtlCol="0" anchor="t"/>
          <a:lstStyle/>
          <a:p>
            <a:pPr marL="0" indent="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Dataset Overview</a:t>
            </a:r>
            <a:endParaRPr lang="en-US" sz="4450" dirty="0"/>
          </a:p>
        </p:txBody>
      </p:sp>
      <p:sp>
        <p:nvSpPr>
          <p:cNvPr id="3" name="Text 1"/>
          <p:cNvSpPr/>
          <p:nvPr/>
        </p:nvSpPr>
        <p:spPr>
          <a:xfrm>
            <a:off x="758309" y="3837980"/>
            <a:ext cx="2850713" cy="356235"/>
          </a:xfrm>
          <a:prstGeom prst="rect">
            <a:avLst/>
          </a:prstGeom>
          <a:noFill/>
          <a:ln/>
        </p:spPr>
        <p:txBody>
          <a:bodyPr wrap="none" lIns="0" tIns="0" rIns="0" bIns="0" rtlCol="0" anchor="t"/>
          <a:lstStyle/>
          <a:p>
            <a:pPr marL="0" indent="0">
              <a:lnSpc>
                <a:spcPts val="2800"/>
              </a:lnSpc>
              <a:buNone/>
            </a:pPr>
            <a:r>
              <a:rPr lang="en-US" sz="2800" dirty="0">
                <a:solidFill>
                  <a:srgbClr val="FAEBEB"/>
                </a:solidFill>
                <a:latin typeface="Dela Gothic One" pitchFamily="34" charset="0"/>
                <a:ea typeface="Dela Gothic One" pitchFamily="34" charset="-122"/>
                <a:cs typeface="Dela Gothic One" pitchFamily="34" charset="-120"/>
              </a:rPr>
              <a:t>Source</a:t>
            </a:r>
            <a:endParaRPr lang="en-US" sz="2800" dirty="0"/>
          </a:p>
        </p:txBody>
      </p:sp>
      <p:sp>
        <p:nvSpPr>
          <p:cNvPr id="4" name="Text 2"/>
          <p:cNvSpPr/>
          <p:nvPr/>
        </p:nvSpPr>
        <p:spPr>
          <a:xfrm>
            <a:off x="758309" y="4410789"/>
            <a:ext cx="4018359" cy="693420"/>
          </a:xfrm>
          <a:prstGeom prst="rect">
            <a:avLst/>
          </a:prstGeom>
          <a:noFill/>
          <a:ln/>
        </p:spPr>
        <p:txBody>
          <a:bodyPr wrap="square" lIns="0" tIns="0" rIns="0" bIns="0" rtlCol="0" anchor="t"/>
          <a:lstStyle/>
          <a:p>
            <a:pPr marL="0" indent="0">
              <a:lnSpc>
                <a:spcPts val="2700"/>
              </a:lnSpc>
              <a:buNone/>
            </a:pPr>
            <a:r>
              <a:rPr lang="en-US" sz="2000" dirty="0">
                <a:solidFill>
                  <a:srgbClr val="FFE5E5"/>
                </a:solidFill>
                <a:latin typeface="DM Sans" pitchFamily="34" charset="0"/>
                <a:ea typeface="DM Sans" pitchFamily="34" charset="-122"/>
                <a:cs typeface="DM Sans" pitchFamily="34" charset="-120"/>
              </a:rPr>
              <a:t>The dataset was sourced Kaggle.</a:t>
            </a:r>
            <a:endParaRPr lang="en-US" sz="2000" dirty="0"/>
          </a:p>
        </p:txBody>
      </p:sp>
      <p:sp>
        <p:nvSpPr>
          <p:cNvPr id="5" name="Text 3"/>
          <p:cNvSpPr/>
          <p:nvPr/>
        </p:nvSpPr>
        <p:spPr>
          <a:xfrm>
            <a:off x="5312926" y="3837980"/>
            <a:ext cx="2850713" cy="356235"/>
          </a:xfrm>
          <a:prstGeom prst="rect">
            <a:avLst/>
          </a:prstGeom>
          <a:noFill/>
          <a:ln/>
        </p:spPr>
        <p:txBody>
          <a:bodyPr wrap="none" lIns="0" tIns="0" rIns="0" bIns="0" rtlCol="0" anchor="t"/>
          <a:lstStyle/>
          <a:p>
            <a:pPr marL="0" indent="0">
              <a:lnSpc>
                <a:spcPts val="2800"/>
              </a:lnSpc>
              <a:buNone/>
            </a:pPr>
            <a:r>
              <a:rPr lang="en-US" sz="2800" dirty="0">
                <a:solidFill>
                  <a:srgbClr val="FAEBEB"/>
                </a:solidFill>
                <a:latin typeface="Dela Gothic One" pitchFamily="34" charset="0"/>
                <a:ea typeface="Dela Gothic One" pitchFamily="34" charset="-122"/>
                <a:cs typeface="Dela Gothic One" pitchFamily="34" charset="-120"/>
              </a:rPr>
              <a:t>Structure</a:t>
            </a:r>
            <a:endParaRPr lang="en-US" sz="2800" dirty="0"/>
          </a:p>
        </p:txBody>
      </p:sp>
      <p:sp>
        <p:nvSpPr>
          <p:cNvPr id="6" name="Text 4"/>
          <p:cNvSpPr/>
          <p:nvPr/>
        </p:nvSpPr>
        <p:spPr>
          <a:xfrm>
            <a:off x="5312926" y="4410789"/>
            <a:ext cx="4018359" cy="693420"/>
          </a:xfrm>
          <a:prstGeom prst="rect">
            <a:avLst/>
          </a:prstGeom>
          <a:noFill/>
          <a:ln/>
        </p:spPr>
        <p:txBody>
          <a:bodyPr wrap="square" lIns="0" tIns="0" rIns="0" bIns="0" rtlCol="0" anchor="t"/>
          <a:lstStyle/>
          <a:p>
            <a:pPr marL="0" indent="0">
              <a:lnSpc>
                <a:spcPts val="2700"/>
              </a:lnSpc>
              <a:buNone/>
            </a:pPr>
            <a:r>
              <a:rPr lang="en-US" sz="2000" dirty="0">
                <a:solidFill>
                  <a:srgbClr val="FFE5E5"/>
                </a:solidFill>
                <a:latin typeface="DM Sans" pitchFamily="34" charset="0"/>
                <a:ea typeface="DM Sans" pitchFamily="34" charset="-122"/>
                <a:cs typeface="DM Sans" pitchFamily="34" charset="-120"/>
              </a:rPr>
              <a:t>The dataset is organized into three folders: train, validation, and test.</a:t>
            </a:r>
            <a:endParaRPr lang="en-US" sz="2000" dirty="0"/>
          </a:p>
        </p:txBody>
      </p:sp>
      <p:sp>
        <p:nvSpPr>
          <p:cNvPr id="7" name="Text 5"/>
          <p:cNvSpPr/>
          <p:nvPr/>
        </p:nvSpPr>
        <p:spPr>
          <a:xfrm>
            <a:off x="9867543" y="3837980"/>
            <a:ext cx="2850713" cy="356235"/>
          </a:xfrm>
          <a:prstGeom prst="rect">
            <a:avLst/>
          </a:prstGeom>
          <a:noFill/>
          <a:ln/>
        </p:spPr>
        <p:txBody>
          <a:bodyPr wrap="none" lIns="0" tIns="0" rIns="0" bIns="0" rtlCol="0" anchor="t"/>
          <a:lstStyle/>
          <a:p>
            <a:pPr marL="0" indent="0">
              <a:lnSpc>
                <a:spcPts val="2800"/>
              </a:lnSpc>
              <a:buNone/>
            </a:pPr>
            <a:r>
              <a:rPr lang="en-US" sz="2800" dirty="0">
                <a:solidFill>
                  <a:srgbClr val="FAEBEB"/>
                </a:solidFill>
                <a:latin typeface="Dela Gothic One" pitchFamily="34" charset="0"/>
                <a:ea typeface="Dela Gothic One" pitchFamily="34" charset="-122"/>
                <a:cs typeface="Dela Gothic One" pitchFamily="34" charset="-120"/>
              </a:rPr>
              <a:t>Classes</a:t>
            </a:r>
            <a:endParaRPr lang="en-US" sz="2800" dirty="0"/>
          </a:p>
        </p:txBody>
      </p:sp>
      <p:sp>
        <p:nvSpPr>
          <p:cNvPr id="8" name="Text 6"/>
          <p:cNvSpPr/>
          <p:nvPr/>
        </p:nvSpPr>
        <p:spPr>
          <a:xfrm>
            <a:off x="9867543" y="4410789"/>
            <a:ext cx="4018359" cy="1040130"/>
          </a:xfrm>
          <a:prstGeom prst="rect">
            <a:avLst/>
          </a:prstGeom>
          <a:noFill/>
          <a:ln/>
        </p:spPr>
        <p:txBody>
          <a:bodyPr wrap="square" lIns="0" tIns="0" rIns="0" bIns="0" rtlCol="0" anchor="t"/>
          <a:lstStyle/>
          <a:p>
            <a:pPr marL="0" indent="0">
              <a:lnSpc>
                <a:spcPts val="2700"/>
              </a:lnSpc>
              <a:buNone/>
            </a:pPr>
            <a:r>
              <a:rPr lang="en-US" sz="2000" dirty="0">
                <a:solidFill>
                  <a:srgbClr val="FFE5E5"/>
                </a:solidFill>
                <a:latin typeface="DM Sans" pitchFamily="34" charset="0"/>
                <a:ea typeface="DM Sans" pitchFamily="34" charset="-122"/>
                <a:cs typeface="DM Sans" pitchFamily="34" charset="-120"/>
              </a:rPr>
              <a:t>The dataset includes images representing seven blood group types: A+, A-, AB+, AB-, B+, B-, O+.</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093714"/>
          </a:xfrm>
          <a:prstGeom prst="rect">
            <a:avLst/>
          </a:prstGeom>
        </p:spPr>
      </p:pic>
      <p:sp>
        <p:nvSpPr>
          <p:cNvPr id="3" name="Text 0"/>
          <p:cNvSpPr/>
          <p:nvPr/>
        </p:nvSpPr>
        <p:spPr>
          <a:xfrm>
            <a:off x="586145" y="2556034"/>
            <a:ext cx="4407932" cy="550902"/>
          </a:xfrm>
          <a:prstGeom prst="rect">
            <a:avLst/>
          </a:prstGeom>
          <a:noFill/>
          <a:ln/>
        </p:spPr>
        <p:txBody>
          <a:bodyPr wrap="none" lIns="0" tIns="0" rIns="0" bIns="0" rtlCol="0" anchor="t"/>
          <a:lstStyle/>
          <a:p>
            <a:pPr marL="0" indent="0">
              <a:lnSpc>
                <a:spcPts val="4300"/>
              </a:lnSpc>
              <a:buNone/>
            </a:pPr>
            <a:r>
              <a:rPr lang="en-US" sz="3450" dirty="0">
                <a:solidFill>
                  <a:srgbClr val="FAEBEB"/>
                </a:solidFill>
                <a:latin typeface="Dela Gothic One" pitchFamily="34" charset="0"/>
                <a:ea typeface="Dela Gothic One" pitchFamily="34" charset="-122"/>
                <a:cs typeface="Dela Gothic One" pitchFamily="34" charset="-120"/>
              </a:rPr>
              <a:t>Methodology</a:t>
            </a:r>
            <a:endParaRPr lang="en-US" sz="3450" dirty="0"/>
          </a:p>
        </p:txBody>
      </p:sp>
      <p:sp>
        <p:nvSpPr>
          <p:cNvPr id="4" name="Text 1"/>
          <p:cNvSpPr/>
          <p:nvPr/>
        </p:nvSpPr>
        <p:spPr>
          <a:xfrm>
            <a:off x="586145" y="3358158"/>
            <a:ext cx="13458111" cy="536019"/>
          </a:xfrm>
          <a:prstGeom prst="rect">
            <a:avLst/>
          </a:prstGeom>
          <a:noFill/>
          <a:ln/>
        </p:spPr>
        <p:txBody>
          <a:bodyPr wrap="square" lIns="0" tIns="0" rIns="0" bIns="0" rtlCol="0" anchor="t"/>
          <a:lstStyle/>
          <a:p>
            <a:pPr marL="0" indent="0">
              <a:lnSpc>
                <a:spcPts val="2100"/>
              </a:lnSpc>
              <a:buNone/>
            </a:pPr>
            <a:r>
              <a:rPr lang="en-US" sz="1300" dirty="0">
                <a:solidFill>
                  <a:srgbClr val="FFE5E5"/>
                </a:solidFill>
                <a:latin typeface="DM Sans" pitchFamily="34" charset="0"/>
                <a:ea typeface="DM Sans" pitchFamily="34" charset="-122"/>
                <a:cs typeface="DM Sans" pitchFamily="34" charset="-120"/>
              </a:rPr>
              <a:t>The methodology involves a series of steps, starting with data Preprocessing , followed by model architecture, evaluation, and finally, deployment. Each step plays a crucial role in building a robust and accurate system for automated blood group detection.</a:t>
            </a:r>
            <a:endParaRPr lang="en-US" sz="1300" dirty="0"/>
          </a:p>
        </p:txBody>
      </p:sp>
      <p:sp>
        <p:nvSpPr>
          <p:cNvPr id="5" name="Shape 2"/>
          <p:cNvSpPr/>
          <p:nvPr/>
        </p:nvSpPr>
        <p:spPr>
          <a:xfrm>
            <a:off x="7303770" y="4082534"/>
            <a:ext cx="22860" cy="3684627"/>
          </a:xfrm>
          <a:prstGeom prst="roundRect">
            <a:avLst>
              <a:gd name="adj" fmla="val 307746"/>
            </a:avLst>
          </a:prstGeom>
          <a:solidFill>
            <a:srgbClr val="8D2424"/>
          </a:solidFill>
          <a:ln/>
        </p:spPr>
      </p:sp>
      <p:sp>
        <p:nvSpPr>
          <p:cNvPr id="6" name="Shape 3"/>
          <p:cNvSpPr/>
          <p:nvPr/>
        </p:nvSpPr>
        <p:spPr>
          <a:xfrm>
            <a:off x="6563499" y="4447818"/>
            <a:ext cx="586145" cy="22860"/>
          </a:xfrm>
          <a:prstGeom prst="roundRect">
            <a:avLst>
              <a:gd name="adj" fmla="val 307746"/>
            </a:avLst>
          </a:prstGeom>
          <a:solidFill>
            <a:srgbClr val="8D2424"/>
          </a:solidFill>
          <a:ln/>
        </p:spPr>
      </p:sp>
      <p:sp>
        <p:nvSpPr>
          <p:cNvPr id="7" name="Shape 4"/>
          <p:cNvSpPr/>
          <p:nvPr/>
        </p:nvSpPr>
        <p:spPr>
          <a:xfrm>
            <a:off x="7126784" y="4270891"/>
            <a:ext cx="376833" cy="376833"/>
          </a:xfrm>
          <a:prstGeom prst="roundRect">
            <a:avLst>
              <a:gd name="adj" fmla="val 18669"/>
            </a:avLst>
          </a:prstGeom>
          <a:solidFill>
            <a:srgbClr val="740B0B"/>
          </a:solidFill>
          <a:ln w="7620">
            <a:solidFill>
              <a:srgbClr val="8D2424"/>
            </a:solidFill>
            <a:prstDash val="solid"/>
          </a:ln>
        </p:spPr>
      </p:sp>
      <p:sp>
        <p:nvSpPr>
          <p:cNvPr id="8" name="Text 5"/>
          <p:cNvSpPr/>
          <p:nvPr/>
        </p:nvSpPr>
        <p:spPr>
          <a:xfrm>
            <a:off x="7237393" y="4327088"/>
            <a:ext cx="155496" cy="264438"/>
          </a:xfrm>
          <a:prstGeom prst="rect">
            <a:avLst/>
          </a:prstGeom>
          <a:noFill/>
          <a:ln/>
        </p:spPr>
        <p:txBody>
          <a:bodyPr wrap="none" lIns="0" tIns="0" rIns="0" bIns="0" rtlCol="0" anchor="t"/>
          <a:lstStyle/>
          <a:p>
            <a:pPr marL="0" indent="0" algn="ctr">
              <a:lnSpc>
                <a:spcPts val="2050"/>
              </a:lnSpc>
              <a:buNone/>
            </a:pPr>
            <a:r>
              <a:rPr lang="en-US" sz="2050" dirty="0">
                <a:solidFill>
                  <a:srgbClr val="FFE5E5"/>
                </a:solidFill>
                <a:latin typeface="Dela Gothic One" pitchFamily="34" charset="0"/>
                <a:ea typeface="Dela Gothic One" pitchFamily="34" charset="-122"/>
                <a:cs typeface="Dela Gothic One" pitchFamily="34" charset="-120"/>
              </a:rPr>
              <a:t>1</a:t>
            </a:r>
            <a:endParaRPr lang="en-US" sz="2050" dirty="0"/>
          </a:p>
        </p:txBody>
      </p:sp>
      <p:sp>
        <p:nvSpPr>
          <p:cNvPr id="9" name="Text 6"/>
          <p:cNvSpPr/>
          <p:nvPr/>
        </p:nvSpPr>
        <p:spPr>
          <a:xfrm>
            <a:off x="3772138" y="4249936"/>
            <a:ext cx="2621875" cy="275392"/>
          </a:xfrm>
          <a:prstGeom prst="rect">
            <a:avLst/>
          </a:prstGeom>
          <a:noFill/>
          <a:ln/>
        </p:spPr>
        <p:txBody>
          <a:bodyPr wrap="none" lIns="0" tIns="0" rIns="0" bIns="0" rtlCol="0" anchor="t"/>
          <a:lstStyle/>
          <a:p>
            <a:pPr marL="0" indent="0" algn="r">
              <a:lnSpc>
                <a:spcPts val="2150"/>
              </a:lnSpc>
              <a:buNone/>
            </a:pPr>
            <a:r>
              <a:rPr lang="en-US" sz="1700" dirty="0">
                <a:solidFill>
                  <a:srgbClr val="FFE5E5"/>
                </a:solidFill>
                <a:latin typeface="Dela Gothic One" pitchFamily="34" charset="0"/>
                <a:ea typeface="Dela Gothic One" pitchFamily="34" charset="-122"/>
                <a:cs typeface="Dela Gothic One" pitchFamily="34" charset="-120"/>
              </a:rPr>
              <a:t>Data Preprocessing</a:t>
            </a:r>
            <a:endParaRPr lang="en-US" sz="1700" dirty="0"/>
          </a:p>
        </p:txBody>
      </p:sp>
      <p:sp>
        <p:nvSpPr>
          <p:cNvPr id="10" name="Text 7"/>
          <p:cNvSpPr/>
          <p:nvPr/>
        </p:nvSpPr>
        <p:spPr>
          <a:xfrm>
            <a:off x="586145" y="4625816"/>
            <a:ext cx="5807869" cy="536019"/>
          </a:xfrm>
          <a:prstGeom prst="rect">
            <a:avLst/>
          </a:prstGeom>
          <a:noFill/>
          <a:ln/>
        </p:spPr>
        <p:txBody>
          <a:bodyPr wrap="square" lIns="0" tIns="0" rIns="0" bIns="0" rtlCol="0" anchor="t"/>
          <a:lstStyle/>
          <a:p>
            <a:pPr marL="0" indent="0" algn="r">
              <a:lnSpc>
                <a:spcPts val="2100"/>
              </a:lnSpc>
              <a:buNone/>
            </a:pPr>
            <a:r>
              <a:rPr lang="en-US" sz="1300" dirty="0">
                <a:solidFill>
                  <a:srgbClr val="FFE5E5"/>
                </a:solidFill>
                <a:latin typeface="DM Sans" pitchFamily="34" charset="0"/>
                <a:ea typeface="DM Sans" pitchFamily="34" charset="-122"/>
                <a:cs typeface="DM Sans" pitchFamily="34" charset="-120"/>
              </a:rPr>
              <a:t>Image resizing, augmentation, and splitting into training, validation, and test sets.</a:t>
            </a:r>
            <a:endParaRPr lang="en-US" sz="1300" dirty="0"/>
          </a:p>
        </p:txBody>
      </p:sp>
      <p:sp>
        <p:nvSpPr>
          <p:cNvPr id="11" name="Shape 8"/>
          <p:cNvSpPr/>
          <p:nvPr/>
        </p:nvSpPr>
        <p:spPr>
          <a:xfrm>
            <a:off x="7480756" y="5285184"/>
            <a:ext cx="586145" cy="22860"/>
          </a:xfrm>
          <a:prstGeom prst="roundRect">
            <a:avLst>
              <a:gd name="adj" fmla="val 307746"/>
            </a:avLst>
          </a:prstGeom>
          <a:solidFill>
            <a:srgbClr val="8D2424"/>
          </a:solidFill>
          <a:ln/>
        </p:spPr>
      </p:sp>
      <p:sp>
        <p:nvSpPr>
          <p:cNvPr id="12" name="Shape 9"/>
          <p:cNvSpPr/>
          <p:nvPr/>
        </p:nvSpPr>
        <p:spPr>
          <a:xfrm>
            <a:off x="7126784" y="5108258"/>
            <a:ext cx="376833" cy="376833"/>
          </a:xfrm>
          <a:prstGeom prst="roundRect">
            <a:avLst>
              <a:gd name="adj" fmla="val 18669"/>
            </a:avLst>
          </a:prstGeom>
          <a:solidFill>
            <a:srgbClr val="740B0B"/>
          </a:solidFill>
          <a:ln w="7620">
            <a:solidFill>
              <a:srgbClr val="8D2424"/>
            </a:solidFill>
            <a:prstDash val="solid"/>
          </a:ln>
        </p:spPr>
      </p:sp>
      <p:sp>
        <p:nvSpPr>
          <p:cNvPr id="13" name="Text 10"/>
          <p:cNvSpPr/>
          <p:nvPr/>
        </p:nvSpPr>
        <p:spPr>
          <a:xfrm>
            <a:off x="7204770" y="5164455"/>
            <a:ext cx="220742" cy="264438"/>
          </a:xfrm>
          <a:prstGeom prst="rect">
            <a:avLst/>
          </a:prstGeom>
          <a:noFill/>
          <a:ln/>
        </p:spPr>
        <p:txBody>
          <a:bodyPr wrap="none" lIns="0" tIns="0" rIns="0" bIns="0" rtlCol="0" anchor="t"/>
          <a:lstStyle/>
          <a:p>
            <a:pPr marL="0" indent="0" algn="ctr">
              <a:lnSpc>
                <a:spcPts val="2050"/>
              </a:lnSpc>
              <a:buNone/>
            </a:pPr>
            <a:r>
              <a:rPr lang="en-US" sz="2050" dirty="0">
                <a:solidFill>
                  <a:srgbClr val="FFE5E5"/>
                </a:solidFill>
                <a:latin typeface="Dela Gothic One" pitchFamily="34" charset="0"/>
                <a:ea typeface="Dela Gothic One" pitchFamily="34" charset="-122"/>
                <a:cs typeface="Dela Gothic One" pitchFamily="34" charset="-120"/>
              </a:rPr>
              <a:t>2</a:t>
            </a:r>
            <a:endParaRPr lang="en-US" sz="2050" dirty="0"/>
          </a:p>
        </p:txBody>
      </p:sp>
      <p:sp>
        <p:nvSpPr>
          <p:cNvPr id="14" name="Text 11"/>
          <p:cNvSpPr/>
          <p:nvPr/>
        </p:nvSpPr>
        <p:spPr>
          <a:xfrm>
            <a:off x="8236387" y="5087303"/>
            <a:ext cx="2526268" cy="275392"/>
          </a:xfrm>
          <a:prstGeom prst="rect">
            <a:avLst/>
          </a:prstGeom>
          <a:noFill/>
          <a:ln/>
        </p:spPr>
        <p:txBody>
          <a:bodyPr wrap="none" lIns="0" tIns="0" rIns="0" bIns="0" rtlCol="0" anchor="t"/>
          <a:lstStyle/>
          <a:p>
            <a:pPr marL="0" indent="0" algn="l">
              <a:lnSpc>
                <a:spcPts val="2150"/>
              </a:lnSpc>
              <a:buNone/>
            </a:pPr>
            <a:r>
              <a:rPr lang="en-US" sz="1700" dirty="0">
                <a:solidFill>
                  <a:srgbClr val="FFE5E5"/>
                </a:solidFill>
                <a:latin typeface="Dela Gothic One" pitchFamily="34" charset="0"/>
                <a:ea typeface="Dela Gothic One" pitchFamily="34" charset="-122"/>
                <a:cs typeface="Dela Gothic One" pitchFamily="34" charset="-120"/>
              </a:rPr>
              <a:t>Model Architecture</a:t>
            </a:r>
            <a:endParaRPr lang="en-US" sz="1700" dirty="0"/>
          </a:p>
        </p:txBody>
      </p:sp>
      <p:sp>
        <p:nvSpPr>
          <p:cNvPr id="15" name="Text 12"/>
          <p:cNvSpPr/>
          <p:nvPr/>
        </p:nvSpPr>
        <p:spPr>
          <a:xfrm>
            <a:off x="8236387" y="5463183"/>
            <a:ext cx="5807869" cy="536019"/>
          </a:xfrm>
          <a:prstGeom prst="rect">
            <a:avLst/>
          </a:prstGeom>
          <a:noFill/>
          <a:ln/>
        </p:spPr>
        <p:txBody>
          <a:bodyPr wrap="square" lIns="0" tIns="0" rIns="0" bIns="0" rtlCol="0" anchor="t"/>
          <a:lstStyle/>
          <a:p>
            <a:pPr marL="0" indent="0" algn="l">
              <a:lnSpc>
                <a:spcPts val="2100"/>
              </a:lnSpc>
              <a:buNone/>
            </a:pPr>
            <a:r>
              <a:rPr lang="en-US" sz="1300" dirty="0">
                <a:solidFill>
                  <a:srgbClr val="FFE5E5"/>
                </a:solidFill>
                <a:latin typeface="DM Sans" pitchFamily="34" charset="0"/>
                <a:ea typeface="DM Sans" pitchFamily="34" charset="-122"/>
                <a:cs typeface="DM Sans" pitchFamily="34" charset="-120"/>
              </a:rPr>
              <a:t>Utilization of a pretrained VGG16 network, fine-tuned for 7-class classification, with custom dense layers and softmax activation.</a:t>
            </a:r>
            <a:endParaRPr lang="en-US" sz="1300" dirty="0"/>
          </a:p>
        </p:txBody>
      </p:sp>
      <p:sp>
        <p:nvSpPr>
          <p:cNvPr id="16" name="Shape 13"/>
          <p:cNvSpPr/>
          <p:nvPr/>
        </p:nvSpPr>
        <p:spPr>
          <a:xfrm>
            <a:off x="6563499" y="6038850"/>
            <a:ext cx="586145" cy="22860"/>
          </a:xfrm>
          <a:prstGeom prst="roundRect">
            <a:avLst>
              <a:gd name="adj" fmla="val 307746"/>
            </a:avLst>
          </a:prstGeom>
          <a:solidFill>
            <a:srgbClr val="8D2424"/>
          </a:solidFill>
          <a:ln/>
        </p:spPr>
      </p:sp>
      <p:sp>
        <p:nvSpPr>
          <p:cNvPr id="17" name="Shape 14"/>
          <p:cNvSpPr/>
          <p:nvPr/>
        </p:nvSpPr>
        <p:spPr>
          <a:xfrm>
            <a:off x="7126784" y="5861923"/>
            <a:ext cx="376833" cy="376833"/>
          </a:xfrm>
          <a:prstGeom prst="roundRect">
            <a:avLst>
              <a:gd name="adj" fmla="val 18669"/>
            </a:avLst>
          </a:prstGeom>
          <a:solidFill>
            <a:srgbClr val="740B0B"/>
          </a:solidFill>
          <a:ln w="7620">
            <a:solidFill>
              <a:srgbClr val="8D2424"/>
            </a:solidFill>
            <a:prstDash val="solid"/>
          </a:ln>
        </p:spPr>
      </p:sp>
      <p:sp>
        <p:nvSpPr>
          <p:cNvPr id="18" name="Text 15"/>
          <p:cNvSpPr/>
          <p:nvPr/>
        </p:nvSpPr>
        <p:spPr>
          <a:xfrm>
            <a:off x="7198697" y="5918121"/>
            <a:ext cx="232886" cy="264438"/>
          </a:xfrm>
          <a:prstGeom prst="rect">
            <a:avLst/>
          </a:prstGeom>
          <a:noFill/>
          <a:ln/>
        </p:spPr>
        <p:txBody>
          <a:bodyPr wrap="none" lIns="0" tIns="0" rIns="0" bIns="0" rtlCol="0" anchor="t"/>
          <a:lstStyle/>
          <a:p>
            <a:pPr marL="0" indent="0" algn="ctr">
              <a:lnSpc>
                <a:spcPts val="2050"/>
              </a:lnSpc>
              <a:buNone/>
            </a:pPr>
            <a:r>
              <a:rPr lang="en-US" sz="2050" dirty="0">
                <a:solidFill>
                  <a:srgbClr val="FFE5E5"/>
                </a:solidFill>
                <a:latin typeface="Dela Gothic One" pitchFamily="34" charset="0"/>
                <a:ea typeface="Dela Gothic One" pitchFamily="34" charset="-122"/>
                <a:cs typeface="Dela Gothic One" pitchFamily="34" charset="-120"/>
              </a:rPr>
              <a:t>3</a:t>
            </a:r>
            <a:endParaRPr lang="en-US" sz="2050" dirty="0"/>
          </a:p>
        </p:txBody>
      </p:sp>
      <p:sp>
        <p:nvSpPr>
          <p:cNvPr id="19" name="Text 16"/>
          <p:cNvSpPr/>
          <p:nvPr/>
        </p:nvSpPr>
        <p:spPr>
          <a:xfrm>
            <a:off x="4190048" y="5840968"/>
            <a:ext cx="2203966" cy="275392"/>
          </a:xfrm>
          <a:prstGeom prst="rect">
            <a:avLst/>
          </a:prstGeom>
          <a:noFill/>
          <a:ln/>
        </p:spPr>
        <p:txBody>
          <a:bodyPr wrap="none" lIns="0" tIns="0" rIns="0" bIns="0" rtlCol="0" anchor="t"/>
          <a:lstStyle/>
          <a:p>
            <a:pPr marL="0" indent="0" algn="r">
              <a:lnSpc>
                <a:spcPts val="2150"/>
              </a:lnSpc>
              <a:buNone/>
            </a:pPr>
            <a:r>
              <a:rPr lang="en-US" sz="1700" dirty="0">
                <a:solidFill>
                  <a:srgbClr val="FFE5E5"/>
                </a:solidFill>
                <a:latin typeface="Dela Gothic One" pitchFamily="34" charset="0"/>
                <a:ea typeface="Dela Gothic One" pitchFamily="34" charset="-122"/>
                <a:cs typeface="Dela Gothic One" pitchFamily="34" charset="-120"/>
              </a:rPr>
              <a:t>Evaluation</a:t>
            </a:r>
            <a:endParaRPr lang="en-US" sz="1700" dirty="0"/>
          </a:p>
        </p:txBody>
      </p:sp>
      <p:sp>
        <p:nvSpPr>
          <p:cNvPr id="20" name="Text 17"/>
          <p:cNvSpPr/>
          <p:nvPr/>
        </p:nvSpPr>
        <p:spPr>
          <a:xfrm>
            <a:off x="586145" y="6216848"/>
            <a:ext cx="5807869" cy="536019"/>
          </a:xfrm>
          <a:prstGeom prst="rect">
            <a:avLst/>
          </a:prstGeom>
          <a:noFill/>
          <a:ln/>
        </p:spPr>
        <p:txBody>
          <a:bodyPr wrap="square" lIns="0" tIns="0" rIns="0" bIns="0" rtlCol="0" anchor="t"/>
          <a:lstStyle/>
          <a:p>
            <a:pPr marL="0" indent="0" algn="r">
              <a:lnSpc>
                <a:spcPts val="2100"/>
              </a:lnSpc>
              <a:buNone/>
            </a:pPr>
            <a:r>
              <a:rPr lang="en-US" sz="1300" dirty="0">
                <a:solidFill>
                  <a:srgbClr val="FFE5E5"/>
                </a:solidFill>
                <a:latin typeface="DM Sans" pitchFamily="34" charset="0"/>
                <a:ea typeface="DM Sans" pitchFamily="34" charset="-122"/>
                <a:cs typeface="DM Sans" pitchFamily="34" charset="-120"/>
              </a:rPr>
              <a:t>Assessment of model performance using metrics such as accuracy, confusion matrix, and loss.</a:t>
            </a:r>
            <a:endParaRPr lang="en-US" sz="1300" dirty="0"/>
          </a:p>
        </p:txBody>
      </p:sp>
      <p:sp>
        <p:nvSpPr>
          <p:cNvPr id="21" name="Shape 18"/>
          <p:cNvSpPr/>
          <p:nvPr/>
        </p:nvSpPr>
        <p:spPr>
          <a:xfrm>
            <a:off x="7480756" y="6792516"/>
            <a:ext cx="586145" cy="22860"/>
          </a:xfrm>
          <a:prstGeom prst="roundRect">
            <a:avLst>
              <a:gd name="adj" fmla="val 307746"/>
            </a:avLst>
          </a:prstGeom>
          <a:solidFill>
            <a:srgbClr val="8D2424"/>
          </a:solidFill>
          <a:ln/>
        </p:spPr>
      </p:sp>
      <p:sp>
        <p:nvSpPr>
          <p:cNvPr id="22" name="Shape 19"/>
          <p:cNvSpPr/>
          <p:nvPr/>
        </p:nvSpPr>
        <p:spPr>
          <a:xfrm>
            <a:off x="7126784" y="6615589"/>
            <a:ext cx="376833" cy="376833"/>
          </a:xfrm>
          <a:prstGeom prst="roundRect">
            <a:avLst>
              <a:gd name="adj" fmla="val 18669"/>
            </a:avLst>
          </a:prstGeom>
          <a:solidFill>
            <a:srgbClr val="740B0B"/>
          </a:solidFill>
          <a:ln w="7620">
            <a:solidFill>
              <a:srgbClr val="8D2424"/>
            </a:solidFill>
            <a:prstDash val="solid"/>
          </a:ln>
        </p:spPr>
      </p:sp>
      <p:sp>
        <p:nvSpPr>
          <p:cNvPr id="23" name="Text 20"/>
          <p:cNvSpPr/>
          <p:nvPr/>
        </p:nvSpPr>
        <p:spPr>
          <a:xfrm>
            <a:off x="7192982" y="6671786"/>
            <a:ext cx="244316" cy="264438"/>
          </a:xfrm>
          <a:prstGeom prst="rect">
            <a:avLst/>
          </a:prstGeom>
          <a:noFill/>
          <a:ln/>
        </p:spPr>
        <p:txBody>
          <a:bodyPr wrap="none" lIns="0" tIns="0" rIns="0" bIns="0" rtlCol="0" anchor="t"/>
          <a:lstStyle/>
          <a:p>
            <a:pPr marL="0" indent="0" algn="ctr">
              <a:lnSpc>
                <a:spcPts val="2050"/>
              </a:lnSpc>
              <a:buNone/>
            </a:pPr>
            <a:r>
              <a:rPr lang="en-US" sz="2050" dirty="0">
                <a:solidFill>
                  <a:srgbClr val="FFE5E5"/>
                </a:solidFill>
                <a:latin typeface="Dela Gothic One" pitchFamily="34" charset="0"/>
                <a:ea typeface="Dela Gothic One" pitchFamily="34" charset="-122"/>
                <a:cs typeface="Dela Gothic One" pitchFamily="34" charset="-120"/>
              </a:rPr>
              <a:t>4</a:t>
            </a:r>
            <a:endParaRPr lang="en-US" sz="2050" dirty="0"/>
          </a:p>
        </p:txBody>
      </p:sp>
      <p:sp>
        <p:nvSpPr>
          <p:cNvPr id="24" name="Text 21"/>
          <p:cNvSpPr/>
          <p:nvPr/>
        </p:nvSpPr>
        <p:spPr>
          <a:xfrm>
            <a:off x="8236387" y="6594634"/>
            <a:ext cx="2203966" cy="275392"/>
          </a:xfrm>
          <a:prstGeom prst="rect">
            <a:avLst/>
          </a:prstGeom>
          <a:noFill/>
          <a:ln/>
        </p:spPr>
        <p:txBody>
          <a:bodyPr wrap="none" lIns="0" tIns="0" rIns="0" bIns="0" rtlCol="0" anchor="t"/>
          <a:lstStyle/>
          <a:p>
            <a:pPr marL="0" indent="0" algn="l">
              <a:lnSpc>
                <a:spcPts val="2150"/>
              </a:lnSpc>
              <a:buNone/>
            </a:pPr>
            <a:r>
              <a:rPr lang="en-US" sz="1700" dirty="0">
                <a:solidFill>
                  <a:srgbClr val="FFE5E5"/>
                </a:solidFill>
                <a:latin typeface="Dela Gothic One" pitchFamily="34" charset="0"/>
                <a:ea typeface="Dela Gothic One" pitchFamily="34" charset="-122"/>
                <a:cs typeface="Dela Gothic One" pitchFamily="34" charset="-120"/>
              </a:rPr>
              <a:t>Deployment</a:t>
            </a:r>
            <a:endParaRPr lang="en-US" sz="1700" dirty="0"/>
          </a:p>
        </p:txBody>
      </p:sp>
      <p:sp>
        <p:nvSpPr>
          <p:cNvPr id="25" name="Text 22"/>
          <p:cNvSpPr/>
          <p:nvPr/>
        </p:nvSpPr>
        <p:spPr>
          <a:xfrm>
            <a:off x="8236387" y="6970514"/>
            <a:ext cx="5807869" cy="536019"/>
          </a:xfrm>
          <a:prstGeom prst="rect">
            <a:avLst/>
          </a:prstGeom>
          <a:noFill/>
          <a:ln/>
        </p:spPr>
        <p:txBody>
          <a:bodyPr wrap="square" lIns="0" tIns="0" rIns="0" bIns="0" rtlCol="0" anchor="t"/>
          <a:lstStyle/>
          <a:p>
            <a:pPr marL="0" indent="0" algn="l">
              <a:lnSpc>
                <a:spcPts val="2100"/>
              </a:lnSpc>
              <a:buNone/>
            </a:pPr>
            <a:r>
              <a:rPr lang="en-US" sz="1300" dirty="0">
                <a:solidFill>
                  <a:srgbClr val="FFE5E5"/>
                </a:solidFill>
                <a:latin typeface="DM Sans" pitchFamily="34" charset="0"/>
                <a:ea typeface="DM Sans" pitchFamily="34" charset="-122"/>
                <a:cs typeface="DM Sans" pitchFamily="34" charset="-120"/>
              </a:rPr>
              <a:t>Implementation of a Flask-based web application for real-time blood group predictions.</a:t>
            </a:r>
            <a:endParaRPr lang="en-US" sz="1300" dirty="0"/>
          </a:p>
        </p:txBody>
      </p:sp>
    </p:spTree>
    <p:extLst>
      <p:ext uri="{BB962C8B-B14F-4D97-AF65-F5344CB8AC3E}">
        <p14:creationId xmlns:p14="http://schemas.microsoft.com/office/powerpoint/2010/main" val="587041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94578" cy="9627037"/>
          </a:xfrm>
          <a:prstGeom prst="rect">
            <a:avLst/>
          </a:prstGeom>
        </p:spPr>
      </p:pic>
      <p:sp>
        <p:nvSpPr>
          <p:cNvPr id="3" name="Text 0"/>
          <p:cNvSpPr/>
          <p:nvPr/>
        </p:nvSpPr>
        <p:spPr>
          <a:xfrm>
            <a:off x="5456202" y="235050"/>
            <a:ext cx="3252311" cy="406598"/>
          </a:xfrm>
          <a:prstGeom prst="rect">
            <a:avLst/>
          </a:prstGeom>
          <a:noFill/>
          <a:ln/>
        </p:spPr>
        <p:txBody>
          <a:bodyPr wrap="none" lIns="0" tIns="0" rIns="0" bIns="0" rtlCol="0" anchor="t"/>
          <a:lstStyle/>
          <a:p>
            <a:pPr marL="0" indent="0">
              <a:lnSpc>
                <a:spcPts val="3200"/>
              </a:lnSpc>
              <a:buNone/>
            </a:pPr>
            <a:r>
              <a:rPr lang="en-US" sz="2550" dirty="0">
                <a:solidFill>
                  <a:srgbClr val="FAEBEB"/>
                </a:solidFill>
                <a:latin typeface="Dela Gothic One" pitchFamily="34" charset="0"/>
                <a:ea typeface="Dela Gothic One" pitchFamily="34" charset="-122"/>
                <a:cs typeface="Dela Gothic One" pitchFamily="34" charset="-120"/>
              </a:rPr>
              <a:t>Dataset</a:t>
            </a:r>
            <a:endParaRPr lang="en-US" sz="2550" dirty="0"/>
          </a:p>
        </p:txBody>
      </p:sp>
      <p:sp>
        <p:nvSpPr>
          <p:cNvPr id="4" name="Text 1"/>
          <p:cNvSpPr/>
          <p:nvPr/>
        </p:nvSpPr>
        <p:spPr>
          <a:xfrm>
            <a:off x="5456202" y="784675"/>
            <a:ext cx="8734024" cy="592931"/>
          </a:xfrm>
          <a:prstGeom prst="rect">
            <a:avLst/>
          </a:prstGeom>
          <a:noFill/>
          <a:ln/>
        </p:spPr>
        <p:txBody>
          <a:bodyPr wrap="square" lIns="0" tIns="0" rIns="0" bIns="0" rtlCol="0" anchor="t"/>
          <a:lstStyle/>
          <a:p>
            <a:pPr marL="0" indent="0">
              <a:lnSpc>
                <a:spcPts val="1550"/>
              </a:lnSpc>
              <a:buNone/>
            </a:pPr>
            <a:r>
              <a:rPr lang="en-US" sz="1400" dirty="0">
                <a:solidFill>
                  <a:srgbClr val="FFE5E5"/>
                </a:solidFill>
                <a:latin typeface="DM Sans" pitchFamily="34" charset="0"/>
                <a:ea typeface="DM Sans" pitchFamily="34" charset="-122"/>
                <a:cs typeface="DM Sans" pitchFamily="34" charset="-120"/>
              </a:rPr>
              <a:t>A comprehensive dataset is essential for training a robust Machine learning model. Our dataset consists of spectroscopic images representing blood samples from different blood groups, categorized into training, validation, and test sets. Preprocessing techniques are applied to ensure consistency and improve the model's performance.</a:t>
            </a:r>
            <a:endParaRPr lang="en-US" sz="1400" dirty="0"/>
          </a:p>
        </p:txBody>
      </p:sp>
      <p:sp>
        <p:nvSpPr>
          <p:cNvPr id="5" name="Shape 2"/>
          <p:cNvSpPr/>
          <p:nvPr/>
        </p:nvSpPr>
        <p:spPr>
          <a:xfrm>
            <a:off x="5918954" y="1663660"/>
            <a:ext cx="8278892" cy="1820228"/>
          </a:xfrm>
          <a:prstGeom prst="roundRect">
            <a:avLst>
              <a:gd name="adj" fmla="val 2852"/>
            </a:avLst>
          </a:prstGeom>
          <a:noFill/>
          <a:ln w="7620">
            <a:solidFill>
              <a:srgbClr val="FFFFFF">
                <a:alpha val="24000"/>
              </a:srgbClr>
            </a:solidFill>
            <a:prstDash val="solid"/>
          </a:ln>
        </p:spPr>
      </p:sp>
      <p:sp>
        <p:nvSpPr>
          <p:cNvPr id="6" name="Shape 3"/>
          <p:cNvSpPr/>
          <p:nvPr/>
        </p:nvSpPr>
        <p:spPr>
          <a:xfrm>
            <a:off x="5926574" y="1671280"/>
            <a:ext cx="8263652" cy="360998"/>
          </a:xfrm>
          <a:prstGeom prst="rect">
            <a:avLst/>
          </a:prstGeom>
          <a:solidFill>
            <a:srgbClr val="FFFFFF">
              <a:alpha val="4000"/>
            </a:srgbClr>
          </a:solidFill>
          <a:ln/>
        </p:spPr>
      </p:sp>
      <p:sp>
        <p:nvSpPr>
          <p:cNvPr id="7" name="Text 4"/>
          <p:cNvSpPr/>
          <p:nvPr/>
        </p:nvSpPr>
        <p:spPr>
          <a:xfrm>
            <a:off x="6050161" y="1752957"/>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ea typeface="DM Sans" pitchFamily="34" charset="-122"/>
                <a:cs typeface="DM Sans" pitchFamily="34" charset="-120"/>
              </a:rPr>
              <a:t>Dataset Overview</a:t>
            </a:r>
            <a:endParaRPr lang="en-US" sz="950" dirty="0"/>
          </a:p>
        </p:txBody>
      </p:sp>
      <p:sp>
        <p:nvSpPr>
          <p:cNvPr id="8" name="Text 5"/>
          <p:cNvSpPr/>
          <p:nvPr/>
        </p:nvSpPr>
        <p:spPr>
          <a:xfrm>
            <a:off x="10185797" y="1752957"/>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ea typeface="DM Sans" pitchFamily="34" charset="-122"/>
                <a:cs typeface="DM Sans" pitchFamily="34" charset="-120"/>
              </a:rPr>
              <a:t>Details</a:t>
            </a:r>
            <a:endParaRPr lang="en-US" sz="950" dirty="0"/>
          </a:p>
        </p:txBody>
      </p:sp>
      <p:sp>
        <p:nvSpPr>
          <p:cNvPr id="9" name="Shape 6"/>
          <p:cNvSpPr/>
          <p:nvPr/>
        </p:nvSpPr>
        <p:spPr>
          <a:xfrm>
            <a:off x="5926574" y="2032278"/>
            <a:ext cx="8263652" cy="442674"/>
          </a:xfrm>
          <a:prstGeom prst="rect">
            <a:avLst/>
          </a:prstGeom>
          <a:solidFill>
            <a:srgbClr val="000000">
              <a:alpha val="4000"/>
            </a:srgbClr>
          </a:solidFill>
          <a:ln/>
        </p:spPr>
      </p:sp>
      <p:sp>
        <p:nvSpPr>
          <p:cNvPr id="10" name="Text 7"/>
          <p:cNvSpPr/>
          <p:nvPr/>
        </p:nvSpPr>
        <p:spPr>
          <a:xfrm>
            <a:off x="6050161" y="2113955"/>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ea typeface="DM Sans" pitchFamily="34" charset="-122"/>
                <a:cs typeface="DM Sans" pitchFamily="34" charset="-120"/>
              </a:rPr>
              <a:t>Number of Classes</a:t>
            </a:r>
            <a:endParaRPr lang="en-US" sz="950" dirty="0"/>
          </a:p>
        </p:txBody>
      </p:sp>
      <p:sp>
        <p:nvSpPr>
          <p:cNvPr id="11" name="Text 8"/>
          <p:cNvSpPr/>
          <p:nvPr/>
        </p:nvSpPr>
        <p:spPr>
          <a:xfrm>
            <a:off x="10185797" y="2113955"/>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ea typeface="DM Sans" pitchFamily="34" charset="-122"/>
                <a:cs typeface="DM Sans" pitchFamily="34" charset="-120"/>
              </a:rPr>
              <a:t>7 (A+, A-, AB+, AB-, B+, B-, O+)</a:t>
            </a:r>
            <a:endParaRPr lang="en-US" sz="950" dirty="0"/>
          </a:p>
        </p:txBody>
      </p:sp>
      <p:sp>
        <p:nvSpPr>
          <p:cNvPr id="12" name="Shape 9"/>
          <p:cNvSpPr/>
          <p:nvPr/>
        </p:nvSpPr>
        <p:spPr>
          <a:xfrm>
            <a:off x="5926574" y="2393275"/>
            <a:ext cx="8263652" cy="360998"/>
          </a:xfrm>
          <a:prstGeom prst="rect">
            <a:avLst/>
          </a:prstGeom>
          <a:solidFill>
            <a:srgbClr val="FFFFFF">
              <a:alpha val="4000"/>
            </a:srgbClr>
          </a:solidFill>
          <a:ln/>
        </p:spPr>
        <p:txBody>
          <a:bodyPr/>
          <a:lstStyle/>
          <a:p>
            <a:endParaRPr lang="en-IN" dirty="0"/>
          </a:p>
        </p:txBody>
      </p:sp>
      <p:sp>
        <p:nvSpPr>
          <p:cNvPr id="13" name="Text 10"/>
          <p:cNvSpPr/>
          <p:nvPr/>
        </p:nvSpPr>
        <p:spPr>
          <a:xfrm>
            <a:off x="6050161" y="2474952"/>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ea typeface="DM Sans" pitchFamily="34" charset="-122"/>
                <a:cs typeface="DM Sans" pitchFamily="34" charset="-120"/>
              </a:rPr>
              <a:t>Training Samples</a:t>
            </a:r>
            <a:endParaRPr lang="en-US" sz="950" dirty="0"/>
          </a:p>
        </p:txBody>
      </p:sp>
      <p:sp>
        <p:nvSpPr>
          <p:cNvPr id="14" name="Text 11"/>
          <p:cNvSpPr/>
          <p:nvPr/>
        </p:nvSpPr>
        <p:spPr>
          <a:xfrm>
            <a:off x="10185797" y="2474952"/>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rPr>
              <a:t>46</a:t>
            </a:r>
            <a:endParaRPr lang="en-US" sz="950" dirty="0"/>
          </a:p>
        </p:txBody>
      </p:sp>
      <p:sp>
        <p:nvSpPr>
          <p:cNvPr id="15" name="Shape 12"/>
          <p:cNvSpPr/>
          <p:nvPr/>
        </p:nvSpPr>
        <p:spPr>
          <a:xfrm>
            <a:off x="5926574" y="2754273"/>
            <a:ext cx="8263652" cy="360998"/>
          </a:xfrm>
          <a:prstGeom prst="rect">
            <a:avLst/>
          </a:prstGeom>
          <a:solidFill>
            <a:srgbClr val="000000">
              <a:alpha val="4000"/>
            </a:srgbClr>
          </a:solidFill>
          <a:ln/>
        </p:spPr>
      </p:sp>
      <p:sp>
        <p:nvSpPr>
          <p:cNvPr id="16" name="Text 13"/>
          <p:cNvSpPr/>
          <p:nvPr/>
        </p:nvSpPr>
        <p:spPr>
          <a:xfrm>
            <a:off x="6050161" y="2835950"/>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ea typeface="DM Sans" pitchFamily="34" charset="-122"/>
                <a:cs typeface="DM Sans" pitchFamily="34" charset="-120"/>
              </a:rPr>
              <a:t>Validation Samples</a:t>
            </a:r>
            <a:endParaRPr lang="en-US" sz="950" dirty="0"/>
          </a:p>
        </p:txBody>
      </p:sp>
      <p:sp>
        <p:nvSpPr>
          <p:cNvPr id="17" name="Text 14"/>
          <p:cNvSpPr/>
          <p:nvPr/>
        </p:nvSpPr>
        <p:spPr>
          <a:xfrm>
            <a:off x="10185797" y="2835950"/>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rPr>
              <a:t>14</a:t>
            </a:r>
            <a:endParaRPr lang="en-US" sz="950" dirty="0"/>
          </a:p>
        </p:txBody>
      </p:sp>
      <p:sp>
        <p:nvSpPr>
          <p:cNvPr id="18" name="Shape 15"/>
          <p:cNvSpPr/>
          <p:nvPr/>
        </p:nvSpPr>
        <p:spPr>
          <a:xfrm>
            <a:off x="6050161" y="2968433"/>
            <a:ext cx="8263652" cy="654672"/>
          </a:xfrm>
          <a:prstGeom prst="rect">
            <a:avLst/>
          </a:prstGeom>
          <a:solidFill>
            <a:srgbClr val="FFFFFF">
              <a:alpha val="4000"/>
            </a:srgbClr>
          </a:solidFill>
          <a:ln/>
        </p:spPr>
      </p:sp>
      <p:sp>
        <p:nvSpPr>
          <p:cNvPr id="19" name="Text 16"/>
          <p:cNvSpPr/>
          <p:nvPr/>
        </p:nvSpPr>
        <p:spPr>
          <a:xfrm>
            <a:off x="6050161" y="3196947"/>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ea typeface="DM Sans" pitchFamily="34" charset="-122"/>
                <a:cs typeface="DM Sans" pitchFamily="34" charset="-120"/>
              </a:rPr>
              <a:t>Test Samples</a:t>
            </a:r>
            <a:endParaRPr lang="en-US" sz="950" dirty="0"/>
          </a:p>
        </p:txBody>
      </p:sp>
      <p:sp>
        <p:nvSpPr>
          <p:cNvPr id="20" name="Text 17"/>
          <p:cNvSpPr/>
          <p:nvPr/>
        </p:nvSpPr>
        <p:spPr>
          <a:xfrm>
            <a:off x="10185797" y="3196947"/>
            <a:ext cx="3880842" cy="197644"/>
          </a:xfrm>
          <a:prstGeom prst="rect">
            <a:avLst/>
          </a:prstGeom>
          <a:noFill/>
          <a:ln/>
        </p:spPr>
        <p:txBody>
          <a:bodyPr wrap="none" lIns="0" tIns="0" rIns="0" bIns="0" rtlCol="0" anchor="t"/>
          <a:lstStyle/>
          <a:p>
            <a:pPr marL="0" indent="0">
              <a:lnSpc>
                <a:spcPts val="1550"/>
              </a:lnSpc>
              <a:buNone/>
            </a:pPr>
            <a:r>
              <a:rPr lang="en-US" sz="950" dirty="0">
                <a:solidFill>
                  <a:srgbClr val="FFE5E5"/>
                </a:solidFill>
                <a:latin typeface="DM Sans" pitchFamily="34" charset="0"/>
              </a:rPr>
              <a:t>11</a:t>
            </a:r>
            <a:endParaRPr lang="en-US" sz="950" dirty="0"/>
          </a:p>
        </p:txBody>
      </p:sp>
      <p:pic>
        <p:nvPicPr>
          <p:cNvPr id="21" name="Image 1" descr="preencoded.png"/>
          <p:cNvPicPr>
            <a:picLocks noChangeAspect="1"/>
          </p:cNvPicPr>
          <p:nvPr/>
        </p:nvPicPr>
        <p:blipFill>
          <a:blip r:embed="rId4"/>
          <a:stretch>
            <a:fillRect/>
          </a:stretch>
        </p:blipFill>
        <p:spPr>
          <a:xfrm>
            <a:off x="5918954" y="4357510"/>
            <a:ext cx="8278892" cy="49297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1133713"/>
            <a:ext cx="7194352" cy="712708"/>
          </a:xfrm>
          <a:prstGeom prst="rect">
            <a:avLst/>
          </a:prstGeom>
          <a:noFill/>
          <a:ln/>
        </p:spPr>
        <p:txBody>
          <a:bodyPr wrap="none" lIns="0" tIns="0" rIns="0" bIns="0" rtlCol="0" anchor="t"/>
          <a:lstStyle/>
          <a:p>
            <a:pPr marL="0" indent="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Preprocessing Steps</a:t>
            </a:r>
            <a:endParaRPr lang="en-US" sz="4450" dirty="0"/>
          </a:p>
        </p:txBody>
      </p:sp>
      <p:sp>
        <p:nvSpPr>
          <p:cNvPr id="4" name="Shape 1"/>
          <p:cNvSpPr/>
          <p:nvPr/>
        </p:nvSpPr>
        <p:spPr>
          <a:xfrm>
            <a:off x="6554391" y="2171343"/>
            <a:ext cx="30480" cy="4924544"/>
          </a:xfrm>
          <a:prstGeom prst="roundRect">
            <a:avLst>
              <a:gd name="adj" fmla="val 298550"/>
            </a:avLst>
          </a:prstGeom>
          <a:solidFill>
            <a:srgbClr val="8D2424"/>
          </a:solidFill>
          <a:ln/>
        </p:spPr>
      </p:sp>
      <p:sp>
        <p:nvSpPr>
          <p:cNvPr id="5" name="Shape 2"/>
          <p:cNvSpPr/>
          <p:nvPr/>
        </p:nvSpPr>
        <p:spPr>
          <a:xfrm>
            <a:off x="6782872" y="2643545"/>
            <a:ext cx="758309" cy="30480"/>
          </a:xfrm>
          <a:prstGeom prst="roundRect">
            <a:avLst>
              <a:gd name="adj" fmla="val 298550"/>
            </a:avLst>
          </a:prstGeom>
          <a:solidFill>
            <a:srgbClr val="8D2424"/>
          </a:solidFill>
          <a:ln/>
        </p:spPr>
      </p:sp>
      <p:sp>
        <p:nvSpPr>
          <p:cNvPr id="6" name="Shape 3"/>
          <p:cNvSpPr/>
          <p:nvPr/>
        </p:nvSpPr>
        <p:spPr>
          <a:xfrm>
            <a:off x="6325910" y="2415064"/>
            <a:ext cx="487442" cy="487442"/>
          </a:xfrm>
          <a:prstGeom prst="roundRect">
            <a:avLst>
              <a:gd name="adj" fmla="val 18669"/>
            </a:avLst>
          </a:prstGeom>
          <a:solidFill>
            <a:srgbClr val="740B0B"/>
          </a:solidFill>
          <a:ln w="7620">
            <a:solidFill>
              <a:srgbClr val="8D2424"/>
            </a:solidFill>
            <a:prstDash val="solid"/>
          </a:ln>
        </p:spPr>
      </p:sp>
      <p:sp>
        <p:nvSpPr>
          <p:cNvPr id="7" name="Text 4"/>
          <p:cNvSpPr/>
          <p:nvPr/>
        </p:nvSpPr>
        <p:spPr>
          <a:xfrm>
            <a:off x="6469023" y="2487692"/>
            <a:ext cx="201097" cy="342067"/>
          </a:xfrm>
          <a:prstGeom prst="rect">
            <a:avLst/>
          </a:prstGeom>
          <a:noFill/>
          <a:ln/>
        </p:spPr>
        <p:txBody>
          <a:bodyPr wrap="none" lIns="0" tIns="0" rIns="0" bIns="0" rtlCol="0" anchor="t"/>
          <a:lstStyle/>
          <a:p>
            <a:pPr marL="0" indent="0" algn="ctr">
              <a:lnSpc>
                <a:spcPts val="2650"/>
              </a:lnSpc>
              <a:buNone/>
            </a:pPr>
            <a:r>
              <a:rPr lang="en-US" sz="2650" dirty="0">
                <a:solidFill>
                  <a:srgbClr val="FFE5E5"/>
                </a:solidFill>
                <a:latin typeface="Dela Gothic One" pitchFamily="34" charset="0"/>
                <a:ea typeface="Dela Gothic One" pitchFamily="34" charset="-122"/>
                <a:cs typeface="Dela Gothic One" pitchFamily="34" charset="-120"/>
              </a:rPr>
              <a:t>1</a:t>
            </a:r>
            <a:endParaRPr lang="en-US" sz="2650" dirty="0"/>
          </a:p>
        </p:txBody>
      </p:sp>
      <p:sp>
        <p:nvSpPr>
          <p:cNvPr id="8" name="Text 5"/>
          <p:cNvSpPr/>
          <p:nvPr/>
        </p:nvSpPr>
        <p:spPr>
          <a:xfrm>
            <a:off x="7761208" y="2387918"/>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Normalization</a:t>
            </a:r>
            <a:endParaRPr lang="en-US" sz="2200" dirty="0"/>
          </a:p>
        </p:txBody>
      </p:sp>
      <p:sp>
        <p:nvSpPr>
          <p:cNvPr id="9" name="Text 6"/>
          <p:cNvSpPr/>
          <p:nvPr/>
        </p:nvSpPr>
        <p:spPr>
          <a:xfrm>
            <a:off x="7761208" y="2874050"/>
            <a:ext cx="6110883" cy="69342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Images are normalized to a common scale for consistent processing.</a:t>
            </a:r>
            <a:endParaRPr lang="en-US" sz="1700" dirty="0"/>
          </a:p>
        </p:txBody>
      </p:sp>
      <p:sp>
        <p:nvSpPr>
          <p:cNvPr id="10" name="Shape 7"/>
          <p:cNvSpPr/>
          <p:nvPr/>
        </p:nvSpPr>
        <p:spPr>
          <a:xfrm>
            <a:off x="6782872" y="4472821"/>
            <a:ext cx="758309" cy="30480"/>
          </a:xfrm>
          <a:prstGeom prst="roundRect">
            <a:avLst>
              <a:gd name="adj" fmla="val 298550"/>
            </a:avLst>
          </a:prstGeom>
          <a:solidFill>
            <a:srgbClr val="8D2424"/>
          </a:solidFill>
          <a:ln/>
        </p:spPr>
      </p:sp>
      <p:sp>
        <p:nvSpPr>
          <p:cNvPr id="11" name="Shape 8"/>
          <p:cNvSpPr/>
          <p:nvPr/>
        </p:nvSpPr>
        <p:spPr>
          <a:xfrm>
            <a:off x="6325910" y="4244340"/>
            <a:ext cx="487442" cy="487442"/>
          </a:xfrm>
          <a:prstGeom prst="roundRect">
            <a:avLst>
              <a:gd name="adj" fmla="val 18669"/>
            </a:avLst>
          </a:prstGeom>
          <a:solidFill>
            <a:srgbClr val="740B0B"/>
          </a:solidFill>
          <a:ln w="7620">
            <a:solidFill>
              <a:srgbClr val="8D2424"/>
            </a:solidFill>
            <a:prstDash val="solid"/>
          </a:ln>
        </p:spPr>
      </p:sp>
      <p:sp>
        <p:nvSpPr>
          <p:cNvPr id="12" name="Text 9"/>
          <p:cNvSpPr/>
          <p:nvPr/>
        </p:nvSpPr>
        <p:spPr>
          <a:xfrm>
            <a:off x="6426756" y="4316968"/>
            <a:ext cx="285631" cy="342067"/>
          </a:xfrm>
          <a:prstGeom prst="rect">
            <a:avLst/>
          </a:prstGeom>
          <a:noFill/>
          <a:ln/>
        </p:spPr>
        <p:txBody>
          <a:bodyPr wrap="none" lIns="0" tIns="0" rIns="0" bIns="0" rtlCol="0" anchor="t"/>
          <a:lstStyle/>
          <a:p>
            <a:pPr marL="0" indent="0" algn="ctr">
              <a:lnSpc>
                <a:spcPts val="2650"/>
              </a:lnSpc>
              <a:buNone/>
            </a:pPr>
            <a:r>
              <a:rPr lang="en-US" sz="2650" dirty="0">
                <a:solidFill>
                  <a:srgbClr val="FFE5E5"/>
                </a:solidFill>
                <a:latin typeface="Dela Gothic One" pitchFamily="34" charset="0"/>
                <a:ea typeface="Dela Gothic One" pitchFamily="34" charset="-122"/>
                <a:cs typeface="Dela Gothic One" pitchFamily="34" charset="-120"/>
              </a:rPr>
              <a:t>2</a:t>
            </a:r>
            <a:endParaRPr lang="en-US" sz="2650" dirty="0"/>
          </a:p>
        </p:txBody>
      </p:sp>
      <p:sp>
        <p:nvSpPr>
          <p:cNvPr id="13" name="Text 10"/>
          <p:cNvSpPr/>
          <p:nvPr/>
        </p:nvSpPr>
        <p:spPr>
          <a:xfrm>
            <a:off x="7761208" y="4217194"/>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Resizing</a:t>
            </a:r>
            <a:endParaRPr lang="en-US" sz="2200" dirty="0"/>
          </a:p>
        </p:txBody>
      </p:sp>
      <p:sp>
        <p:nvSpPr>
          <p:cNvPr id="14" name="Text 11"/>
          <p:cNvSpPr/>
          <p:nvPr/>
        </p:nvSpPr>
        <p:spPr>
          <a:xfrm>
            <a:off x="7761208" y="4703326"/>
            <a:ext cx="6110883" cy="346710"/>
          </a:xfrm>
          <a:prstGeom prst="rect">
            <a:avLst/>
          </a:prstGeom>
          <a:noFill/>
          <a:ln/>
        </p:spPr>
        <p:txBody>
          <a:bodyPr wrap="non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Images are resized to a uniform size for model input.</a:t>
            </a:r>
            <a:endParaRPr lang="en-US" sz="1700" dirty="0"/>
          </a:p>
        </p:txBody>
      </p:sp>
      <p:sp>
        <p:nvSpPr>
          <p:cNvPr id="15" name="Shape 12"/>
          <p:cNvSpPr/>
          <p:nvPr/>
        </p:nvSpPr>
        <p:spPr>
          <a:xfrm>
            <a:off x="6782872" y="5955387"/>
            <a:ext cx="758309" cy="30480"/>
          </a:xfrm>
          <a:prstGeom prst="roundRect">
            <a:avLst>
              <a:gd name="adj" fmla="val 298550"/>
            </a:avLst>
          </a:prstGeom>
          <a:solidFill>
            <a:srgbClr val="8D2424"/>
          </a:solidFill>
          <a:ln/>
        </p:spPr>
      </p:sp>
      <p:sp>
        <p:nvSpPr>
          <p:cNvPr id="16" name="Shape 13"/>
          <p:cNvSpPr/>
          <p:nvPr/>
        </p:nvSpPr>
        <p:spPr>
          <a:xfrm>
            <a:off x="6325910" y="5726906"/>
            <a:ext cx="487442" cy="487442"/>
          </a:xfrm>
          <a:prstGeom prst="roundRect">
            <a:avLst>
              <a:gd name="adj" fmla="val 18669"/>
            </a:avLst>
          </a:prstGeom>
          <a:solidFill>
            <a:srgbClr val="740B0B"/>
          </a:solidFill>
          <a:ln w="7620">
            <a:solidFill>
              <a:srgbClr val="8D2424"/>
            </a:solidFill>
            <a:prstDash val="solid"/>
          </a:ln>
        </p:spPr>
      </p:sp>
      <p:sp>
        <p:nvSpPr>
          <p:cNvPr id="17" name="Text 14"/>
          <p:cNvSpPr/>
          <p:nvPr/>
        </p:nvSpPr>
        <p:spPr>
          <a:xfrm>
            <a:off x="6418898" y="5799534"/>
            <a:ext cx="301347" cy="342067"/>
          </a:xfrm>
          <a:prstGeom prst="rect">
            <a:avLst/>
          </a:prstGeom>
          <a:noFill/>
          <a:ln/>
        </p:spPr>
        <p:txBody>
          <a:bodyPr wrap="none" lIns="0" tIns="0" rIns="0" bIns="0" rtlCol="0" anchor="t"/>
          <a:lstStyle/>
          <a:p>
            <a:pPr marL="0" indent="0" algn="ctr">
              <a:lnSpc>
                <a:spcPts val="2650"/>
              </a:lnSpc>
              <a:buNone/>
            </a:pPr>
            <a:r>
              <a:rPr lang="en-US" sz="2650" dirty="0">
                <a:solidFill>
                  <a:srgbClr val="FFE5E5"/>
                </a:solidFill>
                <a:latin typeface="Dela Gothic One" pitchFamily="34" charset="0"/>
                <a:ea typeface="Dela Gothic One" pitchFamily="34" charset="-122"/>
                <a:cs typeface="Dela Gothic One" pitchFamily="34" charset="-120"/>
              </a:rPr>
              <a:t>3</a:t>
            </a:r>
            <a:endParaRPr lang="en-US" sz="2650" dirty="0"/>
          </a:p>
        </p:txBody>
      </p:sp>
      <p:sp>
        <p:nvSpPr>
          <p:cNvPr id="18" name="Text 15"/>
          <p:cNvSpPr/>
          <p:nvPr/>
        </p:nvSpPr>
        <p:spPr>
          <a:xfrm>
            <a:off x="7761208" y="5699760"/>
            <a:ext cx="3287673" cy="356235"/>
          </a:xfrm>
          <a:prstGeom prst="rect">
            <a:avLst/>
          </a:prstGeom>
          <a:noFill/>
          <a:ln/>
        </p:spPr>
        <p:txBody>
          <a:bodyPr wrap="non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Data Augmentation</a:t>
            </a:r>
            <a:endParaRPr lang="en-US" sz="2200" dirty="0"/>
          </a:p>
        </p:txBody>
      </p:sp>
      <p:sp>
        <p:nvSpPr>
          <p:cNvPr id="19" name="Text 16"/>
          <p:cNvSpPr/>
          <p:nvPr/>
        </p:nvSpPr>
        <p:spPr>
          <a:xfrm>
            <a:off x="7761208" y="6185892"/>
            <a:ext cx="6110883" cy="69342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Techniques like rotation and zoom are applied to increase dataset diversity.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08196"/>
          </a:xfrm>
          <a:prstGeom prst="rect">
            <a:avLst/>
          </a:prstGeom>
        </p:spPr>
      </p:pic>
      <p:sp>
        <p:nvSpPr>
          <p:cNvPr id="3" name="Text 0"/>
          <p:cNvSpPr/>
          <p:nvPr/>
        </p:nvSpPr>
        <p:spPr>
          <a:xfrm>
            <a:off x="758309" y="3962757"/>
            <a:ext cx="6538198" cy="712708"/>
          </a:xfrm>
          <a:prstGeom prst="rect">
            <a:avLst/>
          </a:prstGeom>
          <a:noFill/>
          <a:ln/>
        </p:spPr>
        <p:txBody>
          <a:bodyPr wrap="none" lIns="0" tIns="0" rIns="0" bIns="0" rtlCol="0" anchor="t"/>
          <a:lstStyle/>
          <a:p>
            <a:pPr marL="0" indent="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Model Architecture</a:t>
            </a:r>
            <a:endParaRPr lang="en-US" sz="4450" dirty="0"/>
          </a:p>
        </p:txBody>
      </p:sp>
      <p:sp>
        <p:nvSpPr>
          <p:cNvPr id="4" name="Shape 1"/>
          <p:cNvSpPr/>
          <p:nvPr/>
        </p:nvSpPr>
        <p:spPr>
          <a:xfrm>
            <a:off x="758309" y="5000387"/>
            <a:ext cx="6448663" cy="1974652"/>
          </a:xfrm>
          <a:prstGeom prst="roundRect">
            <a:avLst>
              <a:gd name="adj" fmla="val 4608"/>
            </a:avLst>
          </a:prstGeom>
          <a:solidFill>
            <a:srgbClr val="740B0B"/>
          </a:solidFill>
          <a:ln w="7620">
            <a:solidFill>
              <a:srgbClr val="8D2424"/>
            </a:solidFill>
            <a:prstDash val="solid"/>
          </a:ln>
        </p:spPr>
      </p:sp>
      <p:sp>
        <p:nvSpPr>
          <p:cNvPr id="5" name="Text 2"/>
          <p:cNvSpPr/>
          <p:nvPr/>
        </p:nvSpPr>
        <p:spPr>
          <a:xfrm>
            <a:off x="982504" y="5224582"/>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Architecture</a:t>
            </a:r>
            <a:endParaRPr lang="en-US" sz="2200" dirty="0"/>
          </a:p>
        </p:txBody>
      </p:sp>
      <p:sp>
        <p:nvSpPr>
          <p:cNvPr id="6" name="Text 3"/>
          <p:cNvSpPr/>
          <p:nvPr/>
        </p:nvSpPr>
        <p:spPr>
          <a:xfrm>
            <a:off x="982504" y="5710714"/>
            <a:ext cx="6000274" cy="69342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A pretrained VGG16 model is used as the base, with custom layers added.</a:t>
            </a:r>
            <a:endParaRPr lang="en-US" sz="1700" dirty="0"/>
          </a:p>
        </p:txBody>
      </p:sp>
      <p:sp>
        <p:nvSpPr>
          <p:cNvPr id="7" name="Shape 4"/>
          <p:cNvSpPr/>
          <p:nvPr/>
        </p:nvSpPr>
        <p:spPr>
          <a:xfrm>
            <a:off x="7423547" y="5000387"/>
            <a:ext cx="6448663" cy="1974652"/>
          </a:xfrm>
          <a:prstGeom prst="roundRect">
            <a:avLst>
              <a:gd name="adj" fmla="val 4608"/>
            </a:avLst>
          </a:prstGeom>
          <a:solidFill>
            <a:srgbClr val="740B0B"/>
          </a:solidFill>
          <a:ln w="7620">
            <a:solidFill>
              <a:srgbClr val="8D2424"/>
            </a:solidFill>
            <a:prstDash val="solid"/>
          </a:ln>
        </p:spPr>
      </p:sp>
      <p:sp>
        <p:nvSpPr>
          <p:cNvPr id="8" name="Text 5"/>
          <p:cNvSpPr/>
          <p:nvPr/>
        </p:nvSpPr>
        <p:spPr>
          <a:xfrm>
            <a:off x="7647742" y="5224582"/>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Layers</a:t>
            </a:r>
            <a:endParaRPr lang="en-US" sz="2200" dirty="0"/>
          </a:p>
        </p:txBody>
      </p:sp>
      <p:sp>
        <p:nvSpPr>
          <p:cNvPr id="9" name="Text 6"/>
          <p:cNvSpPr/>
          <p:nvPr/>
        </p:nvSpPr>
        <p:spPr>
          <a:xfrm>
            <a:off x="7647742" y="5710714"/>
            <a:ext cx="6000274" cy="1040130"/>
          </a:xfrm>
          <a:prstGeom prst="rect">
            <a:avLst/>
          </a:prstGeom>
          <a:noFill/>
          <a:ln/>
        </p:spPr>
        <p:txBody>
          <a:bodyPr wrap="squar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The model includes a GlobalAveragePooling2D layer, dense layers for classification, and a softmax activation for multi-class output.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309" y="2344817"/>
            <a:ext cx="6250305" cy="712708"/>
          </a:xfrm>
          <a:prstGeom prst="rect">
            <a:avLst/>
          </a:prstGeom>
          <a:noFill/>
          <a:ln/>
        </p:spPr>
        <p:txBody>
          <a:bodyPr wrap="none" lIns="0" tIns="0" rIns="0" bIns="0" rtlCol="0" anchor="t"/>
          <a:lstStyle/>
          <a:p>
            <a:pPr marL="0" indent="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Training the Model</a:t>
            </a:r>
            <a:endParaRPr lang="en-US" sz="4450" dirty="0"/>
          </a:p>
        </p:txBody>
      </p:sp>
      <p:sp>
        <p:nvSpPr>
          <p:cNvPr id="4" name="Shape 1"/>
          <p:cNvSpPr/>
          <p:nvPr/>
        </p:nvSpPr>
        <p:spPr>
          <a:xfrm>
            <a:off x="758309" y="3382447"/>
            <a:ext cx="7627382" cy="2502218"/>
          </a:xfrm>
          <a:prstGeom prst="roundRect">
            <a:avLst>
              <a:gd name="adj" fmla="val 3637"/>
            </a:avLst>
          </a:prstGeom>
          <a:noFill/>
          <a:ln w="7620">
            <a:solidFill>
              <a:srgbClr val="FFFFFF">
                <a:alpha val="24000"/>
              </a:srgbClr>
            </a:solidFill>
            <a:prstDash val="solid"/>
          </a:ln>
        </p:spPr>
      </p:sp>
      <p:sp>
        <p:nvSpPr>
          <p:cNvPr id="5" name="Shape 2"/>
          <p:cNvSpPr/>
          <p:nvPr/>
        </p:nvSpPr>
        <p:spPr>
          <a:xfrm>
            <a:off x="765929" y="3390067"/>
            <a:ext cx="7612142" cy="621744"/>
          </a:xfrm>
          <a:prstGeom prst="rect">
            <a:avLst/>
          </a:prstGeom>
          <a:solidFill>
            <a:srgbClr val="FFFFFF">
              <a:alpha val="4000"/>
            </a:srgbClr>
          </a:solidFill>
          <a:ln/>
        </p:spPr>
      </p:sp>
      <p:sp>
        <p:nvSpPr>
          <p:cNvPr id="6" name="Text 3"/>
          <p:cNvSpPr/>
          <p:nvPr/>
        </p:nvSpPr>
        <p:spPr>
          <a:xfrm>
            <a:off x="982504" y="3527584"/>
            <a:ext cx="3369112" cy="346710"/>
          </a:xfrm>
          <a:prstGeom prst="rect">
            <a:avLst/>
          </a:prstGeom>
          <a:noFill/>
          <a:ln/>
        </p:spPr>
        <p:txBody>
          <a:bodyPr wrap="non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Epochs</a:t>
            </a:r>
            <a:endParaRPr lang="en-US" sz="1700" dirty="0"/>
          </a:p>
        </p:txBody>
      </p:sp>
      <p:sp>
        <p:nvSpPr>
          <p:cNvPr id="7" name="Text 4"/>
          <p:cNvSpPr/>
          <p:nvPr/>
        </p:nvSpPr>
        <p:spPr>
          <a:xfrm>
            <a:off x="4792385" y="3527584"/>
            <a:ext cx="3369112" cy="346710"/>
          </a:xfrm>
          <a:prstGeom prst="rect">
            <a:avLst/>
          </a:prstGeom>
          <a:noFill/>
          <a:ln/>
        </p:spPr>
        <p:txBody>
          <a:bodyPr wrap="none" lIns="0" tIns="0" rIns="0" bIns="0" rtlCol="0" anchor="t"/>
          <a:lstStyle/>
          <a:p>
            <a:pPr marL="0" indent="0">
              <a:lnSpc>
                <a:spcPts val="2700"/>
              </a:lnSpc>
              <a:buNone/>
            </a:pPr>
            <a:r>
              <a:rPr lang="en-US" sz="1700" dirty="0">
                <a:solidFill>
                  <a:srgbClr val="FFE5E5"/>
                </a:solidFill>
                <a:latin typeface="DM Sans" pitchFamily="34" charset="0"/>
              </a:rPr>
              <a:t>25</a:t>
            </a:r>
            <a:endParaRPr lang="en-US" sz="1700" dirty="0"/>
          </a:p>
        </p:txBody>
      </p:sp>
      <p:sp>
        <p:nvSpPr>
          <p:cNvPr id="8" name="Shape 5"/>
          <p:cNvSpPr/>
          <p:nvPr/>
        </p:nvSpPr>
        <p:spPr>
          <a:xfrm>
            <a:off x="765929" y="4011811"/>
            <a:ext cx="7612142" cy="621744"/>
          </a:xfrm>
          <a:prstGeom prst="rect">
            <a:avLst/>
          </a:prstGeom>
          <a:solidFill>
            <a:srgbClr val="000000">
              <a:alpha val="4000"/>
            </a:srgbClr>
          </a:solidFill>
          <a:ln/>
        </p:spPr>
      </p:sp>
      <p:sp>
        <p:nvSpPr>
          <p:cNvPr id="9" name="Text 6"/>
          <p:cNvSpPr/>
          <p:nvPr/>
        </p:nvSpPr>
        <p:spPr>
          <a:xfrm>
            <a:off x="982504" y="4149328"/>
            <a:ext cx="3369112" cy="346710"/>
          </a:xfrm>
          <a:prstGeom prst="rect">
            <a:avLst/>
          </a:prstGeom>
          <a:noFill/>
          <a:ln/>
        </p:spPr>
        <p:txBody>
          <a:bodyPr wrap="non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Batch Size</a:t>
            </a:r>
            <a:endParaRPr lang="en-US" sz="1700" dirty="0"/>
          </a:p>
        </p:txBody>
      </p:sp>
      <p:sp>
        <p:nvSpPr>
          <p:cNvPr id="10" name="Text 7"/>
          <p:cNvSpPr/>
          <p:nvPr/>
        </p:nvSpPr>
        <p:spPr>
          <a:xfrm>
            <a:off x="4792385" y="4149328"/>
            <a:ext cx="3369112" cy="346710"/>
          </a:xfrm>
          <a:prstGeom prst="rect">
            <a:avLst/>
          </a:prstGeom>
          <a:noFill/>
          <a:ln/>
        </p:spPr>
        <p:txBody>
          <a:bodyPr wrap="none" lIns="0" tIns="0" rIns="0" bIns="0" rtlCol="0" anchor="t"/>
          <a:lstStyle/>
          <a:p>
            <a:pPr marL="0" indent="0">
              <a:lnSpc>
                <a:spcPts val="2700"/>
              </a:lnSpc>
              <a:buNone/>
            </a:pPr>
            <a:r>
              <a:rPr lang="en-US" sz="1700">
                <a:solidFill>
                  <a:srgbClr val="FFE5E5"/>
                </a:solidFill>
                <a:latin typeface="DM Sans" pitchFamily="34" charset="0"/>
              </a:rPr>
              <a:t>1</a:t>
            </a:r>
            <a:r>
              <a:rPr lang="en-US" sz="1700" dirty="0">
                <a:solidFill>
                  <a:srgbClr val="FFE5E5"/>
                </a:solidFill>
                <a:latin typeface="DM Sans" pitchFamily="34" charset="0"/>
              </a:rPr>
              <a:t>6</a:t>
            </a:r>
            <a:endParaRPr lang="en-US" sz="1700" dirty="0"/>
          </a:p>
        </p:txBody>
      </p:sp>
      <p:sp>
        <p:nvSpPr>
          <p:cNvPr id="11" name="Shape 8"/>
          <p:cNvSpPr/>
          <p:nvPr/>
        </p:nvSpPr>
        <p:spPr>
          <a:xfrm>
            <a:off x="765929" y="4633555"/>
            <a:ext cx="7612142" cy="621744"/>
          </a:xfrm>
          <a:prstGeom prst="rect">
            <a:avLst/>
          </a:prstGeom>
          <a:solidFill>
            <a:srgbClr val="FFFFFF">
              <a:alpha val="4000"/>
            </a:srgbClr>
          </a:solidFill>
          <a:ln/>
        </p:spPr>
      </p:sp>
      <p:sp>
        <p:nvSpPr>
          <p:cNvPr id="12" name="Text 9"/>
          <p:cNvSpPr/>
          <p:nvPr/>
        </p:nvSpPr>
        <p:spPr>
          <a:xfrm>
            <a:off x="982504" y="4771073"/>
            <a:ext cx="3369112" cy="346710"/>
          </a:xfrm>
          <a:prstGeom prst="rect">
            <a:avLst/>
          </a:prstGeom>
          <a:noFill/>
          <a:ln/>
        </p:spPr>
        <p:txBody>
          <a:bodyPr wrap="non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Loss Function</a:t>
            </a:r>
            <a:endParaRPr lang="en-US" sz="1700" dirty="0"/>
          </a:p>
        </p:txBody>
      </p:sp>
      <p:sp>
        <p:nvSpPr>
          <p:cNvPr id="13" name="Text 10"/>
          <p:cNvSpPr/>
          <p:nvPr/>
        </p:nvSpPr>
        <p:spPr>
          <a:xfrm>
            <a:off x="4792385" y="4771073"/>
            <a:ext cx="3369112" cy="346710"/>
          </a:xfrm>
          <a:prstGeom prst="rect">
            <a:avLst/>
          </a:prstGeom>
          <a:noFill/>
          <a:ln/>
        </p:spPr>
        <p:txBody>
          <a:bodyPr wrap="none" lIns="0" tIns="0" rIns="0" bIns="0" rtlCol="0" anchor="t"/>
          <a:lstStyle/>
          <a:p>
            <a:pPr marL="0" indent="0">
              <a:lnSpc>
                <a:spcPts val="2700"/>
              </a:lnSpc>
              <a:buNone/>
            </a:pPr>
            <a:r>
              <a:rPr lang="en-US" sz="1700" dirty="0">
                <a:solidFill>
                  <a:srgbClr val="FFE5E5"/>
                </a:solidFill>
                <a:latin typeface="DM Sans" pitchFamily="34" charset="0"/>
                <a:ea typeface="DM Sans" pitchFamily="34" charset="-122"/>
                <a:cs typeface="DM Sans" pitchFamily="34" charset="-120"/>
              </a:rPr>
              <a:t>0.39</a:t>
            </a:r>
            <a:endParaRPr lang="en-US" sz="1700" dirty="0"/>
          </a:p>
        </p:txBody>
      </p:sp>
      <p:sp>
        <p:nvSpPr>
          <p:cNvPr id="15" name="Text 12"/>
          <p:cNvSpPr/>
          <p:nvPr/>
        </p:nvSpPr>
        <p:spPr>
          <a:xfrm>
            <a:off x="982504" y="5392817"/>
            <a:ext cx="3369112" cy="346710"/>
          </a:xfrm>
          <a:prstGeom prst="rect">
            <a:avLst/>
          </a:prstGeom>
          <a:noFill/>
          <a:ln/>
        </p:spPr>
        <p:txBody>
          <a:bodyPr wrap="none" lIns="0" tIns="0" rIns="0" bIns="0" rtlCol="0" anchor="t"/>
          <a:lstStyle/>
          <a:p>
            <a:pPr marL="0" indent="0">
              <a:lnSpc>
                <a:spcPts val="2700"/>
              </a:lnSpc>
              <a:buNone/>
            </a:pPr>
            <a:endParaRPr lang="en-US" sz="1700" dirty="0"/>
          </a:p>
        </p:txBody>
      </p:sp>
      <p:sp>
        <p:nvSpPr>
          <p:cNvPr id="16" name="Text 13"/>
          <p:cNvSpPr/>
          <p:nvPr/>
        </p:nvSpPr>
        <p:spPr>
          <a:xfrm>
            <a:off x="4792385" y="5392817"/>
            <a:ext cx="3369112" cy="346710"/>
          </a:xfrm>
          <a:prstGeom prst="rect">
            <a:avLst/>
          </a:prstGeom>
          <a:noFill/>
          <a:ln/>
        </p:spPr>
        <p:txBody>
          <a:bodyPr wrap="none" lIns="0" tIns="0" rIns="0" bIns="0" rtlCol="0" anchor="t"/>
          <a:lstStyle/>
          <a:p>
            <a:pPr marL="0" indent="0">
              <a:lnSpc>
                <a:spcPts val="2700"/>
              </a:lnSpc>
              <a:buNone/>
            </a:pPr>
            <a:endParaRPr lang="en-US" sz="1700" dirty="0"/>
          </a:p>
        </p:txBody>
      </p:sp>
      <p:sp>
        <p:nvSpPr>
          <p:cNvPr id="17" name="Shape 11">
            <a:extLst>
              <a:ext uri="{FF2B5EF4-FFF2-40B4-BE49-F238E27FC236}">
                <a16:creationId xmlns:a16="http://schemas.microsoft.com/office/drawing/2014/main" id="{231950DD-2281-19B2-0335-83A27D0B8C77}"/>
              </a:ext>
            </a:extLst>
          </p:cNvPr>
          <p:cNvSpPr/>
          <p:nvPr/>
        </p:nvSpPr>
        <p:spPr>
          <a:xfrm>
            <a:off x="549355" y="7062585"/>
            <a:ext cx="7612142" cy="621744"/>
          </a:xfrm>
          <a:prstGeom prst="rect">
            <a:avLst/>
          </a:prstGeom>
          <a:solidFill>
            <a:srgbClr val="000000">
              <a:alpha val="4000"/>
            </a:srgbClr>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296356" cy="12070556"/>
          </a:xfrm>
          <a:prstGeom prst="rect">
            <a:avLst/>
          </a:prstGeom>
        </p:spPr>
      </p:pic>
      <p:sp>
        <p:nvSpPr>
          <p:cNvPr id="3" name="Text 0"/>
          <p:cNvSpPr/>
          <p:nvPr/>
        </p:nvSpPr>
        <p:spPr>
          <a:xfrm>
            <a:off x="4862554" y="242702"/>
            <a:ext cx="2850713" cy="356235"/>
          </a:xfrm>
          <a:prstGeom prst="rect">
            <a:avLst/>
          </a:prstGeom>
          <a:noFill/>
          <a:ln/>
        </p:spPr>
        <p:txBody>
          <a:bodyPr wrap="none" lIns="0" tIns="0" rIns="0" bIns="0" rtlCol="0" anchor="t"/>
          <a:lstStyle/>
          <a:p>
            <a:pPr marL="0" indent="0">
              <a:lnSpc>
                <a:spcPts val="2800"/>
              </a:lnSpc>
              <a:buNone/>
            </a:pPr>
            <a:r>
              <a:rPr lang="en-US" sz="2200" dirty="0">
                <a:solidFill>
                  <a:srgbClr val="FAEBEB"/>
                </a:solidFill>
                <a:latin typeface="Dela Gothic One" pitchFamily="34" charset="0"/>
                <a:ea typeface="Dela Gothic One" pitchFamily="34" charset="-122"/>
                <a:cs typeface="Dela Gothic One" pitchFamily="34" charset="-120"/>
              </a:rPr>
              <a:t>Results</a:t>
            </a:r>
            <a:endParaRPr lang="en-US" sz="2200" dirty="0"/>
          </a:p>
        </p:txBody>
      </p:sp>
      <p:sp>
        <p:nvSpPr>
          <p:cNvPr id="4" name="Text 1"/>
          <p:cNvSpPr/>
          <p:nvPr/>
        </p:nvSpPr>
        <p:spPr>
          <a:xfrm>
            <a:off x="4862554" y="704491"/>
            <a:ext cx="8385810" cy="346710"/>
          </a:xfrm>
          <a:prstGeom prst="rect">
            <a:avLst/>
          </a:prstGeom>
          <a:noFill/>
          <a:ln/>
        </p:spPr>
        <p:txBody>
          <a:bodyPr wrap="square" lIns="0" tIns="0" rIns="0" bIns="0" rtlCol="0" anchor="t"/>
          <a:lstStyle/>
          <a:p>
            <a:pPr marL="0" indent="0">
              <a:lnSpc>
                <a:spcPts val="1350"/>
              </a:lnSpc>
              <a:buNone/>
            </a:pPr>
            <a:r>
              <a:rPr lang="en-US" sz="1600" dirty="0">
                <a:solidFill>
                  <a:srgbClr val="FFE5E5"/>
                </a:solidFill>
                <a:latin typeface="DM Sans" pitchFamily="34" charset="0"/>
                <a:ea typeface="DM Sans" pitchFamily="34" charset="-122"/>
                <a:cs typeface="DM Sans" pitchFamily="34" charset="-120"/>
              </a:rPr>
              <a:t>After rigorous training and evaluation, the model achieved impressive results, demonstrating its accuracy and robustness. The training process involved optimizing the model's parameters to minimize the loss function and maximize accuracy. We analyzed the model's performance using various metrics to gauge its effectiveness.</a:t>
            </a:r>
            <a:endParaRPr lang="en-US" sz="1600" dirty="0"/>
          </a:p>
        </p:txBody>
      </p:sp>
      <p:pic>
        <p:nvPicPr>
          <p:cNvPr id="5" name="Image 1" descr="preencoded.png"/>
          <p:cNvPicPr>
            <a:picLocks noChangeAspect="1"/>
          </p:cNvPicPr>
          <p:nvPr/>
        </p:nvPicPr>
        <p:blipFill>
          <a:blip r:embed="rId4"/>
          <a:stretch>
            <a:fillRect/>
          </a:stretch>
        </p:blipFill>
        <p:spPr>
          <a:xfrm>
            <a:off x="5843763" y="1561387"/>
            <a:ext cx="422416" cy="422416"/>
          </a:xfrm>
          <a:prstGeom prst="rect">
            <a:avLst/>
          </a:prstGeom>
        </p:spPr>
      </p:pic>
      <p:sp>
        <p:nvSpPr>
          <p:cNvPr id="6" name="Text 2"/>
          <p:cNvSpPr/>
          <p:nvPr/>
        </p:nvSpPr>
        <p:spPr>
          <a:xfrm>
            <a:off x="5831814" y="2178559"/>
            <a:ext cx="1546741" cy="178118"/>
          </a:xfrm>
          <a:prstGeom prst="rect">
            <a:avLst/>
          </a:prstGeom>
          <a:noFill/>
          <a:ln/>
        </p:spPr>
        <p:txBody>
          <a:bodyPr wrap="none" lIns="0" tIns="0" rIns="0" bIns="0" rtlCol="0" anchor="t"/>
          <a:lstStyle/>
          <a:p>
            <a:pPr marL="0" indent="0" algn="l">
              <a:lnSpc>
                <a:spcPts val="1400"/>
              </a:lnSpc>
              <a:buNone/>
            </a:pPr>
            <a:r>
              <a:rPr lang="en-US" sz="1400" dirty="0">
                <a:solidFill>
                  <a:srgbClr val="FFE5E5"/>
                </a:solidFill>
                <a:latin typeface="Dela Gothic One" pitchFamily="34" charset="0"/>
                <a:ea typeface="Dela Gothic One" pitchFamily="34" charset="-122"/>
                <a:cs typeface="Dela Gothic One" pitchFamily="34" charset="-120"/>
              </a:rPr>
              <a:t>Training Accuracy</a:t>
            </a:r>
            <a:endParaRPr lang="en-US" sz="1400" dirty="0"/>
          </a:p>
        </p:txBody>
      </p:sp>
      <p:sp>
        <p:nvSpPr>
          <p:cNvPr id="7" name="Text 3"/>
          <p:cNvSpPr/>
          <p:nvPr/>
        </p:nvSpPr>
        <p:spPr>
          <a:xfrm>
            <a:off x="5893645" y="2604077"/>
            <a:ext cx="4111704" cy="173355"/>
          </a:xfrm>
          <a:prstGeom prst="rect">
            <a:avLst/>
          </a:prstGeom>
          <a:noFill/>
          <a:ln/>
        </p:spPr>
        <p:txBody>
          <a:bodyPr wrap="none" lIns="0" tIns="0" rIns="0" bIns="0" rtlCol="0" anchor="t"/>
          <a:lstStyle/>
          <a:p>
            <a:pPr marL="0" indent="0" algn="l">
              <a:lnSpc>
                <a:spcPts val="1350"/>
              </a:lnSpc>
              <a:buNone/>
            </a:pPr>
            <a:r>
              <a:rPr lang="en-US" sz="2800" dirty="0">
                <a:solidFill>
                  <a:srgbClr val="FFE5E5"/>
                </a:solidFill>
                <a:latin typeface="DM Sans" pitchFamily="34" charset="0"/>
                <a:ea typeface="DM Sans" pitchFamily="34" charset="-122"/>
                <a:cs typeface="DM Sans" pitchFamily="34" charset="-120"/>
              </a:rPr>
              <a:t>100%</a:t>
            </a:r>
            <a:endParaRPr lang="en-US" sz="2800" dirty="0"/>
          </a:p>
        </p:txBody>
      </p:sp>
      <p:pic>
        <p:nvPicPr>
          <p:cNvPr id="8" name="Image 2" descr="preencoded.png"/>
          <p:cNvPicPr>
            <a:picLocks noChangeAspect="1"/>
          </p:cNvPicPr>
          <p:nvPr/>
        </p:nvPicPr>
        <p:blipFill>
          <a:blip r:embed="rId5"/>
          <a:stretch>
            <a:fillRect/>
          </a:stretch>
        </p:blipFill>
        <p:spPr>
          <a:xfrm>
            <a:off x="10096392" y="1446000"/>
            <a:ext cx="523369" cy="523369"/>
          </a:xfrm>
          <a:prstGeom prst="rect">
            <a:avLst/>
          </a:prstGeom>
        </p:spPr>
      </p:pic>
      <p:sp>
        <p:nvSpPr>
          <p:cNvPr id="9" name="Text 4"/>
          <p:cNvSpPr/>
          <p:nvPr/>
        </p:nvSpPr>
        <p:spPr>
          <a:xfrm>
            <a:off x="10139601" y="2118437"/>
            <a:ext cx="1678900" cy="178118"/>
          </a:xfrm>
          <a:prstGeom prst="rect">
            <a:avLst/>
          </a:prstGeom>
          <a:noFill/>
          <a:ln/>
        </p:spPr>
        <p:txBody>
          <a:bodyPr wrap="none" lIns="0" tIns="0" rIns="0" bIns="0" rtlCol="0" anchor="t"/>
          <a:lstStyle/>
          <a:p>
            <a:pPr marL="0" indent="0" algn="l">
              <a:lnSpc>
                <a:spcPts val="1400"/>
              </a:lnSpc>
              <a:buNone/>
            </a:pPr>
            <a:r>
              <a:rPr lang="en-US" sz="1400" dirty="0">
                <a:solidFill>
                  <a:srgbClr val="FFE5E5"/>
                </a:solidFill>
                <a:latin typeface="Dela Gothic One" pitchFamily="34" charset="0"/>
                <a:ea typeface="Dela Gothic One" pitchFamily="34" charset="-122"/>
                <a:cs typeface="Dela Gothic One" pitchFamily="34" charset="-120"/>
              </a:rPr>
              <a:t>Validation Accuracy</a:t>
            </a:r>
            <a:endParaRPr lang="en-US" sz="1400" dirty="0"/>
          </a:p>
        </p:txBody>
      </p:sp>
      <p:sp>
        <p:nvSpPr>
          <p:cNvPr id="10" name="Text 5"/>
          <p:cNvSpPr/>
          <p:nvPr/>
        </p:nvSpPr>
        <p:spPr>
          <a:xfrm>
            <a:off x="10139601" y="2541588"/>
            <a:ext cx="4111704" cy="173355"/>
          </a:xfrm>
          <a:prstGeom prst="rect">
            <a:avLst/>
          </a:prstGeom>
          <a:noFill/>
          <a:ln/>
        </p:spPr>
        <p:txBody>
          <a:bodyPr wrap="none" lIns="0" tIns="0" rIns="0" bIns="0" rtlCol="0" anchor="t"/>
          <a:lstStyle/>
          <a:p>
            <a:pPr marL="0" indent="0" algn="l">
              <a:lnSpc>
                <a:spcPts val="1350"/>
              </a:lnSpc>
              <a:buNone/>
            </a:pPr>
            <a:r>
              <a:rPr lang="en-US" sz="2800" dirty="0">
                <a:solidFill>
                  <a:srgbClr val="FFE5E5"/>
                </a:solidFill>
                <a:latin typeface="DM Sans" pitchFamily="34" charset="0"/>
                <a:ea typeface="DM Sans" pitchFamily="34" charset="-122"/>
                <a:cs typeface="DM Sans" pitchFamily="34" charset="-120"/>
              </a:rPr>
              <a:t>100%</a:t>
            </a:r>
            <a:endParaRPr lang="en-US" sz="2800" dirty="0"/>
          </a:p>
        </p:txBody>
      </p:sp>
      <p:pic>
        <p:nvPicPr>
          <p:cNvPr id="11" name="Image 3" descr="preencoded.png"/>
          <p:cNvPicPr>
            <a:picLocks noChangeAspect="1"/>
          </p:cNvPicPr>
          <p:nvPr/>
        </p:nvPicPr>
        <p:blipFill>
          <a:blip r:embed="rId6"/>
          <a:stretch>
            <a:fillRect/>
          </a:stretch>
        </p:blipFill>
        <p:spPr>
          <a:xfrm>
            <a:off x="5865495" y="2855277"/>
            <a:ext cx="356518" cy="356518"/>
          </a:xfrm>
          <a:prstGeom prst="rect">
            <a:avLst/>
          </a:prstGeom>
        </p:spPr>
      </p:pic>
      <p:sp>
        <p:nvSpPr>
          <p:cNvPr id="12" name="Text 6"/>
          <p:cNvSpPr/>
          <p:nvPr/>
        </p:nvSpPr>
        <p:spPr>
          <a:xfrm>
            <a:off x="5865495" y="3315612"/>
            <a:ext cx="1425297" cy="178118"/>
          </a:xfrm>
          <a:prstGeom prst="rect">
            <a:avLst/>
          </a:prstGeom>
          <a:noFill/>
          <a:ln/>
        </p:spPr>
        <p:txBody>
          <a:bodyPr wrap="none" lIns="0" tIns="0" rIns="0" bIns="0" rtlCol="0" anchor="t"/>
          <a:lstStyle/>
          <a:p>
            <a:pPr marL="0" indent="0" algn="l">
              <a:lnSpc>
                <a:spcPts val="1400"/>
              </a:lnSpc>
              <a:buNone/>
            </a:pPr>
            <a:r>
              <a:rPr lang="en-US" sz="1400" dirty="0">
                <a:solidFill>
                  <a:srgbClr val="FFE5E5"/>
                </a:solidFill>
                <a:latin typeface="Dela Gothic One" pitchFamily="34" charset="0"/>
                <a:ea typeface="Dela Gothic One" pitchFamily="34" charset="-122"/>
                <a:cs typeface="Dela Gothic One" pitchFamily="34" charset="-120"/>
              </a:rPr>
              <a:t>Test Accuracy</a:t>
            </a:r>
            <a:endParaRPr lang="en-US" sz="1400" dirty="0"/>
          </a:p>
        </p:txBody>
      </p:sp>
      <p:sp>
        <p:nvSpPr>
          <p:cNvPr id="13" name="Text 7"/>
          <p:cNvSpPr/>
          <p:nvPr/>
        </p:nvSpPr>
        <p:spPr>
          <a:xfrm>
            <a:off x="5831814" y="3815329"/>
            <a:ext cx="4111704" cy="409451"/>
          </a:xfrm>
          <a:prstGeom prst="rect">
            <a:avLst/>
          </a:prstGeom>
          <a:noFill/>
          <a:ln/>
        </p:spPr>
        <p:txBody>
          <a:bodyPr wrap="none" lIns="0" tIns="0" rIns="0" bIns="0" rtlCol="0" anchor="t"/>
          <a:lstStyle/>
          <a:p>
            <a:pPr marL="0" indent="0" algn="l">
              <a:lnSpc>
                <a:spcPts val="1350"/>
              </a:lnSpc>
              <a:buNone/>
            </a:pPr>
            <a:r>
              <a:rPr lang="en-US" sz="2800" dirty="0">
                <a:solidFill>
                  <a:srgbClr val="FFE5E5"/>
                </a:solidFill>
                <a:latin typeface="DM Sans" pitchFamily="34" charset="0"/>
                <a:ea typeface="DM Sans" pitchFamily="34" charset="-122"/>
                <a:cs typeface="DM Sans" pitchFamily="34" charset="-120"/>
              </a:rPr>
              <a:t>93%</a:t>
            </a:r>
            <a:endParaRPr lang="en-US" sz="2800" dirty="0"/>
          </a:p>
        </p:txBody>
      </p:sp>
      <p:pic>
        <p:nvPicPr>
          <p:cNvPr id="14" name="Image 4" descr="preencoded.png"/>
          <p:cNvPicPr>
            <a:picLocks noChangeAspect="1"/>
          </p:cNvPicPr>
          <p:nvPr/>
        </p:nvPicPr>
        <p:blipFill>
          <a:blip r:embed="rId7"/>
          <a:stretch>
            <a:fillRect/>
          </a:stretch>
        </p:blipFill>
        <p:spPr>
          <a:xfrm>
            <a:off x="10139601" y="2789831"/>
            <a:ext cx="421964" cy="421964"/>
          </a:xfrm>
          <a:prstGeom prst="rect">
            <a:avLst/>
          </a:prstGeom>
        </p:spPr>
      </p:pic>
      <p:sp>
        <p:nvSpPr>
          <p:cNvPr id="15" name="Text 8"/>
          <p:cNvSpPr/>
          <p:nvPr/>
        </p:nvSpPr>
        <p:spPr>
          <a:xfrm>
            <a:off x="10139601" y="3315612"/>
            <a:ext cx="1449943" cy="178118"/>
          </a:xfrm>
          <a:prstGeom prst="rect">
            <a:avLst/>
          </a:prstGeom>
          <a:noFill/>
          <a:ln/>
        </p:spPr>
        <p:txBody>
          <a:bodyPr wrap="none" lIns="0" tIns="0" rIns="0" bIns="0" rtlCol="0" anchor="t"/>
          <a:lstStyle/>
          <a:p>
            <a:pPr marL="0" indent="0" algn="l">
              <a:lnSpc>
                <a:spcPts val="1400"/>
              </a:lnSpc>
              <a:buNone/>
            </a:pPr>
            <a:r>
              <a:rPr lang="en-US" sz="1400" dirty="0">
                <a:solidFill>
                  <a:srgbClr val="FFE5E5"/>
                </a:solidFill>
                <a:latin typeface="Dela Gothic One" pitchFamily="34" charset="0"/>
                <a:ea typeface="Dela Gothic One" pitchFamily="34" charset="-122"/>
                <a:cs typeface="Dela Gothic One" pitchFamily="34" charset="-120"/>
              </a:rPr>
              <a:t>Confusion Matrix</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004151" y="102790"/>
            <a:ext cx="5486400" cy="8024020"/>
          </a:xfrm>
          <a:prstGeom prst="rect">
            <a:avLst/>
          </a:prstGeom>
        </p:spPr>
      </p:pic>
      <p:sp>
        <p:nvSpPr>
          <p:cNvPr id="3" name="Text 0"/>
          <p:cNvSpPr/>
          <p:nvPr/>
        </p:nvSpPr>
        <p:spPr>
          <a:xfrm>
            <a:off x="571262" y="448747"/>
            <a:ext cx="4360783" cy="536972"/>
          </a:xfrm>
          <a:prstGeom prst="rect">
            <a:avLst/>
          </a:prstGeom>
          <a:noFill/>
          <a:ln/>
        </p:spPr>
        <p:txBody>
          <a:bodyPr wrap="none" lIns="0" tIns="0" rIns="0" bIns="0" rtlCol="0" anchor="t"/>
          <a:lstStyle/>
          <a:p>
            <a:pPr marL="0" indent="0">
              <a:lnSpc>
                <a:spcPts val="4200"/>
              </a:lnSpc>
              <a:buNone/>
            </a:pPr>
            <a:r>
              <a:rPr lang="en-US" sz="3350" dirty="0">
                <a:solidFill>
                  <a:srgbClr val="FAEBEB"/>
                </a:solidFill>
                <a:latin typeface="Dela Gothic One" pitchFamily="34" charset="0"/>
                <a:ea typeface="Dela Gothic One" pitchFamily="34" charset="-122"/>
                <a:cs typeface="Dela Gothic One" pitchFamily="34" charset="-120"/>
              </a:rPr>
              <a:t>Model Evaluation</a:t>
            </a:r>
            <a:endParaRPr lang="en-US" sz="3350" dirty="0"/>
          </a:p>
        </p:txBody>
      </p:sp>
      <p:sp>
        <p:nvSpPr>
          <p:cNvPr id="4" name="Shape 1"/>
          <p:cNvSpPr/>
          <p:nvPr/>
        </p:nvSpPr>
        <p:spPr>
          <a:xfrm>
            <a:off x="571262" y="1414105"/>
            <a:ext cx="367189" cy="367189"/>
          </a:xfrm>
          <a:prstGeom prst="roundRect">
            <a:avLst>
              <a:gd name="adj" fmla="val 18670"/>
            </a:avLst>
          </a:prstGeom>
          <a:solidFill>
            <a:srgbClr val="740B0B"/>
          </a:solidFill>
          <a:ln w="7620">
            <a:solidFill>
              <a:srgbClr val="8D2424"/>
            </a:solidFill>
            <a:prstDash val="solid"/>
          </a:ln>
        </p:spPr>
      </p:sp>
      <p:sp>
        <p:nvSpPr>
          <p:cNvPr id="5" name="Text 2"/>
          <p:cNvSpPr/>
          <p:nvPr/>
        </p:nvSpPr>
        <p:spPr>
          <a:xfrm>
            <a:off x="679013" y="1468755"/>
            <a:ext cx="151567" cy="257770"/>
          </a:xfrm>
          <a:prstGeom prst="rect">
            <a:avLst/>
          </a:prstGeom>
          <a:noFill/>
          <a:ln/>
        </p:spPr>
        <p:txBody>
          <a:bodyPr wrap="none" lIns="0" tIns="0" rIns="0" bIns="0" rtlCol="0" anchor="t"/>
          <a:lstStyle/>
          <a:p>
            <a:pPr marL="0" indent="0" algn="ctr">
              <a:lnSpc>
                <a:spcPts val="2000"/>
              </a:lnSpc>
              <a:buNone/>
            </a:pPr>
            <a:r>
              <a:rPr lang="en-US" sz="2000" dirty="0">
                <a:solidFill>
                  <a:srgbClr val="FFE5E5"/>
                </a:solidFill>
                <a:latin typeface="Dela Gothic One" pitchFamily="34" charset="0"/>
                <a:ea typeface="Dela Gothic One" pitchFamily="34" charset="-122"/>
                <a:cs typeface="Dela Gothic One" pitchFamily="34" charset="-120"/>
              </a:rPr>
              <a:t>1</a:t>
            </a:r>
            <a:endParaRPr lang="en-US" sz="2000" dirty="0"/>
          </a:p>
        </p:txBody>
      </p:sp>
      <p:sp>
        <p:nvSpPr>
          <p:cNvPr id="6" name="Text 3"/>
          <p:cNvSpPr/>
          <p:nvPr/>
        </p:nvSpPr>
        <p:spPr>
          <a:xfrm>
            <a:off x="1101566" y="1414105"/>
            <a:ext cx="2147649" cy="268486"/>
          </a:xfrm>
          <a:prstGeom prst="rect">
            <a:avLst/>
          </a:prstGeom>
          <a:noFill/>
          <a:ln/>
        </p:spPr>
        <p:txBody>
          <a:bodyPr wrap="none" lIns="0" tIns="0" rIns="0" bIns="0" rtlCol="0" anchor="t"/>
          <a:lstStyle/>
          <a:p>
            <a:pPr marL="0" indent="0">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Metrics</a:t>
            </a:r>
            <a:endParaRPr lang="en-US" sz="1650" dirty="0"/>
          </a:p>
        </p:txBody>
      </p:sp>
      <p:sp>
        <p:nvSpPr>
          <p:cNvPr id="7" name="Text 4"/>
          <p:cNvSpPr/>
          <p:nvPr/>
        </p:nvSpPr>
        <p:spPr>
          <a:xfrm>
            <a:off x="1101566" y="1780461"/>
            <a:ext cx="3388876" cy="522208"/>
          </a:xfrm>
          <a:prstGeom prst="rect">
            <a:avLst/>
          </a:prstGeom>
          <a:noFill/>
          <a:ln/>
        </p:spPr>
        <p:txBody>
          <a:bodyPr wrap="square" lIns="0" tIns="0" rIns="0" bIns="0" rtlCol="0" anchor="t"/>
          <a:lstStyle/>
          <a:p>
            <a:pPr marL="0" indent="0">
              <a:lnSpc>
                <a:spcPts val="2050"/>
              </a:lnSpc>
              <a:buNone/>
            </a:pPr>
            <a:r>
              <a:rPr lang="en-US" sz="1250" dirty="0">
                <a:solidFill>
                  <a:srgbClr val="FFE5E5"/>
                </a:solidFill>
                <a:latin typeface="DM Sans" pitchFamily="34" charset="0"/>
                <a:ea typeface="DM Sans" pitchFamily="34" charset="-122"/>
                <a:cs typeface="DM Sans" pitchFamily="34" charset="-120"/>
              </a:rPr>
              <a:t>Accuracy, Precision, Recall, F1 Score are used to evaluate the model's performance.</a:t>
            </a:r>
            <a:endParaRPr lang="en-US" sz="1250" dirty="0"/>
          </a:p>
        </p:txBody>
      </p:sp>
      <p:sp>
        <p:nvSpPr>
          <p:cNvPr id="8" name="Shape 5"/>
          <p:cNvSpPr/>
          <p:nvPr/>
        </p:nvSpPr>
        <p:spPr>
          <a:xfrm>
            <a:off x="4653558" y="1414105"/>
            <a:ext cx="367189" cy="367189"/>
          </a:xfrm>
          <a:prstGeom prst="roundRect">
            <a:avLst>
              <a:gd name="adj" fmla="val 18670"/>
            </a:avLst>
          </a:prstGeom>
          <a:solidFill>
            <a:srgbClr val="740B0B"/>
          </a:solidFill>
          <a:ln w="7620">
            <a:solidFill>
              <a:srgbClr val="8D2424"/>
            </a:solidFill>
            <a:prstDash val="solid"/>
          </a:ln>
        </p:spPr>
      </p:sp>
      <p:sp>
        <p:nvSpPr>
          <p:cNvPr id="9" name="Text 6"/>
          <p:cNvSpPr/>
          <p:nvPr/>
        </p:nvSpPr>
        <p:spPr>
          <a:xfrm>
            <a:off x="4729520" y="1468755"/>
            <a:ext cx="215146" cy="257770"/>
          </a:xfrm>
          <a:prstGeom prst="rect">
            <a:avLst/>
          </a:prstGeom>
          <a:noFill/>
          <a:ln/>
        </p:spPr>
        <p:txBody>
          <a:bodyPr wrap="none" lIns="0" tIns="0" rIns="0" bIns="0" rtlCol="0" anchor="t"/>
          <a:lstStyle/>
          <a:p>
            <a:pPr marL="0" indent="0" algn="ctr">
              <a:lnSpc>
                <a:spcPts val="2000"/>
              </a:lnSpc>
              <a:buNone/>
            </a:pPr>
            <a:r>
              <a:rPr lang="en-US" sz="2000" dirty="0">
                <a:solidFill>
                  <a:srgbClr val="FFE5E5"/>
                </a:solidFill>
                <a:latin typeface="Dela Gothic One" pitchFamily="34" charset="0"/>
                <a:ea typeface="Dela Gothic One" pitchFamily="34" charset="-122"/>
                <a:cs typeface="Dela Gothic One" pitchFamily="34" charset="-120"/>
              </a:rPr>
              <a:t>2</a:t>
            </a:r>
            <a:endParaRPr lang="en-US" sz="2000" dirty="0"/>
          </a:p>
        </p:txBody>
      </p:sp>
      <p:sp>
        <p:nvSpPr>
          <p:cNvPr id="10" name="Text 7"/>
          <p:cNvSpPr/>
          <p:nvPr/>
        </p:nvSpPr>
        <p:spPr>
          <a:xfrm>
            <a:off x="5183862" y="1414105"/>
            <a:ext cx="2147649" cy="268486"/>
          </a:xfrm>
          <a:prstGeom prst="rect">
            <a:avLst/>
          </a:prstGeom>
          <a:noFill/>
          <a:ln/>
        </p:spPr>
        <p:txBody>
          <a:bodyPr wrap="none" lIns="0" tIns="0" rIns="0" bIns="0" rtlCol="0" anchor="t"/>
          <a:lstStyle/>
          <a:p>
            <a:pPr marL="0" indent="0">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Test Accuracy</a:t>
            </a:r>
            <a:endParaRPr lang="en-US" sz="1650" dirty="0"/>
          </a:p>
        </p:txBody>
      </p:sp>
      <p:sp>
        <p:nvSpPr>
          <p:cNvPr id="11" name="Text 8"/>
          <p:cNvSpPr/>
          <p:nvPr/>
        </p:nvSpPr>
        <p:spPr>
          <a:xfrm>
            <a:off x="5183862" y="1780461"/>
            <a:ext cx="3388876" cy="522208"/>
          </a:xfrm>
          <a:prstGeom prst="rect">
            <a:avLst/>
          </a:prstGeom>
          <a:noFill/>
          <a:ln/>
        </p:spPr>
        <p:txBody>
          <a:bodyPr wrap="square" lIns="0" tIns="0" rIns="0" bIns="0" rtlCol="0" anchor="t"/>
          <a:lstStyle/>
          <a:p>
            <a:pPr marL="0" indent="0">
              <a:lnSpc>
                <a:spcPts val="2050"/>
              </a:lnSpc>
              <a:buNone/>
            </a:pPr>
            <a:r>
              <a:rPr lang="en-US" sz="1250" dirty="0">
                <a:solidFill>
                  <a:srgbClr val="FFE5E5"/>
                </a:solidFill>
                <a:latin typeface="DM Sans" pitchFamily="34" charset="0"/>
                <a:ea typeface="DM Sans" pitchFamily="34" charset="-122"/>
                <a:cs typeface="DM Sans" pitchFamily="34" charset="-120"/>
              </a:rPr>
              <a:t>The model achieved a test accuracy of 93%.</a:t>
            </a:r>
            <a:endParaRPr lang="en-US" sz="1250" dirty="0"/>
          </a:p>
        </p:txBody>
      </p:sp>
      <p:pic>
        <p:nvPicPr>
          <p:cNvPr id="14" name="Picture 13">
            <a:extLst>
              <a:ext uri="{FF2B5EF4-FFF2-40B4-BE49-F238E27FC236}">
                <a16:creationId xmlns:a16="http://schemas.microsoft.com/office/drawing/2014/main" id="{52227082-0416-687F-6139-F1555D32D9EC}"/>
              </a:ext>
            </a:extLst>
          </p:cNvPr>
          <p:cNvPicPr>
            <a:picLocks noChangeAspect="1"/>
          </p:cNvPicPr>
          <p:nvPr/>
        </p:nvPicPr>
        <p:blipFill>
          <a:blip r:embed="rId4"/>
          <a:stretch>
            <a:fillRect/>
          </a:stretch>
        </p:blipFill>
        <p:spPr>
          <a:xfrm>
            <a:off x="852616" y="2400539"/>
            <a:ext cx="7315215" cy="54864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FF9AF7-C2F3-C865-3BD3-3BB4B1F7EC70}"/>
              </a:ext>
            </a:extLst>
          </p:cNvPr>
          <p:cNvPicPr>
            <a:picLocks noChangeAspect="1"/>
          </p:cNvPicPr>
          <p:nvPr/>
        </p:nvPicPr>
        <p:blipFill>
          <a:blip r:embed="rId2"/>
          <a:stretch>
            <a:fillRect/>
          </a:stretch>
        </p:blipFill>
        <p:spPr>
          <a:xfrm>
            <a:off x="160346" y="383822"/>
            <a:ext cx="14374651" cy="7495822"/>
          </a:xfrm>
          <a:prstGeom prst="rect">
            <a:avLst/>
          </a:prstGeom>
        </p:spPr>
      </p:pic>
    </p:spTree>
    <p:extLst>
      <p:ext uri="{BB962C8B-B14F-4D97-AF65-F5344CB8AC3E}">
        <p14:creationId xmlns:p14="http://schemas.microsoft.com/office/powerpoint/2010/main" val="795364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07086A-CA86-049A-B444-54C934D11961}"/>
              </a:ext>
            </a:extLst>
          </p:cNvPr>
          <p:cNvPicPr>
            <a:picLocks noChangeAspect="1"/>
          </p:cNvPicPr>
          <p:nvPr/>
        </p:nvPicPr>
        <p:blipFill>
          <a:blip r:embed="rId2"/>
          <a:stretch>
            <a:fillRect/>
          </a:stretch>
        </p:blipFill>
        <p:spPr>
          <a:xfrm>
            <a:off x="651532" y="1314059"/>
            <a:ext cx="13327335" cy="5601482"/>
          </a:xfrm>
          <a:prstGeom prst="rect">
            <a:avLst/>
          </a:prstGeom>
        </p:spPr>
      </p:pic>
    </p:spTree>
    <p:extLst>
      <p:ext uri="{BB962C8B-B14F-4D97-AF65-F5344CB8AC3E}">
        <p14:creationId xmlns:p14="http://schemas.microsoft.com/office/powerpoint/2010/main" val="3890495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309" y="1862733"/>
            <a:ext cx="6068497" cy="712708"/>
          </a:xfrm>
          <a:prstGeom prst="rect">
            <a:avLst/>
          </a:prstGeom>
          <a:noFill/>
          <a:ln/>
        </p:spPr>
        <p:txBody>
          <a:bodyPr wrap="none" lIns="0" tIns="0" rIns="0" bIns="0" rtlCol="0" anchor="t"/>
          <a:lstStyle/>
          <a:p>
            <a:pPr marL="0" indent="0">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Flask Deployment</a:t>
            </a:r>
            <a:endParaRPr lang="en-US" sz="4450" dirty="0"/>
          </a:p>
        </p:txBody>
      </p:sp>
      <p:pic>
        <p:nvPicPr>
          <p:cNvPr id="4" name="Image 1" descr="preencoded.png"/>
          <p:cNvPicPr>
            <a:picLocks noChangeAspect="1"/>
          </p:cNvPicPr>
          <p:nvPr/>
        </p:nvPicPr>
        <p:blipFill>
          <a:blip r:embed="rId4"/>
          <a:stretch>
            <a:fillRect/>
          </a:stretch>
        </p:blipFill>
        <p:spPr>
          <a:xfrm>
            <a:off x="758309" y="2900363"/>
            <a:ext cx="1083231" cy="1733193"/>
          </a:xfrm>
          <a:prstGeom prst="rect">
            <a:avLst/>
          </a:prstGeom>
        </p:spPr>
      </p:pic>
      <p:sp>
        <p:nvSpPr>
          <p:cNvPr id="5" name="Text 1"/>
          <p:cNvSpPr/>
          <p:nvPr/>
        </p:nvSpPr>
        <p:spPr>
          <a:xfrm>
            <a:off x="2166461" y="3116937"/>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Purpose</a:t>
            </a:r>
            <a:endParaRPr lang="en-US" sz="2200" dirty="0"/>
          </a:p>
        </p:txBody>
      </p:sp>
      <p:sp>
        <p:nvSpPr>
          <p:cNvPr id="6" name="Text 2"/>
          <p:cNvSpPr/>
          <p:nvPr/>
        </p:nvSpPr>
        <p:spPr>
          <a:xfrm>
            <a:off x="2166461" y="3603069"/>
            <a:ext cx="6219230" cy="69342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The model is deployed as a Flask web application for real-time prediction.</a:t>
            </a:r>
            <a:endParaRPr lang="en-US" sz="1700" dirty="0"/>
          </a:p>
        </p:txBody>
      </p:sp>
      <p:pic>
        <p:nvPicPr>
          <p:cNvPr id="7" name="Image 2" descr="preencoded.png"/>
          <p:cNvPicPr>
            <a:picLocks noChangeAspect="1"/>
          </p:cNvPicPr>
          <p:nvPr/>
        </p:nvPicPr>
        <p:blipFill>
          <a:blip r:embed="rId5"/>
          <a:stretch>
            <a:fillRect/>
          </a:stretch>
        </p:blipFill>
        <p:spPr>
          <a:xfrm>
            <a:off x="758309" y="4633555"/>
            <a:ext cx="1083231" cy="1733193"/>
          </a:xfrm>
          <a:prstGeom prst="rect">
            <a:avLst/>
          </a:prstGeom>
        </p:spPr>
      </p:pic>
      <p:sp>
        <p:nvSpPr>
          <p:cNvPr id="8" name="Text 3"/>
          <p:cNvSpPr/>
          <p:nvPr/>
        </p:nvSpPr>
        <p:spPr>
          <a:xfrm>
            <a:off x="2166461" y="4850130"/>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Features</a:t>
            </a:r>
            <a:endParaRPr lang="en-US" sz="2200" dirty="0"/>
          </a:p>
        </p:txBody>
      </p:sp>
      <p:sp>
        <p:nvSpPr>
          <p:cNvPr id="9" name="Text 4"/>
          <p:cNvSpPr/>
          <p:nvPr/>
        </p:nvSpPr>
        <p:spPr>
          <a:xfrm>
            <a:off x="2166461" y="5336262"/>
            <a:ext cx="6219230" cy="69342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Users can upload an image and receive the predicted blood group.</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45C331-8232-4369-0D17-92266901A97D}"/>
              </a:ext>
            </a:extLst>
          </p:cNvPr>
          <p:cNvPicPr>
            <a:picLocks noChangeAspect="1"/>
          </p:cNvPicPr>
          <p:nvPr/>
        </p:nvPicPr>
        <p:blipFill>
          <a:blip r:embed="rId2"/>
          <a:stretch>
            <a:fillRect/>
          </a:stretch>
        </p:blipFill>
        <p:spPr>
          <a:xfrm>
            <a:off x="3058800" y="1697949"/>
            <a:ext cx="9373412" cy="4381880"/>
          </a:xfrm>
          <a:prstGeom prst="rect">
            <a:avLst/>
          </a:prstGeom>
        </p:spPr>
      </p:pic>
    </p:spTree>
    <p:extLst>
      <p:ext uri="{BB962C8B-B14F-4D97-AF65-F5344CB8AC3E}">
        <p14:creationId xmlns:p14="http://schemas.microsoft.com/office/powerpoint/2010/main" val="3211208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AF8508-7447-0434-161E-D5449CF44147}"/>
              </a:ext>
            </a:extLst>
          </p:cNvPr>
          <p:cNvPicPr>
            <a:picLocks noChangeAspect="1"/>
          </p:cNvPicPr>
          <p:nvPr/>
        </p:nvPicPr>
        <p:blipFill>
          <a:blip r:embed="rId2"/>
          <a:stretch>
            <a:fillRect/>
          </a:stretch>
        </p:blipFill>
        <p:spPr>
          <a:xfrm>
            <a:off x="2180508" y="1761796"/>
            <a:ext cx="10269383" cy="4706007"/>
          </a:xfrm>
          <a:prstGeom prst="rect">
            <a:avLst/>
          </a:prstGeom>
        </p:spPr>
      </p:pic>
    </p:spTree>
    <p:extLst>
      <p:ext uri="{BB962C8B-B14F-4D97-AF65-F5344CB8AC3E}">
        <p14:creationId xmlns:p14="http://schemas.microsoft.com/office/powerpoint/2010/main" val="228473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1ED32D-3310-C453-BC2A-73009F7B1C3D}"/>
              </a:ext>
            </a:extLst>
          </p:cNvPr>
          <p:cNvPicPr>
            <a:picLocks noChangeAspect="1"/>
          </p:cNvPicPr>
          <p:nvPr/>
        </p:nvPicPr>
        <p:blipFill>
          <a:blip r:embed="rId2"/>
          <a:stretch>
            <a:fillRect/>
          </a:stretch>
        </p:blipFill>
        <p:spPr>
          <a:xfrm>
            <a:off x="2351982" y="2180955"/>
            <a:ext cx="9926435" cy="3867690"/>
          </a:xfrm>
          <a:prstGeom prst="rect">
            <a:avLst/>
          </a:prstGeom>
        </p:spPr>
      </p:pic>
    </p:spTree>
    <p:extLst>
      <p:ext uri="{BB962C8B-B14F-4D97-AF65-F5344CB8AC3E}">
        <p14:creationId xmlns:p14="http://schemas.microsoft.com/office/powerpoint/2010/main" val="1301528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52268"/>
          </a:xfrm>
          <a:prstGeom prst="rect">
            <a:avLst/>
          </a:prstGeom>
        </p:spPr>
      </p:pic>
      <p:sp>
        <p:nvSpPr>
          <p:cNvPr id="3" name="Text 0"/>
          <p:cNvSpPr/>
          <p:nvPr/>
        </p:nvSpPr>
        <p:spPr>
          <a:xfrm>
            <a:off x="546616" y="2381726"/>
            <a:ext cx="4110157" cy="513755"/>
          </a:xfrm>
          <a:prstGeom prst="rect">
            <a:avLst/>
          </a:prstGeom>
          <a:noFill/>
          <a:ln/>
        </p:spPr>
        <p:txBody>
          <a:bodyPr wrap="none" lIns="0" tIns="0" rIns="0" bIns="0" rtlCol="0" anchor="t"/>
          <a:lstStyle/>
          <a:p>
            <a:pPr marL="0" indent="0">
              <a:lnSpc>
                <a:spcPts val="4000"/>
              </a:lnSpc>
              <a:buNone/>
            </a:pPr>
            <a:r>
              <a:rPr lang="en-US" sz="3200" dirty="0">
                <a:solidFill>
                  <a:srgbClr val="FAEBEB"/>
                </a:solidFill>
                <a:latin typeface="Dela Gothic One" pitchFamily="34" charset="0"/>
                <a:ea typeface="Dela Gothic One" pitchFamily="34" charset="-122"/>
                <a:cs typeface="Dela Gothic One" pitchFamily="34" charset="-120"/>
              </a:rPr>
              <a:t>Conclusion</a:t>
            </a:r>
            <a:endParaRPr lang="en-US" sz="3200" dirty="0"/>
          </a:p>
        </p:txBody>
      </p:sp>
      <p:sp>
        <p:nvSpPr>
          <p:cNvPr id="4" name="Text 1"/>
          <p:cNvSpPr/>
          <p:nvPr/>
        </p:nvSpPr>
        <p:spPr>
          <a:xfrm>
            <a:off x="546616" y="2918221"/>
            <a:ext cx="13537168" cy="749737"/>
          </a:xfrm>
          <a:prstGeom prst="rect">
            <a:avLst/>
          </a:prstGeom>
          <a:noFill/>
          <a:ln/>
        </p:spPr>
        <p:txBody>
          <a:bodyPr wrap="square" lIns="0" tIns="0" rIns="0" bIns="0" rtlCol="0" anchor="t"/>
          <a:lstStyle/>
          <a:p>
            <a:pPr marL="0" indent="0">
              <a:lnSpc>
                <a:spcPts val="1950"/>
              </a:lnSpc>
              <a:buNone/>
            </a:pPr>
            <a:r>
              <a:rPr lang="en-US" sz="1600" dirty="0">
                <a:solidFill>
                  <a:srgbClr val="FFE5E5"/>
                </a:solidFill>
                <a:latin typeface="DM Sans" pitchFamily="34" charset="0"/>
                <a:ea typeface="DM Sans" pitchFamily="34" charset="-122"/>
                <a:cs typeface="DM Sans" pitchFamily="34" charset="-120"/>
              </a:rPr>
              <a:t>This project successfully developed and implemented an automated blood group detection system using Machine learning. The system achieved a high level of accuracy, surpassing traditional manual methods, and demonstrated its potential for real-world applications in healthcare settings. This project provides a valuable foundation for further research and development in the field of automated blood group detection.</a:t>
            </a:r>
            <a:endParaRPr lang="en-US" sz="1600" dirty="0"/>
          </a:p>
        </p:txBody>
      </p:sp>
      <p:pic>
        <p:nvPicPr>
          <p:cNvPr id="5" name="Image 1" descr="preencoded.png"/>
          <p:cNvPicPr>
            <a:picLocks noChangeAspect="1"/>
          </p:cNvPicPr>
          <p:nvPr/>
        </p:nvPicPr>
        <p:blipFill>
          <a:blip r:embed="rId4"/>
          <a:stretch>
            <a:fillRect/>
          </a:stretch>
        </p:blipFill>
        <p:spPr>
          <a:xfrm>
            <a:off x="546616" y="4055031"/>
            <a:ext cx="780931" cy="1249442"/>
          </a:xfrm>
          <a:prstGeom prst="rect">
            <a:avLst/>
          </a:prstGeom>
        </p:spPr>
      </p:pic>
      <p:sp>
        <p:nvSpPr>
          <p:cNvPr id="6" name="Text 2"/>
          <p:cNvSpPr/>
          <p:nvPr/>
        </p:nvSpPr>
        <p:spPr>
          <a:xfrm>
            <a:off x="1561743" y="4211122"/>
            <a:ext cx="2231827" cy="256818"/>
          </a:xfrm>
          <a:prstGeom prst="rect">
            <a:avLst/>
          </a:prstGeom>
          <a:noFill/>
          <a:ln/>
        </p:spPr>
        <p:txBody>
          <a:bodyPr wrap="none" lIns="0" tIns="0" rIns="0" bIns="0" rtlCol="0" anchor="t"/>
          <a:lstStyle/>
          <a:p>
            <a:pPr marL="0" indent="0" algn="l">
              <a:lnSpc>
                <a:spcPts val="2000"/>
              </a:lnSpc>
              <a:buNone/>
            </a:pPr>
            <a:r>
              <a:rPr lang="en-US" sz="2000" dirty="0">
                <a:solidFill>
                  <a:srgbClr val="FFE5E5"/>
                </a:solidFill>
                <a:latin typeface="Dela Gothic One" pitchFamily="34" charset="0"/>
                <a:ea typeface="Dela Gothic One" pitchFamily="34" charset="-122"/>
                <a:cs typeface="Dela Gothic One" pitchFamily="34" charset="-120"/>
              </a:rPr>
              <a:t>Key Achievements</a:t>
            </a:r>
            <a:endParaRPr lang="en-US" sz="2000" dirty="0"/>
          </a:p>
        </p:txBody>
      </p:sp>
      <p:sp>
        <p:nvSpPr>
          <p:cNvPr id="7" name="Text 3"/>
          <p:cNvSpPr/>
          <p:nvPr/>
        </p:nvSpPr>
        <p:spPr>
          <a:xfrm>
            <a:off x="1561743" y="4561642"/>
            <a:ext cx="12522041" cy="249912"/>
          </a:xfrm>
          <a:prstGeom prst="rect">
            <a:avLst/>
          </a:prstGeom>
          <a:noFill/>
          <a:ln/>
        </p:spPr>
        <p:txBody>
          <a:bodyPr wrap="none" lIns="0" tIns="0" rIns="0" bIns="0" rtlCol="0" anchor="t"/>
          <a:lstStyle/>
          <a:p>
            <a:pPr marL="0" indent="0" algn="l">
              <a:lnSpc>
                <a:spcPts val="1950"/>
              </a:lnSpc>
              <a:buNone/>
            </a:pPr>
            <a:r>
              <a:rPr lang="en-US" sz="1200" dirty="0">
                <a:solidFill>
                  <a:srgbClr val="FFE5E5"/>
                </a:solidFill>
                <a:latin typeface="DM Sans" pitchFamily="34" charset="0"/>
                <a:ea typeface="DM Sans" pitchFamily="34" charset="-122"/>
                <a:cs typeface="DM Sans" pitchFamily="34" charset="-120"/>
              </a:rPr>
              <a:t>Successful automation of blood group detection with a robust Machine learning model and image Processing concept.</a:t>
            </a:r>
            <a:endParaRPr lang="en-US" sz="1200" dirty="0"/>
          </a:p>
        </p:txBody>
      </p:sp>
      <p:pic>
        <p:nvPicPr>
          <p:cNvPr id="8" name="Image 2" descr="preencoded.png"/>
          <p:cNvPicPr>
            <a:picLocks noChangeAspect="1"/>
          </p:cNvPicPr>
          <p:nvPr/>
        </p:nvPicPr>
        <p:blipFill>
          <a:blip r:embed="rId5"/>
          <a:stretch>
            <a:fillRect/>
          </a:stretch>
        </p:blipFill>
        <p:spPr>
          <a:xfrm>
            <a:off x="546616" y="5304473"/>
            <a:ext cx="780931" cy="1249442"/>
          </a:xfrm>
          <a:prstGeom prst="rect">
            <a:avLst/>
          </a:prstGeom>
        </p:spPr>
      </p:pic>
      <p:sp>
        <p:nvSpPr>
          <p:cNvPr id="9" name="Text 4"/>
          <p:cNvSpPr/>
          <p:nvPr/>
        </p:nvSpPr>
        <p:spPr>
          <a:xfrm>
            <a:off x="1561743" y="5460563"/>
            <a:ext cx="2921079" cy="256818"/>
          </a:xfrm>
          <a:prstGeom prst="rect">
            <a:avLst/>
          </a:prstGeom>
          <a:noFill/>
          <a:ln/>
        </p:spPr>
        <p:txBody>
          <a:bodyPr wrap="none" lIns="0" tIns="0" rIns="0" bIns="0" rtlCol="0" anchor="t"/>
          <a:lstStyle/>
          <a:p>
            <a:pPr marL="0" indent="0" algn="l">
              <a:lnSpc>
                <a:spcPts val="2000"/>
              </a:lnSpc>
              <a:buNone/>
            </a:pPr>
            <a:r>
              <a:rPr lang="en-US" sz="2000" dirty="0">
                <a:solidFill>
                  <a:srgbClr val="FFE5E5"/>
                </a:solidFill>
                <a:latin typeface="Dela Gothic One" pitchFamily="34" charset="0"/>
                <a:ea typeface="Dela Gothic One" pitchFamily="34" charset="-122"/>
                <a:cs typeface="Dela Gothic One" pitchFamily="34" charset="-120"/>
              </a:rPr>
              <a:t>Real-World Applicability</a:t>
            </a:r>
            <a:endParaRPr lang="en-US" sz="2000" dirty="0"/>
          </a:p>
        </p:txBody>
      </p:sp>
      <p:sp>
        <p:nvSpPr>
          <p:cNvPr id="10" name="Text 5"/>
          <p:cNvSpPr/>
          <p:nvPr/>
        </p:nvSpPr>
        <p:spPr>
          <a:xfrm>
            <a:off x="1561743" y="5811083"/>
            <a:ext cx="12522041" cy="249912"/>
          </a:xfrm>
          <a:prstGeom prst="rect">
            <a:avLst/>
          </a:prstGeom>
          <a:noFill/>
          <a:ln/>
        </p:spPr>
        <p:txBody>
          <a:bodyPr wrap="none" lIns="0" tIns="0" rIns="0" bIns="0" rtlCol="0" anchor="t"/>
          <a:lstStyle/>
          <a:p>
            <a:pPr marL="0" indent="0" algn="l">
              <a:lnSpc>
                <a:spcPts val="1950"/>
              </a:lnSpc>
              <a:buNone/>
            </a:pPr>
            <a:r>
              <a:rPr lang="en-US" sz="1200" dirty="0">
                <a:solidFill>
                  <a:srgbClr val="FFE5E5"/>
                </a:solidFill>
                <a:latin typeface="DM Sans" pitchFamily="34" charset="0"/>
                <a:ea typeface="DM Sans" pitchFamily="34" charset="-122"/>
                <a:cs typeface="DM Sans" pitchFamily="34" charset="-120"/>
              </a:rPr>
              <a:t>Deployment of a user-friendly web application for real-time predictions in medical settings.</a:t>
            </a:r>
            <a:endParaRPr lang="en-US" sz="1200" dirty="0"/>
          </a:p>
        </p:txBody>
      </p:sp>
      <p:pic>
        <p:nvPicPr>
          <p:cNvPr id="11" name="Image 3" descr="preencoded.png"/>
          <p:cNvPicPr>
            <a:picLocks noChangeAspect="1"/>
          </p:cNvPicPr>
          <p:nvPr/>
        </p:nvPicPr>
        <p:blipFill>
          <a:blip r:embed="rId6"/>
          <a:stretch>
            <a:fillRect/>
          </a:stretch>
        </p:blipFill>
        <p:spPr>
          <a:xfrm>
            <a:off x="546616" y="6553914"/>
            <a:ext cx="780931" cy="1249442"/>
          </a:xfrm>
          <a:prstGeom prst="rect">
            <a:avLst/>
          </a:prstGeom>
        </p:spPr>
      </p:pic>
      <p:sp>
        <p:nvSpPr>
          <p:cNvPr id="12" name="Text 6"/>
          <p:cNvSpPr/>
          <p:nvPr/>
        </p:nvSpPr>
        <p:spPr>
          <a:xfrm>
            <a:off x="1561743" y="6710005"/>
            <a:ext cx="2055019" cy="256818"/>
          </a:xfrm>
          <a:prstGeom prst="rect">
            <a:avLst/>
          </a:prstGeom>
          <a:noFill/>
          <a:ln/>
        </p:spPr>
        <p:txBody>
          <a:bodyPr wrap="none" lIns="0" tIns="0" rIns="0" bIns="0" rtlCol="0" anchor="t"/>
          <a:lstStyle/>
          <a:p>
            <a:pPr marL="0" indent="0" algn="l">
              <a:lnSpc>
                <a:spcPts val="2000"/>
              </a:lnSpc>
              <a:buNone/>
            </a:pPr>
            <a:r>
              <a:rPr lang="en-US" sz="2000" dirty="0">
                <a:solidFill>
                  <a:srgbClr val="FFE5E5"/>
                </a:solidFill>
                <a:latin typeface="Dela Gothic One" pitchFamily="34" charset="0"/>
                <a:ea typeface="Dela Gothic One" pitchFamily="34" charset="-122"/>
                <a:cs typeface="Dela Gothic One" pitchFamily="34" charset="-120"/>
              </a:rPr>
              <a:t>Future Work</a:t>
            </a:r>
            <a:endParaRPr lang="en-US" sz="2000" dirty="0"/>
          </a:p>
        </p:txBody>
      </p:sp>
      <p:sp>
        <p:nvSpPr>
          <p:cNvPr id="13" name="Text 7"/>
          <p:cNvSpPr/>
          <p:nvPr/>
        </p:nvSpPr>
        <p:spPr>
          <a:xfrm>
            <a:off x="1561743" y="7060525"/>
            <a:ext cx="12522041" cy="249912"/>
          </a:xfrm>
          <a:prstGeom prst="rect">
            <a:avLst/>
          </a:prstGeom>
          <a:noFill/>
          <a:ln/>
        </p:spPr>
        <p:txBody>
          <a:bodyPr wrap="none" lIns="0" tIns="0" rIns="0" bIns="0" rtlCol="0" anchor="t"/>
          <a:lstStyle/>
          <a:p>
            <a:pPr marL="0" indent="0" algn="l">
              <a:lnSpc>
                <a:spcPts val="1950"/>
              </a:lnSpc>
              <a:buNone/>
            </a:pPr>
            <a:r>
              <a:rPr lang="en-US" sz="1200" dirty="0">
                <a:solidFill>
                  <a:srgbClr val="FFE5E5"/>
                </a:solidFill>
                <a:latin typeface="DM Sans" pitchFamily="34" charset="0"/>
                <a:ea typeface="DM Sans" pitchFamily="34" charset="-122"/>
                <a:cs typeface="DM Sans" pitchFamily="34" charset="-120"/>
              </a:rPr>
              <a:t>Expanding the dataset, optimizing the model further, and exploring integration with existing medical systems.</a:t>
            </a:r>
            <a:endParaRPr lang="en-US" sz="12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994</TotalTime>
  <Words>910</Words>
  <Application>Microsoft Office PowerPoint</Application>
  <PresentationFormat>Custom</PresentationFormat>
  <Paragraphs>137</Paragraphs>
  <Slides>20</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Century Gothic</vt:lpstr>
      <vt:lpstr>DM Sans Bold</vt:lpstr>
      <vt:lpstr>DM Sans</vt:lpstr>
      <vt:lpstr>Arial</vt:lpstr>
      <vt:lpstr>Arial Black</vt:lpstr>
      <vt:lpstr>DM Sans Medium</vt:lpstr>
      <vt:lpstr>Dela Gothic One</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rahul patel</cp:lastModifiedBy>
  <cp:revision>18</cp:revision>
  <dcterms:created xsi:type="dcterms:W3CDTF">2024-11-20T17:58:04Z</dcterms:created>
  <dcterms:modified xsi:type="dcterms:W3CDTF">2025-03-10T22:58:13Z</dcterms:modified>
</cp:coreProperties>
</file>