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2" r:id="rId2"/>
  </p:sldMasterIdLst>
  <p:notesMasterIdLst>
    <p:notesMasterId r:id="rId36"/>
  </p:notesMasterIdLst>
  <p:sldIdLst>
    <p:sldId id="256" r:id="rId3"/>
    <p:sldId id="257" r:id="rId4"/>
    <p:sldId id="259" r:id="rId5"/>
    <p:sldId id="298" r:id="rId6"/>
    <p:sldId id="261" r:id="rId7"/>
    <p:sldId id="300" r:id="rId8"/>
    <p:sldId id="263" r:id="rId9"/>
    <p:sldId id="268" r:id="rId10"/>
    <p:sldId id="267" r:id="rId11"/>
    <p:sldId id="269" r:id="rId12"/>
    <p:sldId id="312" r:id="rId13"/>
    <p:sldId id="313" r:id="rId14"/>
    <p:sldId id="276" r:id="rId15"/>
    <p:sldId id="302" r:id="rId16"/>
    <p:sldId id="303" r:id="rId17"/>
    <p:sldId id="310" r:id="rId18"/>
    <p:sldId id="304" r:id="rId19"/>
    <p:sldId id="278" r:id="rId20"/>
    <p:sldId id="280" r:id="rId21"/>
    <p:sldId id="282" r:id="rId22"/>
    <p:sldId id="305" r:id="rId23"/>
    <p:sldId id="284" r:id="rId24"/>
    <p:sldId id="286" r:id="rId25"/>
    <p:sldId id="306" r:id="rId26"/>
    <p:sldId id="307" r:id="rId27"/>
    <p:sldId id="288" r:id="rId28"/>
    <p:sldId id="270" r:id="rId29"/>
    <p:sldId id="308" r:id="rId30"/>
    <p:sldId id="309" r:id="rId31"/>
    <p:sldId id="311" r:id="rId32"/>
    <p:sldId id="292" r:id="rId33"/>
    <p:sldId id="294" r:id="rId34"/>
    <p:sldId id="296" r:id="rId35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3462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4891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2107-BD50-6807-60F2-66E360ACB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2EA02F-9C44-1702-649B-D687FB9C5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43509-C4E2-349B-77E2-37AA896EB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7FD91-DC84-004F-B917-9DE09B0FD5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5312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7A137-F5F6-97C2-419A-4FB3C76C9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57A2D-2AA6-CDFF-5B9E-B0525D33C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AF559-699E-00E8-FFD0-F54E270A5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D1939-7392-1AEE-059C-EDCC7093EE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48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1737361"/>
            <a:ext cx="10590790" cy="3995497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1613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1870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3434080"/>
            <a:ext cx="10590788" cy="229877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5732857"/>
            <a:ext cx="10590790" cy="1032480"/>
          </a:xfrm>
        </p:spPr>
        <p:txBody>
          <a:bodyPr anchor="t"/>
          <a:lstStyle>
            <a:lvl1pPr marL="0" indent="0" algn="l">
              <a:buNone/>
              <a:defRPr sz="24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4489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3975" y="2472690"/>
            <a:ext cx="5275607" cy="503491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5392" y="2467311"/>
            <a:ext cx="5275609" cy="5040294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2942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286000"/>
            <a:ext cx="527560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397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85395" y="2286000"/>
            <a:ext cx="5275607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8539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90463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23018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3549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4" y="1737360"/>
            <a:ext cx="4081277" cy="173736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540" y="1737360"/>
            <a:ext cx="6235196" cy="5486400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4" y="3755137"/>
            <a:ext cx="4081276" cy="3474719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4774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689" y="2225030"/>
            <a:ext cx="6111487" cy="188977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39455" y="1371600"/>
            <a:ext cx="3840480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6101975" cy="164592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5224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5760704"/>
            <a:ext cx="10590788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6" y="822960"/>
            <a:ext cx="10590790" cy="436879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7" y="6440790"/>
            <a:ext cx="10590787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87425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737360"/>
            <a:ext cx="10590791" cy="2377440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10590791" cy="283464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37716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762" y="1737360"/>
            <a:ext cx="9599178" cy="2788049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316481" y="4525409"/>
            <a:ext cx="8735579" cy="41060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5220788"/>
            <a:ext cx="10590791" cy="201168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77954" y="1165504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6588" y="3136545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208869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749041"/>
            <a:ext cx="10590792" cy="198381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5732857"/>
            <a:ext cx="10590791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85491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9537" y="2377440"/>
            <a:ext cx="353623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782956" y="3200400"/>
            <a:ext cx="3512820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0392" y="2377440"/>
            <a:ext cx="352348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647727" y="3200400"/>
            <a:ext cx="3536153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2377440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8549640" y="3200400"/>
            <a:ext cx="3518536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05774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956" y="5101139"/>
            <a:ext cx="352806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82956" y="2651760"/>
            <a:ext cx="352806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782956" y="5792654"/>
            <a:ext cx="3528060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7251" y="5101139"/>
            <a:ext cx="351663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667249" y="2651760"/>
            <a:ext cx="351663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665627" y="5792653"/>
            <a:ext cx="3521287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5101139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549639" y="2651760"/>
            <a:ext cx="3518536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8549491" y="5792650"/>
            <a:ext cx="3523196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47960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384923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65055" y="516256"/>
            <a:ext cx="2103121" cy="699135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2956" y="1064897"/>
            <a:ext cx="8907779" cy="64427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062507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762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8884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654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7486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21349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0995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68407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39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slideLayout" Target="../slideLayouts/slideLayout27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29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28" Type="http://schemas.openxmlformats.org/officeDocument/2006/relationships/image" Target="../media/image4.png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Relationship Id="rId27" Type="http://schemas.openxmlformats.org/officeDocument/2006/relationships/image" Target="../media/image3.png"/><Relationship Id="rId30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203623"/>
            <a:ext cx="4844414" cy="50259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470817"/>
            <a:ext cx="1826894" cy="2838544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0330814" y="2011680"/>
            <a:ext cx="3383280" cy="33832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9599295" y="1"/>
            <a:ext cx="1924064" cy="13696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0327054" y="7315200"/>
            <a:ext cx="1192481" cy="914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5334" y="543262"/>
            <a:ext cx="11285668" cy="16806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463502"/>
            <a:ext cx="10735849" cy="503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2186767" y="2148842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0741888" y="3870357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359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7" r:id="rId24"/>
    <p:sldLayoutId id="2147483678" r:id="rId25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504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6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2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0072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7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35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7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1033" y="6362610"/>
            <a:ext cx="6047323" cy="9601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2508" y="4758107"/>
            <a:ext cx="6047323" cy="9601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592904" y="553715"/>
            <a:ext cx="8010144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10"/>
              </a:lnSpc>
              <a:buNone/>
            </a:pPr>
            <a:r>
              <a:rPr lang="en-US" sz="6410" b="1" i="1" dirty="0">
                <a:solidFill>
                  <a:schemeClr val="accent2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Blood Group Detection Using InfraRed Image and Machine Learning</a:t>
            </a:r>
            <a:endParaRPr lang="en-US" sz="6410" b="1" i="1" dirty="0">
              <a:solidFill>
                <a:schemeClr val="accent2"/>
              </a:solidFill>
            </a:endParaRPr>
          </a:p>
        </p:txBody>
      </p:sp>
      <p:sp>
        <p:nvSpPr>
          <p:cNvPr id="8" name="Text 2"/>
          <p:cNvSpPr/>
          <p:nvPr/>
        </p:nvSpPr>
        <p:spPr>
          <a:xfrm>
            <a:off x="5784388" y="4998202"/>
            <a:ext cx="338328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Roll No.: UI22EC58 (Rahul Patel) 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69915385-46AE-F283-2A7D-7B852F071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8" y="995779"/>
            <a:ext cx="2419111" cy="2914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1C39E53-BA8C-35A4-0B6C-D082757114B1}"/>
              </a:ext>
            </a:extLst>
          </p:cNvPr>
          <p:cNvSpPr txBox="1"/>
          <p:nvPr/>
        </p:nvSpPr>
        <p:spPr>
          <a:xfrm>
            <a:off x="8982636" y="6473338"/>
            <a:ext cx="73367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Under the guidance of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             Mr. Rahul Patel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B5E2CD-F830-B851-6AC6-C38431850AE2}"/>
              </a:ext>
            </a:extLst>
          </p:cNvPr>
          <p:cNvSpPr txBox="1"/>
          <p:nvPr/>
        </p:nvSpPr>
        <p:spPr>
          <a:xfrm>
            <a:off x="432587" y="4608284"/>
            <a:ext cx="45998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DEPARTMENT OF ELECTRONICS AND COMMUNICATION ENGINEERING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June, 2022-26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INDIAN INSTITUTE OF INFORMATION TECHNOLOGY SURAT-394190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9245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8992" y="2066544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1. Problem Statement</a:t>
            </a:r>
            <a:endParaRPr lang="en-US" sz="2320" dirty="0"/>
          </a:p>
        </p:txBody>
      </p:sp>
      <p:sp>
        <p:nvSpPr>
          <p:cNvPr id="4" name="Text 1"/>
          <p:cNvSpPr/>
          <p:nvPr/>
        </p:nvSpPr>
        <p:spPr>
          <a:xfrm>
            <a:off x="7571232" y="5870448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14. Confusion Matrix</a:t>
            </a:r>
            <a:endParaRPr lang="en-US" sz="2320" dirty="0"/>
          </a:p>
        </p:txBody>
      </p:sp>
      <p:sp>
        <p:nvSpPr>
          <p:cNvPr id="5" name="Text 2"/>
          <p:cNvSpPr/>
          <p:nvPr/>
        </p:nvSpPr>
        <p:spPr>
          <a:xfrm>
            <a:off x="1078992" y="5870448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13. Evaluation Metrics</a:t>
            </a:r>
            <a:endParaRPr lang="en-US" sz="2320" dirty="0"/>
          </a:p>
        </p:txBody>
      </p:sp>
      <p:sp>
        <p:nvSpPr>
          <p:cNvPr id="6" name="Text 3"/>
          <p:cNvSpPr/>
          <p:nvPr/>
        </p:nvSpPr>
        <p:spPr>
          <a:xfrm>
            <a:off x="1078992" y="2706624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3. Proposed Solution</a:t>
            </a:r>
            <a:endParaRPr lang="en-US" sz="2320" dirty="0"/>
          </a:p>
        </p:txBody>
      </p:sp>
      <p:sp>
        <p:nvSpPr>
          <p:cNvPr id="7" name="Text 4"/>
          <p:cNvSpPr/>
          <p:nvPr/>
        </p:nvSpPr>
        <p:spPr>
          <a:xfrm>
            <a:off x="7571232" y="2706624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4. Market Research &amp; Validation</a:t>
            </a:r>
            <a:endParaRPr lang="en-US" sz="2320" dirty="0"/>
          </a:p>
        </p:txBody>
      </p:sp>
      <p:sp>
        <p:nvSpPr>
          <p:cNvPr id="8" name="Text 5"/>
          <p:cNvSpPr/>
          <p:nvPr/>
        </p:nvSpPr>
        <p:spPr>
          <a:xfrm>
            <a:off x="1078992" y="3337560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5. Target Market</a:t>
            </a:r>
            <a:endParaRPr lang="en-US" sz="2320" dirty="0"/>
          </a:p>
        </p:txBody>
      </p:sp>
      <p:sp>
        <p:nvSpPr>
          <p:cNvPr id="9" name="Text 6"/>
          <p:cNvSpPr/>
          <p:nvPr/>
        </p:nvSpPr>
        <p:spPr>
          <a:xfrm>
            <a:off x="7571232" y="2066544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2. Objective</a:t>
            </a:r>
            <a:endParaRPr lang="en-US" sz="2320" dirty="0"/>
          </a:p>
        </p:txBody>
      </p:sp>
      <p:sp>
        <p:nvSpPr>
          <p:cNvPr id="10" name="Text 7"/>
          <p:cNvSpPr/>
          <p:nvPr/>
        </p:nvSpPr>
        <p:spPr>
          <a:xfrm>
            <a:off x="7571232" y="6510528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16. Go-To-Market Strategy</a:t>
            </a:r>
            <a:endParaRPr lang="en-US" sz="2320" dirty="0"/>
          </a:p>
        </p:txBody>
      </p:sp>
      <p:sp>
        <p:nvSpPr>
          <p:cNvPr id="11" name="Text 8"/>
          <p:cNvSpPr/>
          <p:nvPr/>
        </p:nvSpPr>
        <p:spPr>
          <a:xfrm>
            <a:off x="1078992" y="7141464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17. Uniqueness &amp; Innovation</a:t>
            </a:r>
            <a:endParaRPr lang="en-US" sz="2320" dirty="0"/>
          </a:p>
        </p:txBody>
      </p:sp>
      <p:sp>
        <p:nvSpPr>
          <p:cNvPr id="12" name="Text 9"/>
          <p:cNvSpPr/>
          <p:nvPr/>
        </p:nvSpPr>
        <p:spPr>
          <a:xfrm>
            <a:off x="7571232" y="7141464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18. Future Roadmap</a:t>
            </a:r>
            <a:endParaRPr lang="en-US" sz="2320" dirty="0"/>
          </a:p>
        </p:txBody>
      </p:sp>
      <p:sp>
        <p:nvSpPr>
          <p:cNvPr id="13" name="Text 10"/>
          <p:cNvSpPr/>
          <p:nvPr/>
        </p:nvSpPr>
        <p:spPr>
          <a:xfrm>
            <a:off x="1078992" y="3968496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7. Business Model</a:t>
            </a:r>
            <a:endParaRPr lang="en-US" sz="2320" dirty="0"/>
          </a:p>
        </p:txBody>
      </p:sp>
      <p:sp>
        <p:nvSpPr>
          <p:cNvPr id="14" name="Text 11"/>
          <p:cNvSpPr/>
          <p:nvPr/>
        </p:nvSpPr>
        <p:spPr>
          <a:xfrm>
            <a:off x="7571232" y="4608576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10. Preprocessing Steps</a:t>
            </a:r>
            <a:endParaRPr lang="en-US" sz="2320" dirty="0"/>
          </a:p>
        </p:txBody>
      </p:sp>
      <p:sp>
        <p:nvSpPr>
          <p:cNvPr id="15" name="Text 12"/>
          <p:cNvSpPr/>
          <p:nvPr/>
        </p:nvSpPr>
        <p:spPr>
          <a:xfrm>
            <a:off x="1078992" y="7781544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19. Conclusion &amp; Final Ask</a:t>
            </a:r>
            <a:endParaRPr lang="en-US" sz="2320" dirty="0"/>
          </a:p>
        </p:txBody>
      </p:sp>
      <p:sp>
        <p:nvSpPr>
          <p:cNvPr id="16" name="Text 13"/>
          <p:cNvSpPr/>
          <p:nvPr/>
        </p:nvSpPr>
        <p:spPr>
          <a:xfrm>
            <a:off x="1078992" y="4608576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9. Dataset Overview</a:t>
            </a:r>
            <a:endParaRPr lang="en-US" sz="2320" dirty="0"/>
          </a:p>
        </p:txBody>
      </p:sp>
      <p:sp>
        <p:nvSpPr>
          <p:cNvPr id="17" name="Text 14"/>
          <p:cNvSpPr/>
          <p:nvPr/>
        </p:nvSpPr>
        <p:spPr>
          <a:xfrm>
            <a:off x="7571232" y="3968496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8. Logo &amp; Tagline Redesign</a:t>
            </a:r>
            <a:endParaRPr lang="en-US" sz="2320" dirty="0"/>
          </a:p>
        </p:txBody>
      </p:sp>
      <p:sp>
        <p:nvSpPr>
          <p:cNvPr id="18" name="Text 15"/>
          <p:cNvSpPr/>
          <p:nvPr/>
        </p:nvSpPr>
        <p:spPr>
          <a:xfrm>
            <a:off x="1078992" y="5239512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11. Model Architecture</a:t>
            </a:r>
            <a:endParaRPr lang="en-US" sz="2320" dirty="0"/>
          </a:p>
        </p:txBody>
      </p:sp>
      <p:sp>
        <p:nvSpPr>
          <p:cNvPr id="19" name="Text 16"/>
          <p:cNvSpPr/>
          <p:nvPr/>
        </p:nvSpPr>
        <p:spPr>
          <a:xfrm>
            <a:off x="7571232" y="3337560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6. Competitive Analysis</a:t>
            </a:r>
            <a:endParaRPr lang="en-US" sz="2320" dirty="0"/>
          </a:p>
        </p:txBody>
      </p:sp>
      <p:sp>
        <p:nvSpPr>
          <p:cNvPr id="20" name="Text 17"/>
          <p:cNvSpPr/>
          <p:nvPr/>
        </p:nvSpPr>
        <p:spPr>
          <a:xfrm>
            <a:off x="832104" y="649224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10"/>
              </a:lnSpc>
              <a:buNone/>
            </a:pPr>
            <a:r>
              <a:rPr lang="en-US" sz="641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CONTENTS</a:t>
            </a:r>
            <a:endParaRPr lang="en-US" sz="6410" b="1" dirty="0"/>
          </a:p>
        </p:txBody>
      </p:sp>
      <p:sp>
        <p:nvSpPr>
          <p:cNvPr id="21" name="Text 18"/>
          <p:cNvSpPr/>
          <p:nvPr/>
        </p:nvSpPr>
        <p:spPr>
          <a:xfrm>
            <a:off x="7571232" y="5239512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12. Training Parameters</a:t>
            </a:r>
            <a:endParaRPr lang="en-US" sz="2320" dirty="0"/>
          </a:p>
        </p:txBody>
      </p:sp>
      <p:sp>
        <p:nvSpPr>
          <p:cNvPr id="22" name="Text 19"/>
          <p:cNvSpPr/>
          <p:nvPr/>
        </p:nvSpPr>
        <p:spPr>
          <a:xfrm>
            <a:off x="1078992" y="6510528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15. MVP – Web Application Demo</a:t>
            </a:r>
            <a:endParaRPr lang="en-US" sz="2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791" y="-12877"/>
            <a:ext cx="14673191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62" y="-6131"/>
            <a:ext cx="14630400" cy="2834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402" y="5422553"/>
            <a:ext cx="6345936" cy="144125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499" y="3213631"/>
            <a:ext cx="6217742" cy="1441252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44146" y="3423122"/>
            <a:ext cx="5870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Manual blood group detection is time-consuming, error-prone, and inaccessible in remote areas.</a:t>
            </a:r>
            <a:endParaRPr lang="en-US" sz="2400" dirty="0"/>
          </a:p>
        </p:txBody>
      </p:sp>
      <p:sp>
        <p:nvSpPr>
          <p:cNvPr id="8" name="Text 2"/>
          <p:cNvSpPr/>
          <p:nvPr/>
        </p:nvSpPr>
        <p:spPr>
          <a:xfrm>
            <a:off x="666566" y="5805068"/>
            <a:ext cx="5870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High demand for rapid, reliable, and automated solutions.</a:t>
            </a:r>
            <a:endParaRPr lang="en-US" sz="2400" dirty="0"/>
          </a:p>
        </p:txBody>
      </p:sp>
      <p:sp>
        <p:nvSpPr>
          <p:cNvPr id="9" name="Text 0"/>
          <p:cNvSpPr/>
          <p:nvPr/>
        </p:nvSpPr>
        <p:spPr>
          <a:xfrm>
            <a:off x="457200" y="905256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10"/>
              </a:lnSpc>
              <a:buNone/>
            </a:pPr>
            <a:r>
              <a:rPr lang="en-US" sz="641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1. Problem Statement</a:t>
            </a:r>
            <a:endParaRPr lang="en-US" sz="6410" b="1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4976F0D4-0DEA-5B0B-70C1-B29C6C0B4705}"/>
              </a:ext>
            </a:extLst>
          </p:cNvPr>
          <p:cNvSpPr/>
          <p:nvPr/>
        </p:nvSpPr>
        <p:spPr>
          <a:xfrm>
            <a:off x="7842160" y="3372860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A8341622-33E9-43EF-3CE1-79D789D219BB}"/>
              </a:ext>
            </a:extLst>
          </p:cNvPr>
          <p:cNvSpPr/>
          <p:nvPr/>
        </p:nvSpPr>
        <p:spPr>
          <a:xfrm>
            <a:off x="7887699" y="3484419"/>
            <a:ext cx="30134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457200" rtl="0" eaLnBrk="1" fontAlgn="auto" latinLnBrk="0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</a:rPr>
              <a:t>1</a:t>
            </a:r>
            <a:endParaRPr kumimoji="0" lang="en-US" sz="26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436B2036-376A-A701-B113-EFE4ADF73AE9}"/>
              </a:ext>
            </a:extLst>
          </p:cNvPr>
          <p:cNvSpPr/>
          <p:nvPr/>
        </p:nvSpPr>
        <p:spPr>
          <a:xfrm>
            <a:off x="8445605" y="347355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Significance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08F50863-CAF1-7477-262A-94F239F57409}"/>
              </a:ext>
            </a:extLst>
          </p:cNvPr>
          <p:cNvSpPr/>
          <p:nvPr/>
        </p:nvSpPr>
        <p:spPr>
          <a:xfrm>
            <a:off x="8445605" y="3907886"/>
            <a:ext cx="4209239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Faster blood group identification is crucial in emergency and medical scenarios.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B5271244-3917-D7B3-BB7C-9A4BA6D0A8AA}"/>
              </a:ext>
            </a:extLst>
          </p:cNvPr>
          <p:cNvSpPr/>
          <p:nvPr/>
        </p:nvSpPr>
        <p:spPr>
          <a:xfrm>
            <a:off x="7887699" y="5565702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979D89E5-E33E-81D0-2753-91A02B31B7A0}"/>
              </a:ext>
            </a:extLst>
          </p:cNvPr>
          <p:cNvSpPr/>
          <p:nvPr/>
        </p:nvSpPr>
        <p:spPr>
          <a:xfrm>
            <a:off x="7973424" y="5673040"/>
            <a:ext cx="315992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457200" rtl="0" eaLnBrk="1" fontAlgn="auto" latinLnBrk="0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</a:rPr>
              <a:t>2</a:t>
            </a:r>
            <a:endParaRPr kumimoji="0" lang="en-US" sz="26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EB959846-A13A-F527-D9DB-2622F78617A9}"/>
              </a:ext>
            </a:extLst>
          </p:cNvPr>
          <p:cNvSpPr/>
          <p:nvPr/>
        </p:nvSpPr>
        <p:spPr>
          <a:xfrm>
            <a:off x="8492415" y="562695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Benefits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134F117E-8F2D-4C2B-9CF2-20F04815729F}"/>
              </a:ext>
            </a:extLst>
          </p:cNvPr>
          <p:cNvSpPr/>
          <p:nvPr/>
        </p:nvSpPr>
        <p:spPr>
          <a:xfrm>
            <a:off x="8492415" y="6053144"/>
            <a:ext cx="390278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Reduces human errors and improves the accuracy of blood group testing.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148" y="120955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AEBEB"/>
                </a:solidFill>
                <a:effectLst/>
                <a:uLnTx/>
                <a:uFillTx/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Abstract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2314799"/>
            <a:ext cx="13476980" cy="2027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focuses on automating blood group detection using spectroscopic images. Our approach utilizes a Machine learning model based on the VGG16 architecture, specifically fine-tuned for this classification task. This model has achieved a high accuracy of </a:t>
            </a: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87.34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%, demonstrating its potential for efficient and reliable blood group determination. We have also developed a user-friendly web application that allows for easy integration into various medical settings.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8309" y="4342328"/>
            <a:ext cx="4226838" cy="2321362"/>
          </a:xfrm>
          <a:prstGeom prst="roundRect">
            <a:avLst>
              <a:gd name="adj" fmla="val 392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2504" y="456652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0000"/>
                    <a:lumOff val="80000"/>
                  </a:schemeClr>
                </a:solidFill>
                <a:effectLst/>
                <a:uLnTx/>
                <a:uFillTx/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Objective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0000"/>
                  <a:lumOff val="80000"/>
                </a:scheme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2504" y="5052655"/>
            <a:ext cx="377844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Develop an automated system for blood group detection using image analysis and Machine learning.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201722" y="4342328"/>
            <a:ext cx="4226838" cy="2321362"/>
          </a:xfrm>
          <a:prstGeom prst="roundRect">
            <a:avLst>
              <a:gd name="adj" fmla="val 392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5916" y="456652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0000"/>
                    <a:lumOff val="80000"/>
                  </a:schemeClr>
                </a:solidFill>
                <a:effectLst/>
                <a:uLnTx/>
                <a:uFillTx/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Approach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0000"/>
                  <a:lumOff val="80000"/>
                </a:scheme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25916" y="5052655"/>
            <a:ext cx="377844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Employ a Machine learning model based on VGG16 architecture, fine-tuned for 8-class blood group classification.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645134" y="4342328"/>
            <a:ext cx="4226838" cy="2321362"/>
          </a:xfrm>
          <a:prstGeom prst="roundRect">
            <a:avLst>
              <a:gd name="adj" fmla="val 392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69329" y="456652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0000"/>
                    <a:lumOff val="80000"/>
                  </a:schemeClr>
                </a:solidFill>
                <a:effectLst/>
                <a:uLnTx/>
                <a:uFillTx/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0000"/>
                  <a:lumOff val="80000"/>
                </a:scheme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869329" y="5052655"/>
            <a:ext cx="377844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Achieved a </a:t>
            </a: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87.34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% accuracy on the test dataset and developed a user-friendly web application for real-time predictions.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0" y="-9144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5776" y="2187928"/>
            <a:ext cx="75072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To develop an automated blood group detection system using spectroscopic images and machine learning.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255776" y="3401568"/>
            <a:ext cx="7507224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Improve speed, reliability, and accessibility.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832104" y="1014984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2. Objective</a:t>
            </a:r>
            <a:endParaRPr lang="en-US" sz="6000" b="1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1DB48F11-0217-C66A-885F-D0C875F3B0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2192"/>
            <a:ext cx="5486400" cy="8229600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03824750-2787-F57D-D495-3B9480C542AF}"/>
              </a:ext>
            </a:extLst>
          </p:cNvPr>
          <p:cNvSpPr/>
          <p:nvPr/>
        </p:nvSpPr>
        <p:spPr>
          <a:xfrm>
            <a:off x="1255776" y="4229100"/>
            <a:ext cx="7665720" cy="1351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explores the use of machine learning to automate blood group detection using spectroscopic image processing. The goal is to develop a system that can accurately predict blood groups from images, leading to faster and more reliable blood group identification.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D3D0E9-CF3F-1495-9371-3B096E8FB5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361" r="58390"/>
          <a:stretch/>
        </p:blipFill>
        <p:spPr>
          <a:xfrm>
            <a:off x="852470" y="1064156"/>
            <a:ext cx="6248239" cy="511986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4DEB1F5-680A-B593-A5C8-4A8D779DD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731444" y="892176"/>
            <a:ext cx="4629150" cy="54638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1FB3B6-EB23-DC1E-5164-8143A6062ADA}"/>
              </a:ext>
            </a:extLst>
          </p:cNvPr>
          <p:cNvSpPr txBox="1"/>
          <p:nvPr/>
        </p:nvSpPr>
        <p:spPr>
          <a:xfrm>
            <a:off x="400050" y="351853"/>
            <a:ext cx="12378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Traditional Method Error  (Not 100% Accuracy)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9C2E15-6D22-8D7A-7FD6-6B7B054A0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053691"/>
              </p:ext>
            </p:extLst>
          </p:nvPr>
        </p:nvGraphicFramePr>
        <p:xfrm>
          <a:off x="2540000" y="6407683"/>
          <a:ext cx="975360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63090062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34720221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Blood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443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  <a:r>
                        <a:rPr lang="en-IN" sz="1200" dirty="0"/>
                        <a:t>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AB+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102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After 8</a:t>
                      </a:r>
                      <a:r>
                        <a:rPr lang="en-IN" sz="1200" dirty="0"/>
                        <a:t>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948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9336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834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507991"/>
            <a:ext cx="4142232" cy="12154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656" y="4507992"/>
            <a:ext cx="4142232" cy="121547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4" y="4507992"/>
            <a:ext cx="4142232" cy="121547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78992" y="4626864"/>
            <a:ext cx="36758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VGG16-based ML model trained on spectroscopic images</a:t>
            </a:r>
            <a:endParaRPr lang="en-US" sz="2400" dirty="0"/>
          </a:p>
        </p:txBody>
      </p:sp>
      <p:sp>
        <p:nvSpPr>
          <p:cNvPr id="8" name="Text 1"/>
          <p:cNvSpPr/>
          <p:nvPr/>
        </p:nvSpPr>
        <p:spPr>
          <a:xfrm>
            <a:off x="9893808" y="4626864"/>
            <a:ext cx="3675888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87.34% test accuracy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>
            <a:off x="5486400" y="4626864"/>
            <a:ext cx="36758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Flask-based web app for real-time detection</a:t>
            </a:r>
            <a:endParaRPr lang="en-US" sz="2400" dirty="0"/>
          </a:p>
        </p:txBody>
      </p:sp>
      <p:sp>
        <p:nvSpPr>
          <p:cNvPr id="10" name="Text 3"/>
          <p:cNvSpPr/>
          <p:nvPr/>
        </p:nvSpPr>
        <p:spPr>
          <a:xfrm>
            <a:off x="841248" y="313481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3. Proposed Solution</a:t>
            </a:r>
            <a:endParaRPr lang="en-US" sz="464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0937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6145" y="2556034"/>
            <a:ext cx="4407932" cy="550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AEBEB"/>
                </a:solidFill>
                <a:effectLst/>
                <a:uLnTx/>
                <a:uFillTx/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Methodology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586145" y="3358158"/>
            <a:ext cx="13458111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The methodology involves a series of steps, starting with data Preprocessing , followed by model architecture, evaluation, and finally, deployment. Each step plays a crucial role in building a robust and accurate system for automated blood group detection.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303770" y="4082534"/>
            <a:ext cx="22860" cy="3684627"/>
          </a:xfrm>
          <a:prstGeom prst="roundRect">
            <a:avLst>
              <a:gd name="adj" fmla="val 307746"/>
            </a:avLst>
          </a:prstGeom>
          <a:solidFill>
            <a:srgbClr val="8D2424"/>
          </a:solidFill>
          <a:ln/>
        </p:spPr>
      </p:sp>
      <p:sp>
        <p:nvSpPr>
          <p:cNvPr id="6" name="Shape 3"/>
          <p:cNvSpPr/>
          <p:nvPr/>
        </p:nvSpPr>
        <p:spPr>
          <a:xfrm>
            <a:off x="6563499" y="4447818"/>
            <a:ext cx="586145" cy="22860"/>
          </a:xfrm>
          <a:prstGeom prst="roundRect">
            <a:avLst>
              <a:gd name="adj" fmla="val 307746"/>
            </a:avLst>
          </a:prstGeom>
          <a:solidFill>
            <a:srgbClr val="8D2424"/>
          </a:solidFill>
          <a:ln/>
        </p:spPr>
      </p:sp>
      <p:sp>
        <p:nvSpPr>
          <p:cNvPr id="7" name="Shape 4"/>
          <p:cNvSpPr/>
          <p:nvPr/>
        </p:nvSpPr>
        <p:spPr>
          <a:xfrm>
            <a:off x="7126784" y="4270891"/>
            <a:ext cx="376833" cy="376833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37393" y="4327088"/>
            <a:ext cx="155496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457200" rtl="0" eaLnBrk="1" fontAlgn="auto" latinLnBrk="0" hangingPunct="1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50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kumimoji="0" lang="en-US" sz="2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3772138" y="4249936"/>
            <a:ext cx="2621875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r" defTabSz="4572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 Preprocessing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86145" y="4625816"/>
            <a:ext cx="5807869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Image resizing, augmentation, and splitting into training, validation, and test sets.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480756" y="5285184"/>
            <a:ext cx="586145" cy="22860"/>
          </a:xfrm>
          <a:prstGeom prst="roundRect">
            <a:avLst>
              <a:gd name="adj" fmla="val 307746"/>
            </a:avLst>
          </a:prstGeom>
          <a:solidFill>
            <a:srgbClr val="8D2424"/>
          </a:solidFill>
          <a:ln/>
        </p:spPr>
      </p:sp>
      <p:sp>
        <p:nvSpPr>
          <p:cNvPr id="12" name="Shape 9"/>
          <p:cNvSpPr/>
          <p:nvPr/>
        </p:nvSpPr>
        <p:spPr>
          <a:xfrm>
            <a:off x="7126784" y="5108258"/>
            <a:ext cx="376833" cy="376833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04770" y="5164455"/>
            <a:ext cx="220742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457200" rtl="0" eaLnBrk="1" fontAlgn="auto" latinLnBrk="0" hangingPunct="1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50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kumimoji="0" lang="en-US" sz="2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36387" y="5087303"/>
            <a:ext cx="2526268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Model Architecture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236387" y="5463183"/>
            <a:ext cx="5807869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Utilization of a pretrained VGG16 network, fine-tuned for 8-class classification, with custom dense layers and softmax activation.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563499" y="6038850"/>
            <a:ext cx="586145" cy="22860"/>
          </a:xfrm>
          <a:prstGeom prst="roundRect">
            <a:avLst>
              <a:gd name="adj" fmla="val 307746"/>
            </a:avLst>
          </a:prstGeom>
          <a:solidFill>
            <a:srgbClr val="8D2424"/>
          </a:solidFill>
          <a:ln/>
        </p:spPr>
      </p:sp>
      <p:sp>
        <p:nvSpPr>
          <p:cNvPr id="17" name="Shape 14"/>
          <p:cNvSpPr/>
          <p:nvPr/>
        </p:nvSpPr>
        <p:spPr>
          <a:xfrm>
            <a:off x="7126784" y="5861923"/>
            <a:ext cx="376833" cy="376833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98697" y="5918121"/>
            <a:ext cx="232886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457200" rtl="0" eaLnBrk="1" fontAlgn="auto" latinLnBrk="0" hangingPunct="1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50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kumimoji="0" lang="en-US" sz="2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190048" y="5840968"/>
            <a:ext cx="2203966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r" defTabSz="4572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Evaluation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86145" y="6216848"/>
            <a:ext cx="5807869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Assessment of model performance using metrics such as accuracy, confusion matrix, and loss.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480756" y="6792516"/>
            <a:ext cx="586145" cy="22860"/>
          </a:xfrm>
          <a:prstGeom prst="roundRect">
            <a:avLst>
              <a:gd name="adj" fmla="val 307746"/>
            </a:avLst>
          </a:prstGeom>
          <a:solidFill>
            <a:srgbClr val="8D2424"/>
          </a:solidFill>
          <a:ln/>
        </p:spPr>
      </p:sp>
      <p:sp>
        <p:nvSpPr>
          <p:cNvPr id="22" name="Shape 19"/>
          <p:cNvSpPr/>
          <p:nvPr/>
        </p:nvSpPr>
        <p:spPr>
          <a:xfrm>
            <a:off x="7126784" y="6615589"/>
            <a:ext cx="376833" cy="376833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92982" y="6671786"/>
            <a:ext cx="244316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457200" rtl="0" eaLnBrk="1" fontAlgn="auto" latinLnBrk="0" hangingPunct="1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50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kumimoji="0" lang="en-US" sz="2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236387" y="6594634"/>
            <a:ext cx="2203966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Deployment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236387" y="6970514"/>
            <a:ext cx="5807869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Implementation of a Flask-based web application for real-time blood group predictions.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041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" y="0"/>
            <a:ext cx="14575536" cy="817473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4960620"/>
            <a:ext cx="6345936" cy="56692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" y="4997196"/>
            <a:ext cx="6345936" cy="56692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032504"/>
            <a:ext cx="6345936" cy="56692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" y="5993892"/>
            <a:ext cx="12957048" cy="56692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4059936"/>
            <a:ext cx="6345936" cy="566928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7562089" y="4146804"/>
            <a:ext cx="5870448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Emergency Services</a:t>
            </a:r>
            <a:endParaRPr lang="en-US" sz="2400" dirty="0"/>
          </a:p>
        </p:txBody>
      </p:sp>
      <p:sp>
        <p:nvSpPr>
          <p:cNvPr id="10" name="Text 1"/>
          <p:cNvSpPr/>
          <p:nvPr/>
        </p:nvSpPr>
        <p:spPr>
          <a:xfrm>
            <a:off x="950977" y="4133088"/>
            <a:ext cx="5870448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Hospitals &amp; Blood Banks</a:t>
            </a:r>
            <a:endParaRPr lang="en-US" sz="2400" dirty="0"/>
          </a:p>
        </p:txBody>
      </p:sp>
      <p:sp>
        <p:nvSpPr>
          <p:cNvPr id="11" name="Text 2"/>
          <p:cNvSpPr/>
          <p:nvPr/>
        </p:nvSpPr>
        <p:spPr>
          <a:xfrm>
            <a:off x="832104" y="294436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5. Target Market</a:t>
            </a:r>
            <a:endParaRPr lang="en-US" sz="4640" b="1" dirty="0"/>
          </a:p>
        </p:txBody>
      </p:sp>
      <p:sp>
        <p:nvSpPr>
          <p:cNvPr id="12" name="Text 3"/>
          <p:cNvSpPr/>
          <p:nvPr/>
        </p:nvSpPr>
        <p:spPr>
          <a:xfrm>
            <a:off x="7562089" y="5074920"/>
            <a:ext cx="5870448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Military &amp; Disaster Teams</a:t>
            </a:r>
            <a:endParaRPr lang="en-US" sz="2400" dirty="0"/>
          </a:p>
        </p:txBody>
      </p:sp>
      <p:sp>
        <p:nvSpPr>
          <p:cNvPr id="13" name="Text 4"/>
          <p:cNvSpPr/>
          <p:nvPr/>
        </p:nvSpPr>
        <p:spPr>
          <a:xfrm>
            <a:off x="950977" y="6069330"/>
            <a:ext cx="12481560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Medical Research Labs</a:t>
            </a:r>
            <a:endParaRPr lang="en-US" sz="2400" dirty="0"/>
          </a:p>
        </p:txBody>
      </p:sp>
      <p:sp>
        <p:nvSpPr>
          <p:cNvPr id="14" name="Text 5"/>
          <p:cNvSpPr/>
          <p:nvPr/>
        </p:nvSpPr>
        <p:spPr>
          <a:xfrm>
            <a:off x="950977" y="5070348"/>
            <a:ext cx="5870448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Remote Clinics</a:t>
            </a:r>
            <a:endParaRPr lang="en-US" sz="2400" dirty="0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4CC79276-13DD-8601-96DE-307269C019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8984" y="1133856"/>
            <a:ext cx="4142232" cy="1488186"/>
          </a:xfrm>
          <a:prstGeom prst="rect">
            <a:avLst/>
          </a:prstGeom>
        </p:spPr>
      </p:pic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195A15A4-218B-127C-49A1-618ED6256C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" y="1120140"/>
            <a:ext cx="4142232" cy="1488186"/>
          </a:xfrm>
          <a:prstGeom prst="rect">
            <a:avLst/>
          </a:prstGeom>
        </p:spPr>
      </p:pic>
      <p:pic>
        <p:nvPicPr>
          <p:cNvPr id="19" name="Image 4" descr="preencoded.png">
            <a:extLst>
              <a:ext uri="{FF2B5EF4-FFF2-40B4-BE49-F238E27FC236}">
                <a16:creationId xmlns:a16="http://schemas.microsoft.com/office/drawing/2014/main" id="{862FD6F1-C933-247B-8501-3B54B17598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1244" y="1149858"/>
            <a:ext cx="4257294" cy="1488186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FE8202AE-61BB-5C11-894C-BE0CB94E4B7C}"/>
              </a:ext>
            </a:extLst>
          </p:cNvPr>
          <p:cNvSpPr/>
          <p:nvPr/>
        </p:nvSpPr>
        <p:spPr>
          <a:xfrm>
            <a:off x="10392156" y="1403604"/>
            <a:ext cx="36758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Online survey: 86% doctors support AI-aided diagnostics</a:t>
            </a:r>
            <a:endParaRPr lang="en-US" sz="24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84225AFE-888F-BB4D-FB1F-8EB8702F21E1}"/>
              </a:ext>
            </a:extLst>
          </p:cNvPr>
          <p:cNvSpPr/>
          <p:nvPr/>
        </p:nvSpPr>
        <p:spPr>
          <a:xfrm>
            <a:off x="790956" y="169164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4. Market Research &amp; Validation</a:t>
            </a:r>
            <a:endParaRPr lang="en-US" sz="4640" b="1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D9F0739E-C5FB-C2B0-8F1D-57EBABBE642B}"/>
              </a:ext>
            </a:extLst>
          </p:cNvPr>
          <p:cNvSpPr/>
          <p:nvPr/>
        </p:nvSpPr>
        <p:spPr>
          <a:xfrm>
            <a:off x="841248" y="1369314"/>
            <a:ext cx="36758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118M blood donations per year globally (WHO)</a:t>
            </a:r>
            <a:endParaRPr lang="en-US" sz="240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A115BBBA-A59C-BDE1-8CEC-175BDF4FFD95}"/>
              </a:ext>
            </a:extLst>
          </p:cNvPr>
          <p:cNvSpPr/>
          <p:nvPr/>
        </p:nvSpPr>
        <p:spPr>
          <a:xfrm>
            <a:off x="5591557" y="1415034"/>
            <a:ext cx="367588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Hospitals and emergency services need faster diagnostics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" y="36576"/>
            <a:ext cx="14575536" cy="8174736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872505"/>
              </p:ext>
            </p:extLst>
          </p:nvPr>
        </p:nvGraphicFramePr>
        <p:xfrm>
          <a:off x="699911" y="3127248"/>
          <a:ext cx="13116675" cy="3040317"/>
        </p:xfrm>
        <a:graphic>
          <a:graphicData uri="http://schemas.openxmlformats.org/drawingml/2006/table">
            <a:tbl>
              <a:tblPr/>
              <a:tblGrid>
                <a:gridCol w="2889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3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58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08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60"/>
                        </a:lnSpc>
                        <a:buNone/>
                      </a:pPr>
                      <a:r>
                        <a:rPr lang="en-US" sz="3600" b="1" dirty="0">
                          <a:solidFill>
                            <a:srgbClr val="FFFF00"/>
                          </a:solidFill>
                          <a:latin typeface="思源黑体-思源黑体-Regular" pitchFamily="34" charset="0"/>
                          <a:ea typeface="思源黑体-思源黑体-Regular" pitchFamily="34" charset="-122"/>
                          <a:cs typeface="思源黑体-思源黑体-Regular" pitchFamily="34" charset="-120"/>
                        </a:rPr>
                        <a:t>Method</a:t>
                      </a:r>
                      <a:endParaRPr lang="en-US" sz="3600" b="1" dirty="0">
                        <a:solidFill>
                          <a:srgbClr val="FFFF00"/>
                        </a:solidFill>
                      </a:endParaRPr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60"/>
                        </a:lnSpc>
                        <a:buNone/>
                      </a:pPr>
                      <a:r>
                        <a:rPr lang="en-US" sz="3600" b="1" dirty="0">
                          <a:solidFill>
                            <a:srgbClr val="FFFF00"/>
                          </a:solidFill>
                          <a:latin typeface="思源黑体-思源黑体-Regular" pitchFamily="34" charset="0"/>
                          <a:ea typeface="思源黑体-思源黑体-Regular" pitchFamily="34" charset="-122"/>
                          <a:cs typeface="思源黑体-思源黑体-Regular" pitchFamily="34" charset="-120"/>
                        </a:rPr>
                        <a:t>Time</a:t>
                      </a:r>
                      <a:endParaRPr lang="en-US" sz="3600" b="1" dirty="0">
                        <a:solidFill>
                          <a:srgbClr val="FFFF00"/>
                        </a:solidFill>
                      </a:endParaRPr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60"/>
                        </a:lnSpc>
                        <a:buNone/>
                      </a:pPr>
                      <a:r>
                        <a:rPr lang="en-US" sz="3600" b="1" dirty="0">
                          <a:solidFill>
                            <a:srgbClr val="FFFF00"/>
                          </a:solidFill>
                          <a:latin typeface="思源黑体-思源黑体-Regular" pitchFamily="34" charset="0"/>
                          <a:ea typeface="思源黑体-思源黑体-Regular" pitchFamily="34" charset="-122"/>
                          <a:cs typeface="思源黑体-思源黑体-Regular" pitchFamily="34" charset="-120"/>
                        </a:rPr>
                        <a:t>Accuracy</a:t>
                      </a:r>
                      <a:endParaRPr lang="en-US" sz="3600" b="1" dirty="0">
                        <a:solidFill>
                          <a:srgbClr val="FFFF00"/>
                        </a:solidFill>
                      </a:endParaRPr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60"/>
                        </a:lnSpc>
                        <a:buNone/>
                      </a:pPr>
                      <a:r>
                        <a:rPr lang="en-US" sz="3600" b="1" dirty="0">
                          <a:solidFill>
                            <a:srgbClr val="FFFF00"/>
                          </a:solidFill>
                          <a:latin typeface="思源黑体-思源黑体-Regular" pitchFamily="34" charset="0"/>
                          <a:ea typeface="思源黑体-思源黑体-Regular" pitchFamily="34" charset="-122"/>
                          <a:cs typeface="思源黑体-思源黑体-Regular" pitchFamily="34" charset="-120"/>
                        </a:rPr>
                        <a:t>Portability</a:t>
                      </a:r>
                      <a:endParaRPr lang="en-US" sz="3600" b="1" dirty="0">
                        <a:solidFill>
                          <a:srgbClr val="FFFF00"/>
                        </a:solidFill>
                      </a:endParaRPr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60"/>
                        </a:lnSpc>
                        <a:buNone/>
                      </a:pPr>
                      <a:r>
                        <a:rPr lang="en-US" sz="3600" b="1" dirty="0">
                          <a:solidFill>
                            <a:srgbClr val="FFFF00"/>
                          </a:solidFill>
                          <a:latin typeface="思源黑体-思源黑体-Regular" pitchFamily="34" charset="0"/>
                          <a:ea typeface="思源黑体-思源黑体-Regular" pitchFamily="34" charset="-122"/>
                          <a:cs typeface="思源黑体-思源黑体-Regular" pitchFamily="34" charset="-120"/>
                        </a:rPr>
                        <a:t>Human</a:t>
                      </a:r>
                    </a:p>
                    <a:p>
                      <a:pPr marL="0" indent="0" algn="l">
                        <a:lnSpc>
                          <a:spcPts val="1660"/>
                        </a:lnSpc>
                        <a:buNone/>
                      </a:pPr>
                      <a:r>
                        <a:rPr lang="en-US" sz="3600" b="1" dirty="0">
                          <a:solidFill>
                            <a:srgbClr val="FFFF00"/>
                          </a:solidFill>
                          <a:latin typeface="思源黑体-思源黑体-Regular" pitchFamily="34" charset="0"/>
                          <a:ea typeface="思源黑体-思源黑体-Regular" pitchFamily="34" charset="-122"/>
                          <a:cs typeface="思源黑体-思源黑体-Regular" pitchFamily="34" charset="-120"/>
                        </a:rPr>
                        <a:t>              Error</a:t>
                      </a:r>
                      <a:endParaRPr lang="en-US" sz="3600" b="1" dirty="0">
                        <a:solidFill>
                          <a:srgbClr val="FFFF00"/>
                        </a:solidFill>
                      </a:endParaRPr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60"/>
                        </a:lnSpc>
                        <a:buNone/>
                      </a:pPr>
                      <a:r>
                        <a:rPr lang="en-US" sz="2800" dirty="0">
                          <a:solidFill>
                            <a:srgbClr val="D7D7D7"/>
                          </a:solidFill>
                          <a:latin typeface="思源黑体-思源黑体-Regular" pitchFamily="34" charset="0"/>
                          <a:ea typeface="思源黑体-思源黑体-Regular" pitchFamily="34" charset="-122"/>
                          <a:cs typeface="思源黑体-思源黑体-Regular" pitchFamily="34" charset="-120"/>
                        </a:rPr>
                        <a:t>Traditional Lab</a:t>
                      </a:r>
                      <a:endParaRPr lang="en-US" sz="28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6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D7D7D7"/>
                          </a:solidFill>
                          <a:latin typeface="思源黑体-思源黑体-Regular" pitchFamily="34" charset="0"/>
                          <a:ea typeface="思源黑体-思源黑体-Regular" pitchFamily="34" charset="-122"/>
                          <a:cs typeface="思源黑体-思源黑体-Regular" pitchFamily="34" charset="-120"/>
                        </a:rPr>
                        <a:t>High</a:t>
                      </a:r>
                      <a:endParaRPr lang="en-US" sz="24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6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D7D7D7"/>
                          </a:solidFill>
                          <a:latin typeface="思源黑体-思源黑体-Regular" pitchFamily="34" charset="0"/>
                          <a:ea typeface="思源黑体-思源黑体-Regular" pitchFamily="34" charset="-122"/>
                        </a:rPr>
                        <a:t>High</a:t>
                      </a:r>
                      <a:endParaRPr lang="en-US" sz="24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6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D7D7D7"/>
                          </a:solidFill>
                          <a:latin typeface="思源黑体-思源黑体-Regular" pitchFamily="34" charset="0"/>
                          <a:ea typeface="思源黑体-思源黑体-Regular" pitchFamily="34" charset="-122"/>
                          <a:cs typeface="思源黑体-思源黑体-Regular" pitchFamily="34" charset="-120"/>
                        </a:rPr>
                        <a:t>Low</a:t>
                      </a:r>
                      <a:endParaRPr lang="en-US" sz="24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6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D7D7D7"/>
                          </a:solidFill>
                          <a:latin typeface="思源黑体-思源黑体-Regular" pitchFamily="34" charset="0"/>
                          <a:ea typeface="思源黑体-思源黑体-Regular" pitchFamily="34" charset="-122"/>
                          <a:cs typeface="思源黑体-思源黑体-Regular" pitchFamily="34" charset="-120"/>
                        </a:rPr>
                        <a:t>High</a:t>
                      </a:r>
                      <a:endParaRPr lang="en-US" sz="24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60"/>
                        </a:lnSpc>
                        <a:buNone/>
                      </a:pPr>
                      <a:r>
                        <a:rPr lang="en-US" sz="2800" dirty="0">
                          <a:solidFill>
                            <a:srgbClr val="D7D7D7"/>
                          </a:solidFill>
                          <a:latin typeface="思源黑体-思源黑体-Regular" pitchFamily="34" charset="0"/>
                          <a:ea typeface="思源黑体-思源黑体-Regular" pitchFamily="34" charset="-122"/>
                          <a:cs typeface="思源黑体-思源黑体-Regular" pitchFamily="34" charset="-120"/>
                        </a:rPr>
                        <a:t>BioVision (ML)</a:t>
                      </a:r>
                      <a:endParaRPr lang="en-US" sz="28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6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D7D7D7"/>
                          </a:solidFill>
                          <a:latin typeface="思源黑体-思源黑体-Regular" pitchFamily="34" charset="0"/>
                          <a:ea typeface="思源黑体-思源黑体-Regular" pitchFamily="34" charset="-122"/>
                          <a:cs typeface="思源黑体-思源黑体-Regular" pitchFamily="34" charset="-120"/>
                        </a:rPr>
                        <a:t>Low</a:t>
                      </a:r>
                      <a:endParaRPr lang="en-US" sz="24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6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D7D7D7"/>
                          </a:solidFill>
                          <a:latin typeface="思源黑体-思源黑体-Regular" pitchFamily="34" charset="0"/>
                          <a:ea typeface="思源黑体-思源黑体-Regular" pitchFamily="34" charset="-122"/>
                          <a:cs typeface="思源黑体-思源黑体-Regular" pitchFamily="34" charset="-120"/>
                        </a:rPr>
                        <a:t>High</a:t>
                      </a:r>
                      <a:endParaRPr lang="en-US" sz="24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6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D7D7D7"/>
                          </a:solidFill>
                          <a:latin typeface="思源黑体-思源黑体-Regular" pitchFamily="34" charset="0"/>
                          <a:ea typeface="思源黑体-思源黑体-Regular" pitchFamily="34" charset="-122"/>
                          <a:cs typeface="思源黑体-思源黑体-Regular" pitchFamily="34" charset="-120"/>
                        </a:rPr>
                        <a:t>High</a:t>
                      </a:r>
                      <a:endParaRPr lang="en-US" sz="24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6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D7D7D7"/>
                          </a:solidFill>
                          <a:latin typeface="思源黑体-思源黑体-Regular" pitchFamily="34" charset="0"/>
                          <a:ea typeface="思源黑体-思源黑体-Regular" pitchFamily="34" charset="-122"/>
                          <a:cs typeface="思源黑体-思源黑体-Regular" pitchFamily="34" charset="-120"/>
                        </a:rPr>
                        <a:t>Low</a:t>
                      </a:r>
                      <a:endParaRPr lang="en-US" sz="24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424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832104" y="1911096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6. Competitive Analysis</a:t>
            </a:r>
            <a:endParaRPr lang="en-US" sz="464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44F4ED-8C86-9122-B5EB-19D54021A258}"/>
              </a:ext>
            </a:extLst>
          </p:cNvPr>
          <p:cNvSpPr/>
          <p:nvPr/>
        </p:nvSpPr>
        <p:spPr>
          <a:xfrm>
            <a:off x="822960" y="800100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7. Business Model</a:t>
            </a:r>
            <a:endParaRPr lang="en-US" sz="464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763DD0-03E1-B58F-1381-72019ABE8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52337"/>
              </p:ext>
            </p:extLst>
          </p:nvPr>
        </p:nvGraphicFramePr>
        <p:xfrm>
          <a:off x="1006476" y="3018314"/>
          <a:ext cx="12617448" cy="356616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154362">
                  <a:extLst>
                    <a:ext uri="{9D8B030D-6E8A-4147-A177-3AD203B41FA5}">
                      <a16:colId xmlns:a16="http://schemas.microsoft.com/office/drawing/2014/main" val="3194271809"/>
                    </a:ext>
                  </a:extLst>
                </a:gridCol>
                <a:gridCol w="3154362">
                  <a:extLst>
                    <a:ext uri="{9D8B030D-6E8A-4147-A177-3AD203B41FA5}">
                      <a16:colId xmlns:a16="http://schemas.microsoft.com/office/drawing/2014/main" val="946798843"/>
                    </a:ext>
                  </a:extLst>
                </a:gridCol>
                <a:gridCol w="3154362">
                  <a:extLst>
                    <a:ext uri="{9D8B030D-6E8A-4147-A177-3AD203B41FA5}">
                      <a16:colId xmlns:a16="http://schemas.microsoft.com/office/drawing/2014/main" val="1940856383"/>
                    </a:ext>
                  </a:extLst>
                </a:gridCol>
                <a:gridCol w="3154362">
                  <a:extLst>
                    <a:ext uri="{9D8B030D-6E8A-4147-A177-3AD203B41FA5}">
                      <a16:colId xmlns:a16="http://schemas.microsoft.com/office/drawing/2014/main" val="417451902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 dirty="0"/>
                        <a:t>#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Revenue Stream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Model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Estimated Revenue (Annual)</a:t>
                      </a:r>
                      <a:endParaRPr lang="en-IN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15246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B2B Licensing to Hospitals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₹1,50,000/year per hospital; target 10 hospitals in year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₹15,00,000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506286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Subscription for Research Labs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₹3,000/month per lab; targeting 20 labs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₹7,20,000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11442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Freemium Web App (Premium Users)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₹499/month per premium user; assume 1,000 paid 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₹59,88,000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879778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Infrared Imaging Device (Hardware)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₹15,000/device; expected sale of 500 devices/year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₹75,00,000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7413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Total Potential Revenue (Year 1)</a:t>
                      </a:r>
                      <a:endParaRPr lang="en-GB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₹1,57,08,000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6045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C616738-5654-5D92-3B45-C6064D11C25C}"/>
              </a:ext>
            </a:extLst>
          </p:cNvPr>
          <p:cNvSpPr txBox="1"/>
          <p:nvPr/>
        </p:nvSpPr>
        <p:spPr>
          <a:xfrm>
            <a:off x="925157" y="1993758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FFC000"/>
                </a:solidFill>
              </a:rPr>
              <a:t>💰 </a:t>
            </a:r>
            <a:r>
              <a:rPr lang="en-GB" sz="2800" b="1" dirty="0">
                <a:solidFill>
                  <a:srgbClr val="FFC000"/>
                </a:solidFill>
              </a:rPr>
              <a:t>Revenue Streams (How We Earn)</a:t>
            </a:r>
            <a:endParaRPr lang="en-IN" sz="28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399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60609A-C4A6-6EC9-B5D7-8A5F43885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094308"/>
              </p:ext>
            </p:extLst>
          </p:nvPr>
        </p:nvGraphicFramePr>
        <p:xfrm>
          <a:off x="769807" y="1828800"/>
          <a:ext cx="12617451" cy="45720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205817">
                  <a:extLst>
                    <a:ext uri="{9D8B030D-6E8A-4147-A177-3AD203B41FA5}">
                      <a16:colId xmlns:a16="http://schemas.microsoft.com/office/drawing/2014/main" val="1768298844"/>
                    </a:ext>
                  </a:extLst>
                </a:gridCol>
                <a:gridCol w="4205817">
                  <a:extLst>
                    <a:ext uri="{9D8B030D-6E8A-4147-A177-3AD203B41FA5}">
                      <a16:colId xmlns:a16="http://schemas.microsoft.com/office/drawing/2014/main" val="3606204853"/>
                    </a:ext>
                  </a:extLst>
                </a:gridCol>
                <a:gridCol w="4205817">
                  <a:extLst>
                    <a:ext uri="{9D8B030D-6E8A-4147-A177-3AD203B41FA5}">
                      <a16:colId xmlns:a16="http://schemas.microsoft.com/office/drawing/2014/main" val="222581944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Category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Description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Estimated Annual Cost</a:t>
                      </a:r>
                      <a:endParaRPr lang="en-IN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60689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Cloud Hosting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AWS/GCP server usage, storage, and bandwidth for API and web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₹2,00,000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795156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Model Maintenance &amp; Updates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Developer salaries (part-time), dataset cleaning, retraining, bug fixes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₹4,00,000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12276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Customer Support &amp; Management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Handling client issues, onboarding support, and technical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₹1,00,000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389821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Hardware Manufacturing (IR device)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Manufacturing cost per unit (₹8,000 x 500 units)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₹40,00,000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924818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Marketing &amp; Branding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Digital ads, conference demos, branding materials (posters, logos, social media)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₹2,50,000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320497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Legal &amp; Compliance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Licensing, data privacy compliance (e.g., HIPAA equivalent), consulting fees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₹1,00,000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2707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Total Estimated Cost (Year 1)</a:t>
                      </a:r>
                      <a:endParaRPr lang="en-GB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30419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3E7453-2A69-2331-82E6-6CCC2432EB35}"/>
              </a:ext>
            </a:extLst>
          </p:cNvPr>
          <p:cNvSpPr txBox="1"/>
          <p:nvPr/>
        </p:nvSpPr>
        <p:spPr>
          <a:xfrm>
            <a:off x="812838" y="6922111"/>
            <a:ext cx="8384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rgbClr val="FFFF00"/>
                </a:solidFill>
                <a:highlight>
                  <a:srgbClr val="000000"/>
                </a:highlight>
              </a:rPr>
              <a:t>📊 Projected Year-1 Profit:</a:t>
            </a:r>
          </a:p>
          <a:p>
            <a:r>
              <a:rPr lang="en-GB" sz="2400" b="1" dirty="0">
                <a:solidFill>
                  <a:srgbClr val="FFFF00"/>
                </a:solidFill>
                <a:highlight>
                  <a:srgbClr val="000000"/>
                </a:highlight>
              </a:rPr>
              <a:t>Revenue (₹1,57,08,000) – Cost (₹50,50,000) = ₹1,06,58,000</a:t>
            </a:r>
            <a:endParaRPr lang="en-GB" sz="2400" dirty="0">
              <a:solidFill>
                <a:srgbClr val="FFFF00"/>
              </a:solidFill>
              <a:highlight>
                <a:srgbClr val="0000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D92AA6-A2D2-C1D3-B8F9-462B171198A1}"/>
              </a:ext>
            </a:extLst>
          </p:cNvPr>
          <p:cNvSpPr txBox="1"/>
          <p:nvPr/>
        </p:nvSpPr>
        <p:spPr>
          <a:xfrm>
            <a:off x="634701" y="909477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FFC000"/>
                </a:solidFill>
              </a:rPr>
              <a:t>💸 </a:t>
            </a:r>
            <a:r>
              <a:rPr lang="en-GB" sz="2800" b="1" dirty="0">
                <a:solidFill>
                  <a:srgbClr val="FFC000"/>
                </a:solidFill>
              </a:rPr>
              <a:t>Cost Structure (Where We Spend)</a:t>
            </a:r>
            <a:endParaRPr lang="en-IN" sz="28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245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0584" y="-211836"/>
            <a:ext cx="14575536" cy="817473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5986" y="2376678"/>
            <a:ext cx="1005840" cy="1152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8736" y="2304288"/>
            <a:ext cx="1298448" cy="115214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7864" y="2376678"/>
            <a:ext cx="1435608" cy="115214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721352" y="3732276"/>
            <a:ext cx="38313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Classes: A+, A-, AB+, AB-, B+, B-, O+</a:t>
            </a:r>
            <a:endParaRPr lang="en-US" sz="2400" dirty="0"/>
          </a:p>
        </p:txBody>
      </p:sp>
      <p:sp>
        <p:nvSpPr>
          <p:cNvPr id="8" name="Text 1"/>
          <p:cNvSpPr/>
          <p:nvPr/>
        </p:nvSpPr>
        <p:spPr>
          <a:xfrm>
            <a:off x="694944" y="920496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9. Dataset Overview</a:t>
            </a:r>
            <a:endParaRPr lang="en-US" sz="4640" b="1" dirty="0"/>
          </a:p>
        </p:txBody>
      </p:sp>
      <p:sp>
        <p:nvSpPr>
          <p:cNvPr id="9" name="Text 2"/>
          <p:cNvSpPr/>
          <p:nvPr/>
        </p:nvSpPr>
        <p:spPr>
          <a:xfrm>
            <a:off x="9264396" y="3732276"/>
            <a:ext cx="38313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Samples: Train (46), Validation (14), Test (11)</a:t>
            </a:r>
            <a:endParaRPr lang="en-US" sz="2400" dirty="0"/>
          </a:p>
        </p:txBody>
      </p:sp>
      <p:sp>
        <p:nvSpPr>
          <p:cNvPr id="10" name="Text 3"/>
          <p:cNvSpPr/>
          <p:nvPr/>
        </p:nvSpPr>
        <p:spPr>
          <a:xfrm>
            <a:off x="0" y="3727704"/>
            <a:ext cx="3831336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    Source: Kaggle</a:t>
            </a:r>
            <a:endParaRPr lang="en-US" sz="24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AE24F7B-CA7B-44E3-CC98-03FCCEB71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330070"/>
              </p:ext>
            </p:extLst>
          </p:nvPr>
        </p:nvGraphicFramePr>
        <p:xfrm>
          <a:off x="1315973" y="4692396"/>
          <a:ext cx="11553360" cy="2927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6680">
                  <a:extLst>
                    <a:ext uri="{9D8B030D-6E8A-4147-A177-3AD203B41FA5}">
                      <a16:colId xmlns:a16="http://schemas.microsoft.com/office/drawing/2014/main" val="2975620197"/>
                    </a:ext>
                  </a:extLst>
                </a:gridCol>
                <a:gridCol w="5776680">
                  <a:extLst>
                    <a:ext uri="{9D8B030D-6E8A-4147-A177-3AD203B41FA5}">
                      <a16:colId xmlns:a16="http://schemas.microsoft.com/office/drawing/2014/main" val="973696329"/>
                    </a:ext>
                  </a:extLst>
                </a:gridCol>
              </a:tblGrid>
              <a:tr h="585521">
                <a:tc>
                  <a:txBody>
                    <a:bodyPr/>
                    <a:lstStyle/>
                    <a:p>
                      <a:r>
                        <a:rPr lang="en-IN" dirty="0"/>
                        <a:t>Dataset Overview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916226"/>
                  </a:ext>
                </a:extLst>
              </a:tr>
              <a:tr h="585521">
                <a:tc>
                  <a:txBody>
                    <a:bodyPr/>
                    <a:lstStyle/>
                    <a:p>
                      <a:r>
                        <a:rPr lang="en-IN" dirty="0"/>
                        <a:t>Number of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7(A+, A-, AB+, AB-, B+,B-,O+)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872648"/>
                  </a:ext>
                </a:extLst>
              </a:tr>
              <a:tr h="585521">
                <a:tc>
                  <a:txBody>
                    <a:bodyPr/>
                    <a:lstStyle/>
                    <a:p>
                      <a:r>
                        <a:rPr lang="en-IN" dirty="0"/>
                        <a:t>Training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837913"/>
                  </a:ext>
                </a:extLst>
              </a:tr>
              <a:tr h="585521">
                <a:tc>
                  <a:txBody>
                    <a:bodyPr/>
                    <a:lstStyle/>
                    <a:p>
                      <a:r>
                        <a:rPr lang="en-IN" dirty="0"/>
                        <a:t>Validation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746543"/>
                  </a:ext>
                </a:extLst>
              </a:tr>
              <a:tr h="585521">
                <a:tc>
                  <a:txBody>
                    <a:bodyPr/>
                    <a:lstStyle/>
                    <a:p>
                      <a:r>
                        <a:rPr lang="en-IN" dirty="0"/>
                        <a:t>Test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1996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3B025-37DF-BF54-95C3-362F27915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9396FD1-36CB-FC55-D4EF-51CC5A7A2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C9B0D3CC-962F-54B2-5005-72B98D7C8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0584" y="-211836"/>
            <a:ext cx="14575536" cy="8174736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B25BA591-C057-7D81-0D6F-CF3C8650F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5986" y="2376678"/>
            <a:ext cx="1005840" cy="1152144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A020004E-423C-A65C-CA11-DC57D0D845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8736" y="2304288"/>
            <a:ext cx="1298448" cy="1152144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D85A892F-1484-7D04-98DC-4978F174C5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7864" y="2376678"/>
            <a:ext cx="1435608" cy="1152144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835321FB-D5F9-4CD5-0154-0B97D05BD38F}"/>
              </a:ext>
            </a:extLst>
          </p:cNvPr>
          <p:cNvSpPr/>
          <p:nvPr/>
        </p:nvSpPr>
        <p:spPr>
          <a:xfrm>
            <a:off x="4721352" y="3732276"/>
            <a:ext cx="38313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7D7D7"/>
                </a:solidFill>
                <a:effectLst/>
                <a:uLnTx/>
                <a:uFillTx/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Classes: A+, A-, AB+, AB-, B+, B-, O+,O-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83DC6E17-6355-BF1B-BC2C-74BC23B29B12}"/>
              </a:ext>
            </a:extLst>
          </p:cNvPr>
          <p:cNvSpPr/>
          <p:nvPr/>
        </p:nvSpPr>
        <p:spPr>
          <a:xfrm>
            <a:off x="694944" y="920496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40" b="1" i="0" u="none" strike="noStrike" kern="1200" cap="none" spc="0" normalizeH="0" baseline="0" noProof="0" dirty="0">
                <a:ln>
                  <a:noFill/>
                </a:ln>
                <a:solidFill>
                  <a:srgbClr val="EFE396"/>
                </a:solidFill>
                <a:effectLst/>
                <a:uLnTx/>
                <a:uFillTx/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9. Updated Dataset Overview</a:t>
            </a:r>
            <a:endParaRPr kumimoji="0" lang="en-US" sz="464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679743AF-ABD4-43D3-0D32-00F6A0CD520F}"/>
              </a:ext>
            </a:extLst>
          </p:cNvPr>
          <p:cNvSpPr/>
          <p:nvPr/>
        </p:nvSpPr>
        <p:spPr>
          <a:xfrm>
            <a:off x="9264396" y="3732276"/>
            <a:ext cx="38313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7D7D7"/>
                </a:solidFill>
                <a:effectLst/>
                <a:uLnTx/>
                <a:uFillTx/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Samples: Train (</a:t>
            </a: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2800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7D7D7"/>
                </a:solidFill>
                <a:effectLst/>
                <a:uLnTx/>
                <a:uFillTx/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), Validation (</a:t>
            </a: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600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7D7D7"/>
                </a:solidFill>
                <a:effectLst/>
                <a:uLnTx/>
                <a:uFillTx/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), Test (</a:t>
            </a: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600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7D7D7"/>
                </a:solidFill>
                <a:effectLst/>
                <a:uLnTx/>
                <a:uFillTx/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C8CEC37-B43B-FAF8-AC2C-1CE1BB60C5AE}"/>
              </a:ext>
            </a:extLst>
          </p:cNvPr>
          <p:cNvSpPr/>
          <p:nvPr/>
        </p:nvSpPr>
        <p:spPr>
          <a:xfrm>
            <a:off x="0" y="3727704"/>
            <a:ext cx="3831336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       Source: Kaggle+</a:t>
            </a:r>
            <a:r>
              <a:rPr lang="en-IN" sz="2400" b="0" i="0" dirty="0">
                <a:solidFill>
                  <a:srgbClr val="EEF0FF"/>
                </a:solidFill>
                <a:effectLst/>
                <a:latin typeface="Google Sans"/>
              </a:rPr>
              <a:t>Synthetic data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A455EBC-2454-D8B1-842F-B1E9B9ECB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132395"/>
              </p:ext>
            </p:extLst>
          </p:nvPr>
        </p:nvGraphicFramePr>
        <p:xfrm>
          <a:off x="1315973" y="4692396"/>
          <a:ext cx="11553360" cy="2927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6680">
                  <a:extLst>
                    <a:ext uri="{9D8B030D-6E8A-4147-A177-3AD203B41FA5}">
                      <a16:colId xmlns:a16="http://schemas.microsoft.com/office/drawing/2014/main" val="2975620197"/>
                    </a:ext>
                  </a:extLst>
                </a:gridCol>
                <a:gridCol w="5776680">
                  <a:extLst>
                    <a:ext uri="{9D8B030D-6E8A-4147-A177-3AD203B41FA5}">
                      <a16:colId xmlns:a16="http://schemas.microsoft.com/office/drawing/2014/main" val="973696329"/>
                    </a:ext>
                  </a:extLst>
                </a:gridCol>
              </a:tblGrid>
              <a:tr h="585521">
                <a:tc>
                  <a:txBody>
                    <a:bodyPr/>
                    <a:lstStyle/>
                    <a:p>
                      <a:r>
                        <a:rPr lang="en-IN" dirty="0"/>
                        <a:t>Dataset Overview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916226"/>
                  </a:ext>
                </a:extLst>
              </a:tr>
              <a:tr h="585521">
                <a:tc>
                  <a:txBody>
                    <a:bodyPr/>
                    <a:lstStyle/>
                    <a:p>
                      <a:r>
                        <a:rPr lang="en-IN" dirty="0"/>
                        <a:t>Number of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8(A+, A-, AB+, AB-, B+,B-,O+,O-)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872648"/>
                  </a:ext>
                </a:extLst>
              </a:tr>
              <a:tr h="585521">
                <a:tc>
                  <a:txBody>
                    <a:bodyPr/>
                    <a:lstStyle/>
                    <a:p>
                      <a:r>
                        <a:rPr lang="en-IN" dirty="0"/>
                        <a:t>Training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837913"/>
                  </a:ext>
                </a:extLst>
              </a:tr>
              <a:tr h="585521">
                <a:tc>
                  <a:txBody>
                    <a:bodyPr/>
                    <a:lstStyle/>
                    <a:p>
                      <a:r>
                        <a:rPr lang="en-IN" dirty="0"/>
                        <a:t>Validation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746543"/>
                  </a:ext>
                </a:extLst>
              </a:tr>
              <a:tr h="585521">
                <a:tc>
                  <a:txBody>
                    <a:bodyPr/>
                    <a:lstStyle/>
                    <a:p>
                      <a:r>
                        <a:rPr lang="en-IN" dirty="0"/>
                        <a:t>Test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199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160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CF9DD00-1A17-D732-7DA1-125825756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2232755"/>
            <a:ext cx="931498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✅ Split : 70% Train, 15% Validation, 15%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96259C-24FC-BA2E-8EBF-E009AE8D6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450610"/>
              </p:ext>
            </p:extLst>
          </p:nvPr>
        </p:nvGraphicFramePr>
        <p:xfrm>
          <a:off x="1653091" y="3703619"/>
          <a:ext cx="10137288" cy="230990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79096">
                  <a:extLst>
                    <a:ext uri="{9D8B030D-6E8A-4147-A177-3AD203B41FA5}">
                      <a16:colId xmlns:a16="http://schemas.microsoft.com/office/drawing/2014/main" val="3544458977"/>
                    </a:ext>
                  </a:extLst>
                </a:gridCol>
                <a:gridCol w="3379096">
                  <a:extLst>
                    <a:ext uri="{9D8B030D-6E8A-4147-A177-3AD203B41FA5}">
                      <a16:colId xmlns:a16="http://schemas.microsoft.com/office/drawing/2014/main" val="1620685593"/>
                    </a:ext>
                  </a:extLst>
                </a:gridCol>
                <a:gridCol w="3379096">
                  <a:extLst>
                    <a:ext uri="{9D8B030D-6E8A-4147-A177-3AD203B41FA5}">
                      <a16:colId xmlns:a16="http://schemas.microsoft.com/office/drawing/2014/main" val="1728585501"/>
                    </a:ext>
                  </a:extLst>
                </a:gridCol>
              </a:tblGrid>
              <a:tr h="577477">
                <a:tc>
                  <a:txBody>
                    <a:bodyPr/>
                    <a:lstStyle/>
                    <a:p>
                      <a:r>
                        <a:rPr lang="en-IN" dirty="0"/>
                        <a:t>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Images per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 images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104621"/>
                  </a:ext>
                </a:extLst>
              </a:tr>
              <a:tr h="577477">
                <a:tc>
                  <a:txBody>
                    <a:bodyPr/>
                    <a:lstStyle/>
                    <a:p>
                      <a:r>
                        <a:rPr lang="en-IN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605446"/>
                  </a:ext>
                </a:extLst>
              </a:tr>
              <a:tr h="577477">
                <a:tc>
                  <a:txBody>
                    <a:bodyPr/>
                    <a:lstStyle/>
                    <a:p>
                      <a:r>
                        <a:rPr lang="en-IN" dirty="0"/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471517"/>
                  </a:ext>
                </a:extLst>
              </a:tr>
              <a:tr h="577477">
                <a:tc>
                  <a:txBody>
                    <a:bodyPr/>
                    <a:lstStyle/>
                    <a:p>
                      <a:r>
                        <a:rPr lang="en-IN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69336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139680B-1017-4DC9-BE64-8E06A051BBE4}"/>
              </a:ext>
            </a:extLst>
          </p:cNvPr>
          <p:cNvSpPr txBox="1"/>
          <p:nvPr/>
        </p:nvSpPr>
        <p:spPr>
          <a:xfrm>
            <a:off x="1006475" y="1054279"/>
            <a:ext cx="944995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✅ </a:t>
            </a:r>
            <a:r>
              <a:rPr lang="en-US" altLang="en-US" sz="3200" b="1" dirty="0">
                <a:solidFill>
                  <a:prstClr val="white"/>
                </a:solidFill>
                <a:latin typeface="Arial" panose="020B0604020202020204" pitchFamily="34" charset="0"/>
              </a:rPr>
              <a:t>Dataset Size: 500*8= 4000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348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3F62FCE-8400-84F3-16F0-780C4D086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78"/>
            <a:ext cx="14630400" cy="82387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24AC25-867E-DFE0-6956-0B9A4267BA7D}"/>
              </a:ext>
            </a:extLst>
          </p:cNvPr>
          <p:cNvSpPr txBox="1"/>
          <p:nvPr/>
        </p:nvSpPr>
        <p:spPr>
          <a:xfrm>
            <a:off x="720763" y="654430"/>
            <a:ext cx="94344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Subset Classification Based on Temperature Range</a:t>
            </a:r>
            <a:endParaRPr lang="en-IN" sz="3200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E9015E-98A6-935C-2815-D068528DF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861092"/>
              </p:ext>
            </p:extLst>
          </p:nvPr>
        </p:nvGraphicFramePr>
        <p:xfrm>
          <a:off x="2097741" y="2585655"/>
          <a:ext cx="964243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4146">
                  <a:extLst>
                    <a:ext uri="{9D8B030D-6E8A-4147-A177-3AD203B41FA5}">
                      <a16:colId xmlns:a16="http://schemas.microsoft.com/office/drawing/2014/main" val="1945135794"/>
                    </a:ext>
                  </a:extLst>
                </a:gridCol>
                <a:gridCol w="3214146">
                  <a:extLst>
                    <a:ext uri="{9D8B030D-6E8A-4147-A177-3AD203B41FA5}">
                      <a16:colId xmlns:a16="http://schemas.microsoft.com/office/drawing/2014/main" val="3619632383"/>
                    </a:ext>
                  </a:extLst>
                </a:gridCol>
                <a:gridCol w="3214146">
                  <a:extLst>
                    <a:ext uri="{9D8B030D-6E8A-4147-A177-3AD203B41FA5}">
                      <a16:colId xmlns:a16="http://schemas.microsoft.com/office/drawing/2014/main" val="4269551478"/>
                    </a:ext>
                  </a:extLst>
                </a:gridCol>
              </a:tblGrid>
              <a:tr h="5783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Subset Category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Temperature Range (°C)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Description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33662"/>
                  </a:ext>
                </a:extLst>
              </a:tr>
              <a:tr h="826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Low</a:t>
                      </a:r>
                      <a:endParaRPr lang="en-IN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Below 36°C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Indicates cooler blood sample images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966313"/>
                  </a:ext>
                </a:extLst>
              </a:tr>
              <a:tr h="826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Normal</a:t>
                      </a:r>
                      <a:endParaRPr lang="en-IN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36°C – 37.5°C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Represents typical physiological conditions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426843"/>
                  </a:ext>
                </a:extLst>
              </a:tr>
              <a:tr h="3350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High</a:t>
                      </a:r>
                      <a:endParaRPr lang="en-IN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/>
                        <a:t>Above 37.5°</a:t>
                      </a:r>
                      <a:r>
                        <a:rPr lang="en-IN" sz="1800" dirty="0"/>
                        <a:t>C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Simulates fever or heated sample conditions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438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982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4B8C65-09F1-5F54-92B1-22EAB3342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024" y="1213773"/>
            <a:ext cx="11835668" cy="650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977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" y="0"/>
            <a:ext cx="4974336" cy="8238744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647831" y="808808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10. Preprocessing Steps</a:t>
            </a:r>
            <a:endParaRPr lang="en-US" sz="4640" b="1" dirty="0"/>
          </a:p>
        </p:txBody>
      </p:sp>
      <p:sp>
        <p:nvSpPr>
          <p:cNvPr id="10" name="Text 3"/>
          <p:cNvSpPr/>
          <p:nvPr/>
        </p:nvSpPr>
        <p:spPr>
          <a:xfrm>
            <a:off x="6574536" y="4162044"/>
            <a:ext cx="20116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endParaRPr lang="en-US" sz="1850" dirty="0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BD5435DF-5038-2119-4E84-31E9362685C3}"/>
              </a:ext>
            </a:extLst>
          </p:cNvPr>
          <p:cNvSpPr/>
          <p:nvPr/>
        </p:nvSpPr>
        <p:spPr>
          <a:xfrm>
            <a:off x="6554391" y="2209443"/>
            <a:ext cx="30480" cy="4924544"/>
          </a:xfrm>
          <a:prstGeom prst="roundRect">
            <a:avLst>
              <a:gd name="adj" fmla="val 298550"/>
            </a:avLst>
          </a:prstGeom>
          <a:solidFill>
            <a:srgbClr val="8D2424"/>
          </a:solidFill>
          <a:ln/>
        </p:spPr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2D24C639-5F9D-AD9E-520E-6A757D2499CF}"/>
              </a:ext>
            </a:extLst>
          </p:cNvPr>
          <p:cNvSpPr/>
          <p:nvPr/>
        </p:nvSpPr>
        <p:spPr>
          <a:xfrm>
            <a:off x="6782872" y="2681645"/>
            <a:ext cx="758309" cy="30480"/>
          </a:xfrm>
          <a:prstGeom prst="roundRect">
            <a:avLst>
              <a:gd name="adj" fmla="val 298550"/>
            </a:avLst>
          </a:prstGeom>
          <a:solidFill>
            <a:srgbClr val="8D2424"/>
          </a:solidFill>
          <a:ln/>
        </p:spPr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FC38CD7B-C7A4-CACC-4FEB-C129DDB78455}"/>
              </a:ext>
            </a:extLst>
          </p:cNvPr>
          <p:cNvSpPr/>
          <p:nvPr/>
        </p:nvSpPr>
        <p:spPr>
          <a:xfrm>
            <a:off x="6341150" y="2413993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7029113B-C99A-56BD-0752-A649E90A289C}"/>
              </a:ext>
            </a:extLst>
          </p:cNvPr>
          <p:cNvSpPr/>
          <p:nvPr/>
        </p:nvSpPr>
        <p:spPr>
          <a:xfrm>
            <a:off x="6469023" y="2525792"/>
            <a:ext cx="20109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265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74DBFB2E-DD2E-AA4F-FBE1-FADE209CF662}"/>
              </a:ext>
            </a:extLst>
          </p:cNvPr>
          <p:cNvSpPr/>
          <p:nvPr/>
        </p:nvSpPr>
        <p:spPr>
          <a:xfrm>
            <a:off x="7761208" y="24260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Normalization</a:t>
            </a:r>
            <a:endParaRPr lang="en-US" sz="280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990ECA40-A4DF-3E67-B032-77D10748373C}"/>
              </a:ext>
            </a:extLst>
          </p:cNvPr>
          <p:cNvSpPr/>
          <p:nvPr/>
        </p:nvSpPr>
        <p:spPr>
          <a:xfrm>
            <a:off x="7761208" y="2912150"/>
            <a:ext cx="611088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Images are normalized to a common scale for consistent processing.</a:t>
            </a:r>
            <a:endParaRPr lang="en-US" sz="2000" dirty="0"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4CA8AA02-2D55-8B0B-B4A2-9C3429195FC8}"/>
              </a:ext>
            </a:extLst>
          </p:cNvPr>
          <p:cNvSpPr/>
          <p:nvPr/>
        </p:nvSpPr>
        <p:spPr>
          <a:xfrm>
            <a:off x="6782872" y="4510921"/>
            <a:ext cx="758309" cy="30480"/>
          </a:xfrm>
          <a:prstGeom prst="roundRect">
            <a:avLst>
              <a:gd name="adj" fmla="val 298550"/>
            </a:avLst>
          </a:prstGeom>
          <a:solidFill>
            <a:srgbClr val="8D2424"/>
          </a:solidFill>
          <a:ln/>
        </p:spPr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16E88168-4C36-9778-1A7B-0F0FAB8987FC}"/>
              </a:ext>
            </a:extLst>
          </p:cNvPr>
          <p:cNvSpPr/>
          <p:nvPr/>
        </p:nvSpPr>
        <p:spPr>
          <a:xfrm>
            <a:off x="6325910" y="4282440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897315F3-02C3-10E8-041C-8A189E97E98F}"/>
              </a:ext>
            </a:extLst>
          </p:cNvPr>
          <p:cNvSpPr/>
          <p:nvPr/>
        </p:nvSpPr>
        <p:spPr>
          <a:xfrm>
            <a:off x="6426756" y="4355068"/>
            <a:ext cx="285631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265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FAC7995D-E5CC-C88C-0825-AD2859AD293D}"/>
              </a:ext>
            </a:extLst>
          </p:cNvPr>
          <p:cNvSpPr/>
          <p:nvPr/>
        </p:nvSpPr>
        <p:spPr>
          <a:xfrm>
            <a:off x="7761208" y="425529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Resizing</a:t>
            </a:r>
            <a:endParaRPr lang="en-US" sz="2800" dirty="0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21291180-8ABC-6DD1-8C7C-4010700D7C90}"/>
              </a:ext>
            </a:extLst>
          </p:cNvPr>
          <p:cNvSpPr/>
          <p:nvPr/>
        </p:nvSpPr>
        <p:spPr>
          <a:xfrm>
            <a:off x="7761208" y="4741426"/>
            <a:ext cx="611088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Images are resized to a uniform size for model input.</a:t>
            </a:r>
            <a:endParaRPr lang="en-US" sz="2000" dirty="0"/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33426749-C522-AF74-F290-480A0A98A88E}"/>
              </a:ext>
            </a:extLst>
          </p:cNvPr>
          <p:cNvSpPr/>
          <p:nvPr/>
        </p:nvSpPr>
        <p:spPr>
          <a:xfrm>
            <a:off x="6782872" y="5993487"/>
            <a:ext cx="758309" cy="30480"/>
          </a:xfrm>
          <a:prstGeom prst="roundRect">
            <a:avLst>
              <a:gd name="adj" fmla="val 298550"/>
            </a:avLst>
          </a:prstGeom>
          <a:solidFill>
            <a:srgbClr val="8D2424"/>
          </a:solidFill>
          <a:ln/>
        </p:spPr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3DE755D9-63F8-49F8-4A2D-4FD8F00FE128}"/>
              </a:ext>
            </a:extLst>
          </p:cNvPr>
          <p:cNvSpPr/>
          <p:nvPr/>
        </p:nvSpPr>
        <p:spPr>
          <a:xfrm>
            <a:off x="6325910" y="5765006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FF1C47ED-1360-1019-5BB9-7CA0E2A5F950}"/>
              </a:ext>
            </a:extLst>
          </p:cNvPr>
          <p:cNvSpPr/>
          <p:nvPr/>
        </p:nvSpPr>
        <p:spPr>
          <a:xfrm>
            <a:off x="6418898" y="5837634"/>
            <a:ext cx="30134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265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3448593D-9F37-65EB-C2C6-0C29B14B103D}"/>
              </a:ext>
            </a:extLst>
          </p:cNvPr>
          <p:cNvSpPr/>
          <p:nvPr/>
        </p:nvSpPr>
        <p:spPr>
          <a:xfrm>
            <a:off x="7761208" y="5737860"/>
            <a:ext cx="328767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 Augmentation</a:t>
            </a:r>
            <a:endParaRPr lang="en-US" sz="2800" dirty="0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F306FB3F-864E-7727-0A37-399DE9583E6F}"/>
              </a:ext>
            </a:extLst>
          </p:cNvPr>
          <p:cNvSpPr/>
          <p:nvPr/>
        </p:nvSpPr>
        <p:spPr>
          <a:xfrm>
            <a:off x="7761208" y="6223992"/>
            <a:ext cx="611088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Techniques like rotation and zoom are applied to increase dataset diversity.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578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186" y="3171479"/>
            <a:ext cx="7734484" cy="66751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5" y="5677642"/>
            <a:ext cx="7862628" cy="74066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4398617"/>
            <a:ext cx="7803854" cy="667513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72782" y="5900043"/>
            <a:ext cx="4571661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Classification:  blood group classes</a:t>
            </a:r>
            <a:endParaRPr lang="en-US" sz="2400" dirty="0"/>
          </a:p>
        </p:txBody>
      </p:sp>
      <p:sp>
        <p:nvSpPr>
          <p:cNvPr id="8" name="Text 1"/>
          <p:cNvSpPr/>
          <p:nvPr/>
        </p:nvSpPr>
        <p:spPr>
          <a:xfrm>
            <a:off x="813816" y="3321860"/>
            <a:ext cx="367851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Base: Pretrained VGG16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>
            <a:off x="755042" y="4560798"/>
            <a:ext cx="7862628" cy="5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Custom Layers: GlobalAveragePooling2D, Dense, Softmax</a:t>
            </a:r>
            <a:endParaRPr lang="en-US" sz="2400" dirty="0"/>
          </a:p>
        </p:txBody>
      </p:sp>
      <p:sp>
        <p:nvSpPr>
          <p:cNvPr id="10" name="Text 3"/>
          <p:cNvSpPr/>
          <p:nvPr/>
        </p:nvSpPr>
        <p:spPr>
          <a:xfrm>
            <a:off x="813816" y="2206681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11. Model Architecture</a:t>
            </a:r>
            <a:endParaRPr lang="en-US" sz="464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834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6306" y="1339596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188" y="1385316"/>
            <a:ext cx="475488" cy="4754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1385316"/>
            <a:ext cx="475488" cy="47548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9457182" y="1472184"/>
            <a:ext cx="17373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3</a:t>
            </a:r>
            <a:endParaRPr lang="en-US" sz="2320" dirty="0"/>
          </a:p>
        </p:txBody>
      </p:sp>
      <p:sp>
        <p:nvSpPr>
          <p:cNvPr id="8" name="Text 1"/>
          <p:cNvSpPr/>
          <p:nvPr/>
        </p:nvSpPr>
        <p:spPr>
          <a:xfrm>
            <a:off x="5100066" y="1490472"/>
            <a:ext cx="17373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2</a:t>
            </a:r>
            <a:endParaRPr lang="en-US" sz="2320" dirty="0"/>
          </a:p>
        </p:txBody>
      </p:sp>
      <p:sp>
        <p:nvSpPr>
          <p:cNvPr id="9" name="Text 2"/>
          <p:cNvSpPr/>
          <p:nvPr/>
        </p:nvSpPr>
        <p:spPr>
          <a:xfrm>
            <a:off x="992124" y="1472184"/>
            <a:ext cx="17373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</a:t>
            </a:r>
            <a:endParaRPr lang="en-US" sz="2320" dirty="0"/>
          </a:p>
        </p:txBody>
      </p:sp>
      <p:sp>
        <p:nvSpPr>
          <p:cNvPr id="10" name="Text 3"/>
          <p:cNvSpPr/>
          <p:nvPr/>
        </p:nvSpPr>
        <p:spPr>
          <a:xfrm>
            <a:off x="5545836" y="1472184"/>
            <a:ext cx="3538728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Batch Size: 16</a:t>
            </a:r>
            <a:endParaRPr lang="en-US" sz="2400" dirty="0"/>
          </a:p>
        </p:txBody>
      </p:sp>
      <p:sp>
        <p:nvSpPr>
          <p:cNvPr id="11" name="Text 4"/>
          <p:cNvSpPr/>
          <p:nvPr/>
        </p:nvSpPr>
        <p:spPr>
          <a:xfrm>
            <a:off x="10003536" y="1339596"/>
            <a:ext cx="35387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Loss Function: Categorical CrossEntropy (Loss: 0.39)</a:t>
            </a:r>
            <a:endParaRPr lang="en-US" sz="2400" dirty="0"/>
          </a:p>
        </p:txBody>
      </p:sp>
      <p:sp>
        <p:nvSpPr>
          <p:cNvPr id="12" name="Text 5"/>
          <p:cNvSpPr/>
          <p:nvPr/>
        </p:nvSpPr>
        <p:spPr>
          <a:xfrm>
            <a:off x="363474" y="214884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12. Training Parameters</a:t>
            </a:r>
            <a:endParaRPr lang="en-US" sz="4640" b="1" dirty="0"/>
          </a:p>
        </p:txBody>
      </p:sp>
      <p:sp>
        <p:nvSpPr>
          <p:cNvPr id="13" name="Text 6"/>
          <p:cNvSpPr/>
          <p:nvPr/>
        </p:nvSpPr>
        <p:spPr>
          <a:xfrm>
            <a:off x="1467612" y="1453896"/>
            <a:ext cx="3538728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Epochs: 25</a:t>
            </a: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08DB38-F937-2EEC-E47F-A60437C406FB}"/>
              </a:ext>
            </a:extLst>
          </p:cNvPr>
          <p:cNvSpPr txBox="1"/>
          <p:nvPr/>
        </p:nvSpPr>
        <p:spPr>
          <a:xfrm>
            <a:off x="363474" y="2956816"/>
            <a:ext cx="5444346" cy="858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Output Screenshot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61B1C4C-A2CF-19AE-3F00-16C2D5DB84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822" y="3937111"/>
            <a:ext cx="12936755" cy="390248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EE33FF-D849-A475-7553-DCFBCA4FB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713" y="1839558"/>
            <a:ext cx="12498544" cy="19560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E07124-9B95-5AE0-1F82-5F65AD0EE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13" y="4821303"/>
            <a:ext cx="12498544" cy="210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814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" y="36576"/>
            <a:ext cx="14575536" cy="817473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6732" y="3263811"/>
            <a:ext cx="1127308" cy="128990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0756" y="3263811"/>
            <a:ext cx="1127308" cy="128990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4308" y="3063160"/>
            <a:ext cx="1127308" cy="149055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10284" y="3063160"/>
            <a:ext cx="1127308" cy="149055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960120" y="4791456"/>
            <a:ext cx="27157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Training Accuracy: 87.36%</a:t>
            </a:r>
            <a:endParaRPr lang="en-US" sz="2400" dirty="0"/>
          </a:p>
        </p:txBody>
      </p:sp>
      <p:sp>
        <p:nvSpPr>
          <p:cNvPr id="9" name="Text 1"/>
          <p:cNvSpPr/>
          <p:nvPr/>
        </p:nvSpPr>
        <p:spPr>
          <a:xfrm>
            <a:off x="10605855" y="4803173"/>
            <a:ext cx="313616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Metrics Used: Accuracy, Precision, Recall, F1 Score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7626096" y="4791456"/>
            <a:ext cx="2715768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Test Accuracy: </a:t>
            </a:r>
          </a:p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87.34%</a:t>
            </a:r>
            <a:endParaRPr lang="en-US" sz="2400" dirty="0"/>
          </a:p>
        </p:txBody>
      </p:sp>
      <p:sp>
        <p:nvSpPr>
          <p:cNvPr id="11" name="Text 3"/>
          <p:cNvSpPr/>
          <p:nvPr/>
        </p:nvSpPr>
        <p:spPr>
          <a:xfrm>
            <a:off x="694944" y="1574687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13. Evaluation Metrics</a:t>
            </a:r>
            <a:endParaRPr lang="en-US" sz="4640" b="1" dirty="0"/>
          </a:p>
        </p:txBody>
      </p:sp>
      <p:sp>
        <p:nvSpPr>
          <p:cNvPr id="12" name="Text 4"/>
          <p:cNvSpPr/>
          <p:nvPr/>
        </p:nvSpPr>
        <p:spPr>
          <a:xfrm>
            <a:off x="4297680" y="4791456"/>
            <a:ext cx="27157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Validation Accuracy: 86.83%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" y="36576"/>
            <a:ext cx="14575536" cy="8174736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21208" y="420624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14. Confusion Matrix</a:t>
            </a:r>
            <a:endParaRPr lang="en-US" sz="464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900AC0-51A8-6D33-EECE-03FE5B84A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9592" y="4503419"/>
            <a:ext cx="7548250" cy="34518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EA332B-F297-5C56-DDE3-D1514FFE9A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555" y="1161288"/>
            <a:ext cx="7491198" cy="314855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DA83E-D307-FE4D-8422-B140E658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3E948BE-56BA-4960-A571-ABDC7A5E0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3F4ACA63-8172-2FCE-45CC-A863ED2AB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" y="36576"/>
            <a:ext cx="14575536" cy="8174736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9AB6FECB-6C60-C6B5-CAA4-596E2F83F84A}"/>
              </a:ext>
            </a:extLst>
          </p:cNvPr>
          <p:cNvSpPr/>
          <p:nvPr/>
        </p:nvSpPr>
        <p:spPr>
          <a:xfrm>
            <a:off x="521208" y="420624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14. Updated Confusion Matrix</a:t>
            </a:r>
            <a:endParaRPr lang="en-US" sz="464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9F2504-6111-63A8-592D-56AC2A7F0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927" y="1150525"/>
            <a:ext cx="9487715" cy="592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820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DDDEE5-9F63-FE7C-CAF1-86AF2903D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016" y="492162"/>
            <a:ext cx="9316123" cy="698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193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4133088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5614416"/>
            <a:ext cx="475488" cy="4754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4873752"/>
            <a:ext cx="475488" cy="47548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971032" y="4224528"/>
            <a:ext cx="17373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</a:t>
            </a:r>
            <a:endParaRPr lang="en-US" sz="2320" dirty="0"/>
          </a:p>
        </p:txBody>
      </p:sp>
      <p:sp>
        <p:nvSpPr>
          <p:cNvPr id="8" name="Text 1"/>
          <p:cNvSpPr/>
          <p:nvPr/>
        </p:nvSpPr>
        <p:spPr>
          <a:xfrm>
            <a:off x="5971032" y="5696712"/>
            <a:ext cx="17373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3</a:t>
            </a:r>
            <a:endParaRPr lang="en-US" sz="2320" dirty="0"/>
          </a:p>
        </p:txBody>
      </p:sp>
      <p:sp>
        <p:nvSpPr>
          <p:cNvPr id="9" name="Text 2"/>
          <p:cNvSpPr/>
          <p:nvPr/>
        </p:nvSpPr>
        <p:spPr>
          <a:xfrm>
            <a:off x="5971032" y="4965192"/>
            <a:ext cx="17373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2</a:t>
            </a:r>
            <a:endParaRPr lang="en-US" sz="2320" dirty="0"/>
          </a:p>
        </p:txBody>
      </p:sp>
      <p:sp>
        <p:nvSpPr>
          <p:cNvPr id="10" name="Text 3"/>
          <p:cNvSpPr/>
          <p:nvPr/>
        </p:nvSpPr>
        <p:spPr>
          <a:xfrm>
            <a:off x="6583680" y="4901184"/>
            <a:ext cx="7214616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Upload image </a:t>
            </a:r>
            <a:r>
              <a:rPr lang="en-US" sz="240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and Temp.→ </a:t>
            </a: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Get result</a:t>
            </a:r>
            <a:endParaRPr lang="en-US" sz="2400" dirty="0"/>
          </a:p>
        </p:txBody>
      </p:sp>
      <p:sp>
        <p:nvSpPr>
          <p:cNvPr id="11" name="Text 4"/>
          <p:cNvSpPr/>
          <p:nvPr/>
        </p:nvSpPr>
        <p:spPr>
          <a:xfrm>
            <a:off x="6583680" y="5641848"/>
            <a:ext cx="7214616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Demo screenshots / small GIF preview</a:t>
            </a:r>
            <a:endParaRPr lang="en-US" sz="2400" dirty="0"/>
          </a:p>
        </p:txBody>
      </p:sp>
      <p:sp>
        <p:nvSpPr>
          <p:cNvPr id="12" name="Text 5"/>
          <p:cNvSpPr/>
          <p:nvPr/>
        </p:nvSpPr>
        <p:spPr>
          <a:xfrm>
            <a:off x="5806440" y="2139696"/>
            <a:ext cx="80101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15. MVP – Web Application Demo</a:t>
            </a:r>
            <a:endParaRPr lang="en-US" sz="4640" b="1" dirty="0"/>
          </a:p>
        </p:txBody>
      </p:sp>
      <p:sp>
        <p:nvSpPr>
          <p:cNvPr id="13" name="Text 6"/>
          <p:cNvSpPr/>
          <p:nvPr/>
        </p:nvSpPr>
        <p:spPr>
          <a:xfrm>
            <a:off x="6583680" y="4160520"/>
            <a:ext cx="7214616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Flask-based app for real-time predictions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6BD0C8-57BB-050B-B98A-AA19F8AFAAE0}"/>
              </a:ext>
            </a:extLst>
          </p:cNvPr>
          <p:cNvSpPr txBox="1"/>
          <p:nvPr/>
        </p:nvSpPr>
        <p:spPr>
          <a:xfrm>
            <a:off x="406797" y="967129"/>
            <a:ext cx="5588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User Interface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4C3387-896E-0A70-8A86-533E2AC01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9" y="3011082"/>
            <a:ext cx="14318428" cy="388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208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0A0BE9-9659-0AA4-B109-C24007F94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2" y="2273611"/>
            <a:ext cx="13931153" cy="368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208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44C226-0C1E-EC84-8EB5-98E4DFE80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654" y="1434538"/>
            <a:ext cx="8520057" cy="492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467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48DCBE-24EF-FE08-3AAF-C4EDABD419A1}"/>
              </a:ext>
            </a:extLst>
          </p:cNvPr>
          <p:cNvSpPr txBox="1"/>
          <p:nvPr/>
        </p:nvSpPr>
        <p:spPr>
          <a:xfrm>
            <a:off x="957430" y="780938"/>
            <a:ext cx="7315200" cy="520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EFE396"/>
                </a:solidFill>
                <a:effectLst/>
                <a:uLnTx/>
                <a:uFillTx/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16. Go-To-Market Strategy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734E6-01C9-BA94-0E72-A13822E00C6A}"/>
              </a:ext>
            </a:extLst>
          </p:cNvPr>
          <p:cNvSpPr txBox="1"/>
          <p:nvPr/>
        </p:nvSpPr>
        <p:spPr>
          <a:xfrm>
            <a:off x="1796527" y="2076226"/>
            <a:ext cx="917627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00"/>
                </a:solidFill>
                <a:highlight>
                  <a:srgbClr val="000000"/>
                </a:highlight>
              </a:rPr>
              <a:t>Target hospitals, labs, and researchers.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FFF00"/>
              </a:solidFill>
              <a:highlight>
                <a:srgbClr val="0000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00"/>
                </a:solidFill>
                <a:highlight>
                  <a:srgbClr val="000000"/>
                </a:highlight>
              </a:rPr>
              <a:t>Promote via SEO, social media, and email outreach.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FFF00"/>
              </a:solidFill>
              <a:highlight>
                <a:srgbClr val="0000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00"/>
                </a:solidFill>
                <a:highlight>
                  <a:srgbClr val="000000"/>
                </a:highlight>
              </a:rPr>
              <a:t>Offer freemium web app to drive adoption.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FFF00"/>
              </a:solidFill>
              <a:highlight>
                <a:srgbClr val="0000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00"/>
                </a:solidFill>
                <a:highlight>
                  <a:srgbClr val="000000"/>
                </a:highlight>
              </a:rPr>
              <a:t>Partner with med-tech firms and hospital IT providers.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FFF00"/>
              </a:solidFill>
              <a:highlight>
                <a:srgbClr val="0000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00"/>
                </a:solidFill>
                <a:highlight>
                  <a:srgbClr val="000000"/>
                </a:highlight>
              </a:rPr>
              <a:t>Attend medical expos and tech conferences.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FFF00"/>
              </a:solidFill>
              <a:highlight>
                <a:srgbClr val="0000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00"/>
                </a:solidFill>
                <a:highlight>
                  <a:srgbClr val="000000"/>
                </a:highlight>
              </a:rPr>
              <a:t>Share tutorials and case studies online.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FFF00"/>
              </a:solidFill>
              <a:highlight>
                <a:srgbClr val="0000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00"/>
                </a:solidFill>
                <a:highlight>
                  <a:srgbClr val="000000"/>
                </a:highlight>
              </a:rPr>
              <a:t>Gather feedback to improve and retain users.</a:t>
            </a:r>
          </a:p>
        </p:txBody>
      </p:sp>
    </p:spTree>
    <p:extLst>
      <p:ext uri="{BB962C8B-B14F-4D97-AF65-F5344CB8AC3E}">
        <p14:creationId xmlns:p14="http://schemas.microsoft.com/office/powerpoint/2010/main" val="3823365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4514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4429027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905" y="5603807"/>
            <a:ext cx="475488" cy="4754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047" y="2110402"/>
            <a:ext cx="475488" cy="47548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3325086"/>
            <a:ext cx="475488" cy="47548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577923" y="4547278"/>
            <a:ext cx="17373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3</a:t>
            </a:r>
            <a:endParaRPr lang="en-US" sz="2320" dirty="0"/>
          </a:p>
        </p:txBody>
      </p:sp>
      <p:sp>
        <p:nvSpPr>
          <p:cNvPr id="9" name="Text 1"/>
          <p:cNvSpPr/>
          <p:nvPr/>
        </p:nvSpPr>
        <p:spPr>
          <a:xfrm>
            <a:off x="6554781" y="5733288"/>
            <a:ext cx="17373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4</a:t>
            </a:r>
            <a:endParaRPr lang="en-US" sz="2320" dirty="0"/>
          </a:p>
        </p:txBody>
      </p:sp>
      <p:sp>
        <p:nvSpPr>
          <p:cNvPr id="10" name="Text 2"/>
          <p:cNvSpPr/>
          <p:nvPr/>
        </p:nvSpPr>
        <p:spPr>
          <a:xfrm>
            <a:off x="6496812" y="2241522"/>
            <a:ext cx="17373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</a:t>
            </a:r>
            <a:endParaRPr lang="en-US" sz="2320" dirty="0"/>
          </a:p>
        </p:txBody>
      </p:sp>
      <p:sp>
        <p:nvSpPr>
          <p:cNvPr id="11" name="Text 3"/>
          <p:cNvSpPr/>
          <p:nvPr/>
        </p:nvSpPr>
        <p:spPr>
          <a:xfrm>
            <a:off x="6583680" y="3483864"/>
            <a:ext cx="17373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2</a:t>
            </a:r>
            <a:endParaRPr lang="en-US" sz="2320" dirty="0"/>
          </a:p>
        </p:txBody>
      </p:sp>
      <p:sp>
        <p:nvSpPr>
          <p:cNvPr id="12" name="Text 4"/>
          <p:cNvSpPr/>
          <p:nvPr/>
        </p:nvSpPr>
        <p:spPr>
          <a:xfrm>
            <a:off x="7232903" y="3390138"/>
            <a:ext cx="548639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ML-Powered Prediction – 87.34% accurate</a:t>
            </a:r>
            <a:endParaRPr lang="en-US" sz="2400" dirty="0"/>
          </a:p>
        </p:txBody>
      </p:sp>
      <p:sp>
        <p:nvSpPr>
          <p:cNvPr id="13" name="Text 5"/>
          <p:cNvSpPr/>
          <p:nvPr/>
        </p:nvSpPr>
        <p:spPr>
          <a:xfrm>
            <a:off x="7181990" y="2107692"/>
            <a:ext cx="4558453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InfraRed Spectroscopic Imaging (vs. traditional agglutination)</a:t>
            </a:r>
            <a:endParaRPr lang="en-US" sz="2400" dirty="0"/>
          </a:p>
        </p:txBody>
      </p:sp>
      <p:sp>
        <p:nvSpPr>
          <p:cNvPr id="14" name="Text 6"/>
          <p:cNvSpPr/>
          <p:nvPr/>
        </p:nvSpPr>
        <p:spPr>
          <a:xfrm>
            <a:off x="7227089" y="4515274"/>
            <a:ext cx="503264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Portable, Real-time Web App</a:t>
            </a:r>
            <a:endParaRPr lang="en-US" sz="2400" dirty="0"/>
          </a:p>
        </p:txBody>
      </p:sp>
      <p:sp>
        <p:nvSpPr>
          <p:cNvPr id="15" name="Text 7"/>
          <p:cNvSpPr/>
          <p:nvPr/>
        </p:nvSpPr>
        <p:spPr>
          <a:xfrm>
            <a:off x="5815584" y="1060704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17. Uniqueness &amp; Innovation</a:t>
            </a:r>
            <a:endParaRPr lang="en-US" sz="4640" b="1" dirty="0"/>
          </a:p>
        </p:txBody>
      </p:sp>
      <p:sp>
        <p:nvSpPr>
          <p:cNvPr id="16" name="Text 8"/>
          <p:cNvSpPr/>
          <p:nvPr/>
        </p:nvSpPr>
        <p:spPr>
          <a:xfrm>
            <a:off x="7232903" y="5603807"/>
            <a:ext cx="468816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No skilled personnel needed</a:t>
            </a:r>
            <a:endParaRPr lang="en-US" sz="240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16703BCC-ACBC-4464-26DB-9A34E4A8D0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" y="36576"/>
            <a:ext cx="14575536" cy="817473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2605" y="2810047"/>
            <a:ext cx="2351872" cy="187834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988" y="2839963"/>
            <a:ext cx="1420594" cy="187834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87652" y="2851252"/>
            <a:ext cx="1878341" cy="187834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6426" y="2839963"/>
            <a:ext cx="2115107" cy="1878341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22960" y="109270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18. Future Roadmap</a:t>
            </a:r>
            <a:endParaRPr lang="en-US" sz="4640" b="1" dirty="0"/>
          </a:p>
        </p:txBody>
      </p:sp>
      <p:sp>
        <p:nvSpPr>
          <p:cNvPr id="9" name="Text 1"/>
          <p:cNvSpPr/>
          <p:nvPr/>
        </p:nvSpPr>
        <p:spPr>
          <a:xfrm>
            <a:off x="4297680" y="4956048"/>
            <a:ext cx="2715768" cy="338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Deploy as mobile app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960120" y="4956048"/>
            <a:ext cx="27157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Add O-, rare blood groups</a:t>
            </a:r>
            <a:endParaRPr lang="en-US" sz="2400" dirty="0"/>
          </a:p>
        </p:txBody>
      </p:sp>
      <p:sp>
        <p:nvSpPr>
          <p:cNvPr id="11" name="Text 3"/>
          <p:cNvSpPr/>
          <p:nvPr/>
        </p:nvSpPr>
        <p:spPr>
          <a:xfrm>
            <a:off x="7626096" y="4956048"/>
            <a:ext cx="27157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Integrate with hospital databases</a:t>
            </a:r>
            <a:endParaRPr lang="en-US" sz="2400" dirty="0"/>
          </a:p>
        </p:txBody>
      </p:sp>
      <p:sp>
        <p:nvSpPr>
          <p:cNvPr id="12" name="Text 4"/>
          <p:cNvSpPr/>
          <p:nvPr/>
        </p:nvSpPr>
        <p:spPr>
          <a:xfrm>
            <a:off x="10963656" y="4956048"/>
            <a:ext cx="27157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Hardware prototype with IR camera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" y="25287"/>
            <a:ext cx="14575536" cy="817473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4155" y="2105265"/>
            <a:ext cx="1916304" cy="153047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6498" y="2225507"/>
            <a:ext cx="1330516" cy="175923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5780" y="2226330"/>
            <a:ext cx="2109280" cy="1684593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0436174" y="4181251"/>
            <a:ext cx="3134473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Support for field testing, scaling, mentorship, and funding</a:t>
            </a:r>
            <a:endParaRPr lang="en-US" sz="2400" dirty="0"/>
          </a:p>
        </p:txBody>
      </p:sp>
      <p:sp>
        <p:nvSpPr>
          <p:cNvPr id="11" name="Text 2"/>
          <p:cNvSpPr/>
          <p:nvPr/>
        </p:nvSpPr>
        <p:spPr>
          <a:xfrm>
            <a:off x="832104" y="4319467"/>
            <a:ext cx="271576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Successfully built an ML system with 87.34% test accuracy</a:t>
            </a:r>
            <a:endParaRPr lang="en-US" sz="2400" dirty="0"/>
          </a:p>
        </p:txBody>
      </p:sp>
      <p:sp>
        <p:nvSpPr>
          <p:cNvPr id="12" name="Text 3"/>
          <p:cNvSpPr/>
          <p:nvPr/>
        </p:nvSpPr>
        <p:spPr>
          <a:xfrm>
            <a:off x="5664423" y="4260109"/>
            <a:ext cx="27157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dirty="0">
                <a:solidFill>
                  <a:srgbClr val="D7D7D7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Real-time web interface ready</a:t>
            </a:r>
            <a:endParaRPr lang="en-US" sz="2400" dirty="0"/>
          </a:p>
        </p:txBody>
      </p:sp>
      <p:sp>
        <p:nvSpPr>
          <p:cNvPr id="14" name="Text 5"/>
          <p:cNvSpPr/>
          <p:nvPr/>
        </p:nvSpPr>
        <p:spPr>
          <a:xfrm>
            <a:off x="832104" y="694944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EFE39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19. Conclusion &amp; Final Ask</a:t>
            </a:r>
            <a:endParaRPr lang="en-US" sz="4640" b="1" dirty="0"/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1438</Words>
  <Application>Microsoft Office PowerPoint</Application>
  <PresentationFormat>Custom</PresentationFormat>
  <Paragraphs>297</Paragraphs>
  <Slides>33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Arial</vt:lpstr>
      <vt:lpstr>Arial Black</vt:lpstr>
      <vt:lpstr>Calibri</vt:lpstr>
      <vt:lpstr>Century Gothic</vt:lpstr>
      <vt:lpstr>Dela Gothic One</vt:lpstr>
      <vt:lpstr>DM Sans</vt:lpstr>
      <vt:lpstr>Google Sans</vt:lpstr>
      <vt:lpstr>Wingdings 3</vt:lpstr>
      <vt:lpstr>思源黑体-思源黑体-Regular</vt:lpstr>
      <vt:lpstr>Office Theme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rahul patel</cp:lastModifiedBy>
  <cp:revision>15</cp:revision>
  <dcterms:created xsi:type="dcterms:W3CDTF">2025-04-07T09:35:05Z</dcterms:created>
  <dcterms:modified xsi:type="dcterms:W3CDTF">2025-05-21T17:11:11Z</dcterms:modified>
</cp:coreProperties>
</file>