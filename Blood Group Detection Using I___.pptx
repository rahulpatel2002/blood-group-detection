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2" r:id="rId1"/>
    <p:sldMasterId id="2147483679" r:id="rId2"/>
  </p:sldMasterIdLst>
  <p:notesMasterIdLst>
    <p:notesMasterId r:id="rId37"/>
  </p:notesMasterIdLst>
  <p:sldIdLst>
    <p:sldId id="256" r:id="rId3"/>
    <p:sldId id="257" r:id="rId4"/>
    <p:sldId id="259" r:id="rId5"/>
    <p:sldId id="298" r:id="rId6"/>
    <p:sldId id="261" r:id="rId7"/>
    <p:sldId id="300" r:id="rId8"/>
    <p:sldId id="263" r:id="rId9"/>
    <p:sldId id="268" r:id="rId10"/>
    <p:sldId id="267" r:id="rId11"/>
    <p:sldId id="269" r:id="rId12"/>
    <p:sldId id="312" r:id="rId13"/>
    <p:sldId id="313" r:id="rId14"/>
    <p:sldId id="276" r:id="rId15"/>
    <p:sldId id="302" r:id="rId16"/>
    <p:sldId id="303" r:id="rId17"/>
    <p:sldId id="310" r:id="rId18"/>
    <p:sldId id="304" r:id="rId19"/>
    <p:sldId id="278" r:id="rId20"/>
    <p:sldId id="280" r:id="rId21"/>
    <p:sldId id="282" r:id="rId22"/>
    <p:sldId id="305" r:id="rId23"/>
    <p:sldId id="284" r:id="rId24"/>
    <p:sldId id="286" r:id="rId25"/>
    <p:sldId id="306" r:id="rId26"/>
    <p:sldId id="307" r:id="rId27"/>
    <p:sldId id="288" r:id="rId28"/>
    <p:sldId id="270" r:id="rId29"/>
    <p:sldId id="308" r:id="rId30"/>
    <p:sldId id="309" r:id="rId31"/>
    <p:sldId id="311" r:id="rId32"/>
    <p:sldId id="292" r:id="rId33"/>
    <p:sldId id="294" r:id="rId34"/>
    <p:sldId id="296" r:id="rId35"/>
    <p:sldId id="314" r:id="rId36"/>
  </p:sldIdLst>
  <p:sldSz cx="14630400" cy="82296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viewProps" Target="view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34628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748911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62107-BD50-6807-60F2-66E360ACB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2EA02F-9C44-1702-649B-D687FB9C57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243509-C4E2-349B-77E2-37AA896EBF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7FD91-DC84-004F-B917-9DE09B0FD5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53127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7A137-F5F6-97C2-419A-4FB3C76C9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757A2D-2AA6-CDFF-5B9E-B0525D33C9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6AF559-699E-00E8-FFD0-F54E270A58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6D1939-7392-1AEE-059C-EDCC7093EE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348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85946" y="1737361"/>
            <a:ext cx="10590790" cy="3995497"/>
          </a:xfrm>
        </p:spPr>
        <p:txBody>
          <a:bodyPr anchor="b"/>
          <a:lstStyle>
            <a:lvl1pPr>
              <a:defRPr sz="86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85946" y="5732856"/>
            <a:ext cx="10590790" cy="1033704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5486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972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45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2918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840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7161376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18706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85948" y="3434080"/>
            <a:ext cx="10590788" cy="2298776"/>
          </a:xfrm>
        </p:spPr>
        <p:txBody>
          <a:bodyPr anchor="b"/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85946" y="5732857"/>
            <a:ext cx="10590790" cy="1032480"/>
          </a:xfrm>
        </p:spPr>
        <p:txBody>
          <a:bodyPr anchor="t"/>
          <a:lstStyle>
            <a:lvl1pPr marL="0" indent="0" algn="l">
              <a:buNone/>
              <a:defRPr sz="24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54864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244895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23975" y="2472690"/>
            <a:ext cx="5275607" cy="5034916"/>
          </a:xfrm>
        </p:spPr>
        <p:txBody>
          <a:bodyPr>
            <a:normAutofit/>
          </a:bodyPr>
          <a:lstStyle>
            <a:lvl1pPr>
              <a:defRPr sz="2160"/>
            </a:lvl1pPr>
            <a:lvl2pPr>
              <a:defRPr sz="1920"/>
            </a:lvl2pPr>
            <a:lvl3pPr>
              <a:defRPr sz="1680"/>
            </a:lvl3pPr>
            <a:lvl4pPr>
              <a:defRPr sz="1440"/>
            </a:lvl4pPr>
            <a:lvl5pPr>
              <a:defRPr sz="1440"/>
            </a:lvl5pPr>
            <a:lvl6pPr>
              <a:defRPr sz="1440"/>
            </a:lvl6pPr>
            <a:lvl7pPr>
              <a:defRPr sz="1440"/>
            </a:lvl7pPr>
            <a:lvl8pPr>
              <a:defRPr sz="1440"/>
            </a:lvl8pPr>
            <a:lvl9pPr>
              <a:defRPr sz="144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85392" y="2467311"/>
            <a:ext cx="5275609" cy="5040294"/>
          </a:xfrm>
        </p:spPr>
        <p:txBody>
          <a:bodyPr>
            <a:normAutofit/>
          </a:bodyPr>
          <a:lstStyle>
            <a:lvl1pPr>
              <a:defRPr sz="2160"/>
            </a:lvl1pPr>
            <a:lvl2pPr>
              <a:defRPr sz="1920"/>
            </a:lvl2pPr>
            <a:lvl3pPr>
              <a:defRPr sz="1680"/>
            </a:lvl3pPr>
            <a:lvl4pPr>
              <a:defRPr sz="1440"/>
            </a:lvl4pPr>
            <a:lvl5pPr>
              <a:defRPr sz="1440"/>
            </a:lvl5pPr>
            <a:lvl6pPr>
              <a:defRPr sz="1440"/>
            </a:lvl6pPr>
            <a:lvl7pPr>
              <a:defRPr sz="1440"/>
            </a:lvl7pPr>
            <a:lvl8pPr>
              <a:defRPr sz="1440"/>
            </a:lvl8pPr>
            <a:lvl9pPr>
              <a:defRPr sz="144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229425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23975" y="2286000"/>
            <a:ext cx="5275606" cy="691514"/>
          </a:xfrm>
        </p:spPr>
        <p:txBody>
          <a:bodyPr anchor="b">
            <a:noAutofit/>
          </a:bodyPr>
          <a:lstStyle>
            <a:lvl1pPr marL="0" indent="0">
              <a:buNone/>
              <a:defRPr sz="288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23975" y="3017520"/>
            <a:ext cx="5275607" cy="4490086"/>
          </a:xfrm>
        </p:spPr>
        <p:txBody>
          <a:bodyPr>
            <a:normAutofit/>
          </a:bodyPr>
          <a:lstStyle>
            <a:lvl1pPr>
              <a:defRPr sz="2160"/>
            </a:lvl1pPr>
            <a:lvl2pPr>
              <a:defRPr sz="1920"/>
            </a:lvl2pPr>
            <a:lvl3pPr>
              <a:defRPr sz="1680"/>
            </a:lvl3pPr>
            <a:lvl4pPr>
              <a:defRPr sz="1440"/>
            </a:lvl4pPr>
            <a:lvl5pPr>
              <a:defRPr sz="1440"/>
            </a:lvl5pPr>
            <a:lvl6pPr>
              <a:defRPr sz="1440"/>
            </a:lvl6pPr>
            <a:lvl7pPr>
              <a:defRPr sz="1440"/>
            </a:lvl7pPr>
            <a:lvl8pPr>
              <a:defRPr sz="1440"/>
            </a:lvl8pPr>
            <a:lvl9pPr>
              <a:defRPr sz="144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785395" y="2286000"/>
            <a:ext cx="5275607" cy="691514"/>
          </a:xfrm>
        </p:spPr>
        <p:txBody>
          <a:bodyPr anchor="b">
            <a:noAutofit/>
          </a:bodyPr>
          <a:lstStyle>
            <a:lvl1pPr marL="0" indent="0">
              <a:buNone/>
              <a:defRPr sz="288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785395" y="3017520"/>
            <a:ext cx="5275607" cy="4490086"/>
          </a:xfrm>
        </p:spPr>
        <p:txBody>
          <a:bodyPr>
            <a:normAutofit/>
          </a:bodyPr>
          <a:lstStyle>
            <a:lvl1pPr>
              <a:defRPr sz="2160"/>
            </a:lvl1pPr>
            <a:lvl2pPr>
              <a:defRPr sz="1920"/>
            </a:lvl2pPr>
            <a:lvl3pPr>
              <a:defRPr sz="1680"/>
            </a:lvl3pPr>
            <a:lvl4pPr>
              <a:defRPr sz="1440"/>
            </a:lvl4pPr>
            <a:lvl5pPr>
              <a:defRPr sz="1440"/>
            </a:lvl5pPr>
            <a:lvl6pPr>
              <a:defRPr sz="1440"/>
            </a:lvl6pPr>
            <a:lvl7pPr>
              <a:defRPr sz="1440"/>
            </a:lvl7pPr>
            <a:lvl8pPr>
              <a:defRPr sz="1440"/>
            </a:lvl8pPr>
            <a:lvl9pPr>
              <a:defRPr sz="144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290463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12/23/2025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0230184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12/23/2025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0354921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85944" y="1737360"/>
            <a:ext cx="4081277" cy="1737360"/>
          </a:xfrm>
        </p:spPr>
        <p:txBody>
          <a:bodyPr anchor="b"/>
          <a:lstStyle>
            <a:lvl1pPr algn="l">
              <a:defRPr sz="288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41540" y="1737360"/>
            <a:ext cx="6235196" cy="5486400"/>
          </a:xfrm>
        </p:spPr>
        <p:txBody>
          <a:bodyPr anchor="ctr">
            <a:normAutofit/>
          </a:bodyPr>
          <a:lstStyle>
            <a:lvl1pPr>
              <a:defRPr sz="2400"/>
            </a:lvl1pPr>
            <a:lvl2pPr>
              <a:defRPr sz="2160"/>
            </a:lvl2pPr>
            <a:lvl3pPr>
              <a:defRPr sz="1920"/>
            </a:lvl3pPr>
            <a:lvl4pPr>
              <a:defRPr sz="1680"/>
            </a:lvl4pPr>
            <a:lvl5pPr>
              <a:defRPr sz="1680"/>
            </a:lvl5pPr>
            <a:lvl6pPr>
              <a:defRPr sz="1680"/>
            </a:lvl6pPr>
            <a:lvl7pPr>
              <a:defRPr sz="1680"/>
            </a:lvl7pPr>
            <a:lvl8pPr>
              <a:defRPr sz="1680"/>
            </a:lvl8pPr>
            <a:lvl9pPr>
              <a:defRPr sz="168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85944" y="3755137"/>
            <a:ext cx="4081276" cy="3474719"/>
          </a:xfrm>
        </p:spPr>
        <p:txBody>
          <a:bodyPr/>
          <a:lstStyle>
            <a:lvl1pPr marL="0" indent="0">
              <a:buNone/>
              <a:defRPr sz="168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12/23/2025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547741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84689" y="2225030"/>
            <a:ext cx="6111487" cy="1889770"/>
          </a:xfrm>
        </p:spPr>
        <p:txBody>
          <a:bodyPr anchor="b">
            <a:normAutofit/>
          </a:bodyPr>
          <a:lstStyle>
            <a:lvl1pPr algn="l">
              <a:defRPr sz="432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339455" y="1371600"/>
            <a:ext cx="3840480" cy="54864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920"/>
            </a:lvl1pPr>
            <a:lvl2pPr marL="548640" indent="0">
              <a:buNone/>
              <a:defRPr sz="1920"/>
            </a:lvl2pPr>
            <a:lvl3pPr marL="1097280" indent="0">
              <a:buNone/>
              <a:defRPr sz="1920"/>
            </a:lvl3pPr>
            <a:lvl4pPr marL="1645920" indent="0">
              <a:buNone/>
              <a:defRPr sz="1920"/>
            </a:lvl4pPr>
            <a:lvl5pPr marL="2194560" indent="0">
              <a:buNone/>
              <a:defRPr sz="1920"/>
            </a:lvl5pPr>
            <a:lvl6pPr marL="2743200" indent="0">
              <a:buNone/>
              <a:defRPr sz="1920"/>
            </a:lvl6pPr>
            <a:lvl7pPr marL="3291840" indent="0">
              <a:buNone/>
              <a:defRPr sz="1920"/>
            </a:lvl7pPr>
            <a:lvl8pPr marL="3840480" indent="0">
              <a:buNone/>
              <a:defRPr sz="1920"/>
            </a:lvl8pPr>
            <a:lvl9pPr marL="4389120" indent="0">
              <a:buNone/>
              <a:defRPr sz="192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85945" y="4389120"/>
            <a:ext cx="6101975" cy="1645920"/>
          </a:xfrm>
        </p:spPr>
        <p:txBody>
          <a:bodyPr>
            <a:normAutofit/>
          </a:bodyPr>
          <a:lstStyle>
            <a:lvl1pPr marL="0" indent="0">
              <a:buNone/>
              <a:defRPr sz="168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12/23/2025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452245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85948" y="5760704"/>
            <a:ext cx="10590788" cy="680086"/>
          </a:xfrm>
        </p:spPr>
        <p:txBody>
          <a:bodyPr anchor="b">
            <a:normAutofit/>
          </a:bodyPr>
          <a:lstStyle>
            <a:lvl1pPr algn="l">
              <a:defRPr sz="288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85946" y="822960"/>
            <a:ext cx="10590790" cy="4368799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920"/>
            </a:lvl1pPr>
            <a:lvl2pPr marL="548640" indent="0">
              <a:buNone/>
              <a:defRPr sz="1920"/>
            </a:lvl2pPr>
            <a:lvl3pPr marL="1097280" indent="0">
              <a:buNone/>
              <a:defRPr sz="1920"/>
            </a:lvl3pPr>
            <a:lvl4pPr marL="1645920" indent="0">
              <a:buNone/>
              <a:defRPr sz="1920"/>
            </a:lvl4pPr>
            <a:lvl5pPr marL="2194560" indent="0">
              <a:buNone/>
              <a:defRPr sz="1920"/>
            </a:lvl5pPr>
            <a:lvl6pPr marL="2743200" indent="0">
              <a:buNone/>
              <a:defRPr sz="1920"/>
            </a:lvl6pPr>
            <a:lvl7pPr marL="3291840" indent="0">
              <a:buNone/>
              <a:defRPr sz="1920"/>
            </a:lvl7pPr>
            <a:lvl8pPr marL="3840480" indent="0">
              <a:buNone/>
              <a:defRPr sz="1920"/>
            </a:lvl8pPr>
            <a:lvl9pPr marL="4389120" indent="0">
              <a:buNone/>
              <a:defRPr sz="192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85947" y="6440790"/>
            <a:ext cx="10590787" cy="592454"/>
          </a:xfrm>
        </p:spPr>
        <p:txBody>
          <a:bodyPr>
            <a:normAutofit/>
          </a:bodyPr>
          <a:lstStyle>
            <a:lvl1pPr marL="0" indent="0">
              <a:buNone/>
              <a:defRPr sz="144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12/23/2025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487425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85945" y="1737360"/>
            <a:ext cx="10590791" cy="2377440"/>
          </a:xfrm>
        </p:spPr>
        <p:txBody>
          <a:bodyPr/>
          <a:lstStyle>
            <a:lvl1pPr>
              <a:defRPr sz="57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385945" y="4389120"/>
            <a:ext cx="10590791" cy="2834640"/>
          </a:xfrm>
        </p:spPr>
        <p:txBody>
          <a:bodyPr anchor="ctr">
            <a:normAutofit/>
          </a:bodyPr>
          <a:lstStyle>
            <a:lvl1pPr marL="0" indent="0">
              <a:buNone/>
              <a:defRPr sz="216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12/23/2025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8377161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762" y="1737360"/>
            <a:ext cx="9599178" cy="2788049"/>
          </a:xfrm>
        </p:spPr>
        <p:txBody>
          <a:bodyPr/>
          <a:lstStyle>
            <a:lvl1pPr>
              <a:defRPr sz="57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2316481" y="4525409"/>
            <a:ext cx="8735579" cy="410609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68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385945" y="5220788"/>
            <a:ext cx="10590791" cy="2011680"/>
          </a:xfrm>
        </p:spPr>
        <p:txBody>
          <a:bodyPr anchor="ctr">
            <a:normAutofit/>
          </a:bodyPr>
          <a:lstStyle>
            <a:lvl1pPr marL="0" indent="0">
              <a:buNone/>
              <a:defRPr sz="216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12/23/2025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1077954" y="1165504"/>
            <a:ext cx="962294" cy="23452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464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96588" y="3136545"/>
            <a:ext cx="962294" cy="23452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464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52088692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85945" y="3749041"/>
            <a:ext cx="10590792" cy="1983816"/>
          </a:xfrm>
        </p:spPr>
        <p:txBody>
          <a:bodyPr anchor="b"/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85945" y="5732857"/>
            <a:ext cx="10590791" cy="1032480"/>
          </a:xfrm>
        </p:spPr>
        <p:txBody>
          <a:bodyPr anchor="t"/>
          <a:lstStyle>
            <a:lvl1pPr marL="0" indent="0" algn="l">
              <a:buNone/>
              <a:defRPr sz="24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54864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12/23/2025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0854914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50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9537" y="2377440"/>
            <a:ext cx="3536239" cy="691514"/>
          </a:xfrm>
        </p:spPr>
        <p:txBody>
          <a:bodyPr anchor="b">
            <a:noAutofit/>
          </a:bodyPr>
          <a:lstStyle>
            <a:lvl1pPr marL="0" indent="0">
              <a:buNone/>
              <a:defRPr sz="288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782956" y="3200400"/>
            <a:ext cx="3512820" cy="4307206"/>
          </a:xfrm>
        </p:spPr>
        <p:txBody>
          <a:bodyPr anchor="t">
            <a:normAutofit/>
          </a:bodyPr>
          <a:lstStyle>
            <a:lvl1pPr marL="0" indent="0">
              <a:buNone/>
              <a:defRPr sz="168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0392" y="2377440"/>
            <a:ext cx="3523489" cy="691514"/>
          </a:xfrm>
        </p:spPr>
        <p:txBody>
          <a:bodyPr anchor="b">
            <a:noAutofit/>
          </a:bodyPr>
          <a:lstStyle>
            <a:lvl1pPr marL="0" indent="0">
              <a:buNone/>
              <a:defRPr sz="288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647727" y="3200400"/>
            <a:ext cx="3536153" cy="4307206"/>
          </a:xfrm>
        </p:spPr>
        <p:txBody>
          <a:bodyPr anchor="t">
            <a:normAutofit/>
          </a:bodyPr>
          <a:lstStyle>
            <a:lvl1pPr marL="0" indent="0">
              <a:buNone/>
              <a:defRPr sz="168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549640" y="2377440"/>
            <a:ext cx="3518536" cy="691514"/>
          </a:xfrm>
        </p:spPr>
        <p:txBody>
          <a:bodyPr anchor="b">
            <a:noAutofit/>
          </a:bodyPr>
          <a:lstStyle>
            <a:lvl1pPr marL="0" indent="0">
              <a:buNone/>
              <a:defRPr sz="288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8549640" y="3200400"/>
            <a:ext cx="3518536" cy="4307206"/>
          </a:xfrm>
        </p:spPr>
        <p:txBody>
          <a:bodyPr anchor="t">
            <a:normAutofit/>
          </a:bodyPr>
          <a:lstStyle>
            <a:lvl1pPr marL="0" indent="0">
              <a:buNone/>
              <a:defRPr sz="168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71370" y="2560320"/>
            <a:ext cx="0" cy="475488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8354672" y="2560320"/>
            <a:ext cx="0" cy="4760258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12/23/2025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057742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50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956" y="5101139"/>
            <a:ext cx="3528060" cy="691514"/>
          </a:xfrm>
        </p:spPr>
        <p:txBody>
          <a:bodyPr anchor="b">
            <a:noAutofit/>
          </a:bodyPr>
          <a:lstStyle>
            <a:lvl1pPr marL="0" indent="0">
              <a:buNone/>
              <a:defRPr sz="288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782956" y="2651760"/>
            <a:ext cx="3528060" cy="18288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920"/>
            </a:lvl1pPr>
            <a:lvl2pPr marL="548640" indent="0">
              <a:buNone/>
              <a:defRPr sz="1920"/>
            </a:lvl2pPr>
            <a:lvl3pPr marL="1097280" indent="0">
              <a:buNone/>
              <a:defRPr sz="1920"/>
            </a:lvl3pPr>
            <a:lvl4pPr marL="1645920" indent="0">
              <a:buNone/>
              <a:defRPr sz="1920"/>
            </a:lvl4pPr>
            <a:lvl5pPr marL="2194560" indent="0">
              <a:buNone/>
              <a:defRPr sz="1920"/>
            </a:lvl5pPr>
            <a:lvl6pPr marL="2743200" indent="0">
              <a:buNone/>
              <a:defRPr sz="1920"/>
            </a:lvl6pPr>
            <a:lvl7pPr marL="3291840" indent="0">
              <a:buNone/>
              <a:defRPr sz="1920"/>
            </a:lvl7pPr>
            <a:lvl8pPr marL="3840480" indent="0">
              <a:buNone/>
              <a:defRPr sz="1920"/>
            </a:lvl8pPr>
            <a:lvl9pPr marL="4389120" indent="0">
              <a:buNone/>
              <a:defRPr sz="192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782956" y="5792654"/>
            <a:ext cx="3528060" cy="791027"/>
          </a:xfrm>
        </p:spPr>
        <p:txBody>
          <a:bodyPr anchor="t">
            <a:normAutofit/>
          </a:bodyPr>
          <a:lstStyle>
            <a:lvl1pPr marL="0" indent="0">
              <a:buNone/>
              <a:defRPr sz="168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7251" y="5101139"/>
            <a:ext cx="3516630" cy="691514"/>
          </a:xfrm>
        </p:spPr>
        <p:txBody>
          <a:bodyPr anchor="b">
            <a:noAutofit/>
          </a:bodyPr>
          <a:lstStyle>
            <a:lvl1pPr marL="0" indent="0">
              <a:buNone/>
              <a:defRPr sz="288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667249" y="2651760"/>
            <a:ext cx="3516630" cy="18288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920"/>
            </a:lvl1pPr>
            <a:lvl2pPr marL="548640" indent="0">
              <a:buNone/>
              <a:defRPr sz="1920"/>
            </a:lvl2pPr>
            <a:lvl3pPr marL="1097280" indent="0">
              <a:buNone/>
              <a:defRPr sz="1920"/>
            </a:lvl3pPr>
            <a:lvl4pPr marL="1645920" indent="0">
              <a:buNone/>
              <a:defRPr sz="1920"/>
            </a:lvl4pPr>
            <a:lvl5pPr marL="2194560" indent="0">
              <a:buNone/>
              <a:defRPr sz="1920"/>
            </a:lvl5pPr>
            <a:lvl6pPr marL="2743200" indent="0">
              <a:buNone/>
              <a:defRPr sz="1920"/>
            </a:lvl6pPr>
            <a:lvl7pPr marL="3291840" indent="0">
              <a:buNone/>
              <a:defRPr sz="1920"/>
            </a:lvl7pPr>
            <a:lvl8pPr marL="3840480" indent="0">
              <a:buNone/>
              <a:defRPr sz="1920"/>
            </a:lvl8pPr>
            <a:lvl9pPr marL="4389120" indent="0">
              <a:buNone/>
              <a:defRPr sz="192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665627" y="5792653"/>
            <a:ext cx="3521287" cy="791027"/>
          </a:xfrm>
        </p:spPr>
        <p:txBody>
          <a:bodyPr anchor="t">
            <a:normAutofit/>
          </a:bodyPr>
          <a:lstStyle>
            <a:lvl1pPr marL="0" indent="0">
              <a:buNone/>
              <a:defRPr sz="168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549640" y="5101139"/>
            <a:ext cx="3518536" cy="691514"/>
          </a:xfrm>
        </p:spPr>
        <p:txBody>
          <a:bodyPr anchor="b">
            <a:noAutofit/>
          </a:bodyPr>
          <a:lstStyle>
            <a:lvl1pPr marL="0" indent="0">
              <a:buNone/>
              <a:defRPr sz="288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549639" y="2651760"/>
            <a:ext cx="3518536" cy="18288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920"/>
            </a:lvl1pPr>
            <a:lvl2pPr marL="548640" indent="0">
              <a:buNone/>
              <a:defRPr sz="1920"/>
            </a:lvl2pPr>
            <a:lvl3pPr marL="1097280" indent="0">
              <a:buNone/>
              <a:defRPr sz="1920"/>
            </a:lvl3pPr>
            <a:lvl4pPr marL="1645920" indent="0">
              <a:buNone/>
              <a:defRPr sz="1920"/>
            </a:lvl4pPr>
            <a:lvl5pPr marL="2194560" indent="0">
              <a:buNone/>
              <a:defRPr sz="1920"/>
            </a:lvl5pPr>
            <a:lvl6pPr marL="2743200" indent="0">
              <a:buNone/>
              <a:defRPr sz="1920"/>
            </a:lvl6pPr>
            <a:lvl7pPr marL="3291840" indent="0">
              <a:buNone/>
              <a:defRPr sz="1920"/>
            </a:lvl7pPr>
            <a:lvl8pPr marL="3840480" indent="0">
              <a:buNone/>
              <a:defRPr sz="1920"/>
            </a:lvl8pPr>
            <a:lvl9pPr marL="4389120" indent="0">
              <a:buNone/>
              <a:defRPr sz="192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8549491" y="5792650"/>
            <a:ext cx="3523196" cy="791027"/>
          </a:xfrm>
        </p:spPr>
        <p:txBody>
          <a:bodyPr anchor="t">
            <a:normAutofit/>
          </a:bodyPr>
          <a:lstStyle>
            <a:lvl1pPr marL="0" indent="0">
              <a:buNone/>
              <a:defRPr sz="168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4471370" y="2560320"/>
            <a:ext cx="0" cy="475488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8354672" y="2560320"/>
            <a:ext cx="0" cy="4760258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12/23/2025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5479605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6384923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965055" y="516256"/>
            <a:ext cx="2103121" cy="699135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2956" y="1064897"/>
            <a:ext cx="8907779" cy="644270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3062507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47625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78884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6654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174861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213498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409954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68407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STER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403915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8800" y="1346836"/>
            <a:ext cx="109728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4322446"/>
            <a:ext cx="109728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4479394"/>
      </p:ext>
    </p:extLst>
  </p:cSld>
  <p:clrMapOvr>
    <a:masterClrMapping/>
  </p:clrMapOvr>
  <p:hf sldNum="0"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884788"/>
      </p:ext>
    </p:extLst>
  </p:cSld>
  <p:clrMapOvr>
    <a:masterClrMapping/>
  </p:clrMapOvr>
  <p:hf sldNum="0"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20" y="2051686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20" y="5507356"/>
            <a:ext cx="1261872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>
                    <a:tint val="75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3276331"/>
      </p:ext>
    </p:extLst>
  </p:cSld>
  <p:clrMapOvr>
    <a:masterClrMapping/>
  </p:clrMapOvr>
  <p:hf sldNum="0" hdr="0" ft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058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066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6442892"/>
      </p:ext>
    </p:extLst>
  </p:cSld>
  <p:clrMapOvr>
    <a:masterClrMapping/>
  </p:clrMapOvr>
  <p:hf sldNum="0" hdr="0" ft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438150"/>
            <a:ext cx="12618720" cy="15906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7746" y="2017396"/>
            <a:ext cx="6189344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7746" y="3006090"/>
            <a:ext cx="6189344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640" y="2017396"/>
            <a:ext cx="6219826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640" y="3006090"/>
            <a:ext cx="6219826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493558"/>
      </p:ext>
    </p:extLst>
  </p:cSld>
  <p:clrMapOvr>
    <a:masterClrMapping/>
  </p:clrMapOvr>
  <p:hf sldNum="0" hdr="0" ft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4093966"/>
      </p:ext>
    </p:extLst>
  </p:cSld>
  <p:clrMapOvr>
    <a:masterClrMapping/>
  </p:clrMapOvr>
  <p:hf sldNum="0" hdr="0" ft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9928389"/>
      </p:ext>
    </p:extLst>
  </p:cSld>
  <p:clrMapOvr>
    <a:masterClrMapping/>
  </p:clrMapOvr>
  <p:hf sldNum="0" hdr="0" ftr="0" dt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2381484"/>
      </p:ext>
    </p:extLst>
  </p:cSld>
  <p:clrMapOvr>
    <a:masterClrMapping/>
  </p:clrMapOvr>
  <p:hf sldNum="0" hdr="0" ftr="0" dt="0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19826" y="1184911"/>
            <a:ext cx="7406640" cy="5848350"/>
          </a:xfrm>
        </p:spPr>
        <p:txBody>
          <a:bodyPr anchor="t"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7908353"/>
      </p:ext>
    </p:extLst>
  </p:cSld>
  <p:clrMapOvr>
    <a:masterClrMapping/>
  </p:clrMapOvr>
  <p:hf sldNum="0" hdr="0" ftr="0" dt="0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8844009"/>
      </p:ext>
    </p:extLst>
  </p:cSld>
  <p:clrMapOvr>
    <a:masterClrMapping/>
  </p:clrMapOvr>
  <p:hf sldNum="0" hdr="0" ftr="0" dt="0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469880" y="438150"/>
            <a:ext cx="3154680" cy="69742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05840" y="438150"/>
            <a:ext cx="9281160" cy="69742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9092308"/>
      </p:ext>
    </p:extLst>
  </p:cSld>
  <p:clrMapOvr>
    <a:masterClrMapping/>
  </p:clrMapOvr>
  <p:hf sldNum="0" hdr="0" ftr="0" dt="0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STER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1390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2.png"/><Relationship Id="rId30" Type="http://schemas.openxmlformats.org/officeDocument/2006/relationships/image" Target="../media/image5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5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3203623"/>
            <a:ext cx="4844414" cy="5025978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3470817"/>
            <a:ext cx="1826894" cy="2838544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0330814" y="2011680"/>
            <a:ext cx="3383280" cy="338328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9599295" y="1"/>
            <a:ext cx="1924064" cy="1369688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10327054" y="7315200"/>
            <a:ext cx="1192481" cy="9144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2525374" y="0"/>
            <a:ext cx="822960" cy="13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5334" y="543262"/>
            <a:ext cx="11285668" cy="168063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23975" y="2463502"/>
            <a:ext cx="10735849" cy="50345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2186767" y="2148842"/>
            <a:ext cx="1188719" cy="3657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32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12/23/2025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10741888" y="3870357"/>
            <a:ext cx="4631754" cy="36576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32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2423049" y="354876"/>
            <a:ext cx="1005839" cy="921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336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135973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68" r:id="rId16"/>
    <p:sldLayoutId id="2147483669" r:id="rId17"/>
    <p:sldLayoutId id="2147483670" r:id="rId18"/>
    <p:sldLayoutId id="2147483671" r:id="rId19"/>
    <p:sldLayoutId id="2147483672" r:id="rId20"/>
    <p:sldLayoutId id="2147483673" r:id="rId21"/>
    <p:sldLayoutId id="2147483674" r:id="rId22"/>
    <p:sldLayoutId id="2147483675" r:id="rId23"/>
    <p:sldLayoutId id="2147483677" r:id="rId24"/>
    <p:sldLayoutId id="2147483678" r:id="rId25"/>
  </p:sldLayoutIdLst>
  <p:hf sldNum="0" hdr="0" ftr="0" dt="0"/>
  <p:txStyles>
    <p:titleStyle>
      <a:lvl1pPr algn="l" defTabSz="548640" rtl="0" eaLnBrk="1" latinLnBrk="0" hangingPunct="1">
        <a:spcBef>
          <a:spcPct val="0"/>
        </a:spcBef>
        <a:buNone/>
        <a:defRPr sz="504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411480" indent="-411480" algn="l" defTabSz="548640" rtl="0" eaLnBrk="1" latinLnBrk="0" hangingPunct="1">
        <a:spcBef>
          <a:spcPts val="12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4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891540" indent="-342900" algn="l" defTabSz="548640" rtl="0" eaLnBrk="1" latinLnBrk="0" hangingPunct="1">
        <a:spcBef>
          <a:spcPts val="12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16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371600" indent="-274320" algn="l" defTabSz="548640" rtl="0" eaLnBrk="1" latinLnBrk="0" hangingPunct="1">
        <a:spcBef>
          <a:spcPts val="12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92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920240" indent="-274320" algn="l" defTabSz="548640" rtl="0" eaLnBrk="1" latinLnBrk="0" hangingPunct="1">
        <a:spcBef>
          <a:spcPts val="12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8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468880" indent="-274320" algn="l" defTabSz="548640" rtl="0" eaLnBrk="1" latinLnBrk="0" hangingPunct="1">
        <a:spcBef>
          <a:spcPts val="12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8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3007200" indent="-274320" algn="l" defTabSz="548640" rtl="0" eaLnBrk="1" latinLnBrk="0" hangingPunct="1">
        <a:spcBef>
          <a:spcPts val="12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8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3566160" indent="-274320" algn="l" defTabSz="548640" rtl="0" eaLnBrk="1" latinLnBrk="0" hangingPunct="1">
        <a:spcBef>
          <a:spcPts val="12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8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4114800" indent="-274320" algn="l" defTabSz="548640" rtl="0" eaLnBrk="1" latinLnBrk="0" hangingPunct="1">
        <a:spcBef>
          <a:spcPts val="12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8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4663440" indent="-274320" algn="l" defTabSz="548640" rtl="0" eaLnBrk="1" latinLnBrk="0" hangingPunct="1">
        <a:spcBef>
          <a:spcPts val="12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8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40" y="2190750"/>
            <a:ext cx="126187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0584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12/23/2025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6320" y="7627621"/>
            <a:ext cx="49377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3272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628514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2" r:id="rId3"/>
    <p:sldLayoutId id="2147483683" r:id="rId4"/>
    <p:sldLayoutId id="2147483684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0" r:id="rId11"/>
    <p:sldLayoutId id="2147483691" r:id="rId12"/>
  </p:sldLayoutIdLst>
  <p:hf sldNum="0" hdr="0" ftr="0" dt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7.xml"/><Relationship Id="rId6" Type="http://schemas.openxmlformats.org/officeDocument/2006/relationships/image" Target="../media/image10.jpe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7.xml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7.xml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7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7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7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7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7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7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7.xml"/><Relationship Id="rId5" Type="http://schemas.openxmlformats.org/officeDocument/2006/relationships/image" Target="../media/image47.png"/><Relationship Id="rId4" Type="http://schemas.openxmlformats.org/officeDocument/2006/relationships/image" Target="../media/image4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7.xml"/><Relationship Id="rId5" Type="http://schemas.openxmlformats.org/officeDocument/2006/relationships/image" Target="../media/image35.png"/><Relationship Id="rId4" Type="http://schemas.openxmlformats.org/officeDocument/2006/relationships/image" Target="../media/image49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7.xml"/><Relationship Id="rId6" Type="http://schemas.openxmlformats.org/officeDocument/2006/relationships/image" Target="../media/image53.png"/><Relationship Id="rId5" Type="http://schemas.openxmlformats.org/officeDocument/2006/relationships/image" Target="../media/image35.png"/><Relationship Id="rId4" Type="http://schemas.openxmlformats.org/officeDocument/2006/relationships/image" Target="../media/image31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7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7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7.xml"/><Relationship Id="rId6" Type="http://schemas.openxmlformats.org/officeDocument/2006/relationships/image" Target="../media/image43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jpg"/><Relationship Id="rId3" Type="http://schemas.openxmlformats.org/officeDocument/2006/relationships/image" Target="../media/image63.jpg"/><Relationship Id="rId7" Type="http://schemas.openxmlformats.org/officeDocument/2006/relationships/image" Target="../media/image67.jpg"/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37.xml"/><Relationship Id="rId6" Type="http://schemas.openxmlformats.org/officeDocument/2006/relationships/image" Target="../media/image66.jpg"/><Relationship Id="rId5" Type="http://schemas.openxmlformats.org/officeDocument/2006/relationships/image" Target="../media/image65.jpg"/><Relationship Id="rId10" Type="http://schemas.openxmlformats.org/officeDocument/2006/relationships/image" Target="../media/image70.jpg"/><Relationship Id="rId4" Type="http://schemas.openxmlformats.org/officeDocument/2006/relationships/image" Target="../media/image64.jpg"/><Relationship Id="rId9" Type="http://schemas.openxmlformats.org/officeDocument/2006/relationships/image" Target="../media/image6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38744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4974336" cy="8238744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1033" y="6362610"/>
            <a:ext cx="6047323" cy="96012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2508" y="4758107"/>
            <a:ext cx="6047323" cy="96012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5592904" y="553715"/>
            <a:ext cx="8010144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010"/>
              </a:lnSpc>
              <a:buNone/>
            </a:pPr>
            <a:r>
              <a:rPr lang="en-US" sz="6410" b="1" i="1" dirty="0">
                <a:solidFill>
                  <a:schemeClr val="accent2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Blood Group Detection Using InfraRed Image and Machine Learning</a:t>
            </a:r>
            <a:endParaRPr lang="en-US" sz="6410" b="1" i="1" dirty="0">
              <a:solidFill>
                <a:schemeClr val="accent2"/>
              </a:solidFill>
            </a:endParaRPr>
          </a:p>
        </p:txBody>
      </p:sp>
      <p:sp>
        <p:nvSpPr>
          <p:cNvPr id="8" name="Text 2"/>
          <p:cNvSpPr/>
          <p:nvPr/>
        </p:nvSpPr>
        <p:spPr>
          <a:xfrm>
            <a:off x="5784388" y="4998202"/>
            <a:ext cx="3383280" cy="374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Roll No.: UI22EC58 (Rahul Patel) </a:t>
            </a: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69915385-46AE-F283-2A7D-7B852F0711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788" y="995779"/>
            <a:ext cx="2419111" cy="2914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1C39E53-BA8C-35A4-0B6C-D082757114B1}"/>
              </a:ext>
            </a:extLst>
          </p:cNvPr>
          <p:cNvSpPr txBox="1"/>
          <p:nvPr/>
        </p:nvSpPr>
        <p:spPr>
          <a:xfrm>
            <a:off x="8982636" y="6473338"/>
            <a:ext cx="733671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 </a:t>
            </a: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Under the guidance of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                    Mr. Rahul Patel</a:t>
            </a:r>
            <a:endParaRPr lang="en-IN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B5E2CD-F830-B851-6AC6-C38431850AE2}"/>
              </a:ext>
            </a:extLst>
          </p:cNvPr>
          <p:cNvSpPr txBox="1"/>
          <p:nvPr/>
        </p:nvSpPr>
        <p:spPr>
          <a:xfrm>
            <a:off x="432587" y="4608284"/>
            <a:ext cx="459983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DEPARTMENT OF ELECTRONICS AND COMMUNICATION ENGINEERING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1" i="0" u="none" strike="noStrike" kern="1200" cap="none" spc="0" normalizeH="0" baseline="0" noProof="0" dirty="0">
              <a:ln>
                <a:noFill/>
              </a:ln>
              <a:solidFill>
                <a:srgbClr val="FFFF00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June, 2022-26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entury Gothic" panose="020B0502020202020204"/>
                <a:ea typeface="+mn-ea"/>
                <a:cs typeface="+mn-cs"/>
              </a:rPr>
              <a:t>INDIAN INSTITUTE OF INFORMATION TECHNOLOGY SURAT-394190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9245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78992" y="2066544"/>
            <a:ext cx="5989320" cy="374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20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1. Problem Statement</a:t>
            </a:r>
            <a:endParaRPr lang="en-US" sz="2320" dirty="0"/>
          </a:p>
        </p:txBody>
      </p:sp>
      <p:sp>
        <p:nvSpPr>
          <p:cNvPr id="4" name="Text 1"/>
          <p:cNvSpPr/>
          <p:nvPr/>
        </p:nvSpPr>
        <p:spPr>
          <a:xfrm>
            <a:off x="7571232" y="5870448"/>
            <a:ext cx="5989320" cy="374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20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14. Confusion Matrix</a:t>
            </a:r>
            <a:endParaRPr lang="en-US" sz="2320" dirty="0"/>
          </a:p>
        </p:txBody>
      </p:sp>
      <p:sp>
        <p:nvSpPr>
          <p:cNvPr id="5" name="Text 2"/>
          <p:cNvSpPr/>
          <p:nvPr/>
        </p:nvSpPr>
        <p:spPr>
          <a:xfrm>
            <a:off x="1078992" y="5870448"/>
            <a:ext cx="5989320" cy="374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20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13. Evaluation Metrics</a:t>
            </a:r>
            <a:endParaRPr lang="en-US" sz="2320" dirty="0"/>
          </a:p>
        </p:txBody>
      </p:sp>
      <p:sp>
        <p:nvSpPr>
          <p:cNvPr id="6" name="Text 3"/>
          <p:cNvSpPr/>
          <p:nvPr/>
        </p:nvSpPr>
        <p:spPr>
          <a:xfrm>
            <a:off x="1078992" y="2706624"/>
            <a:ext cx="5989320" cy="374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20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3. Proposed Solution</a:t>
            </a:r>
            <a:endParaRPr lang="en-US" sz="2320" dirty="0"/>
          </a:p>
        </p:txBody>
      </p:sp>
      <p:sp>
        <p:nvSpPr>
          <p:cNvPr id="7" name="Text 4"/>
          <p:cNvSpPr/>
          <p:nvPr/>
        </p:nvSpPr>
        <p:spPr>
          <a:xfrm>
            <a:off x="7571232" y="2706624"/>
            <a:ext cx="5989320" cy="374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20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4. Market Research &amp; Validation</a:t>
            </a:r>
            <a:endParaRPr lang="en-US" sz="2320" dirty="0"/>
          </a:p>
        </p:txBody>
      </p:sp>
      <p:sp>
        <p:nvSpPr>
          <p:cNvPr id="8" name="Text 5"/>
          <p:cNvSpPr/>
          <p:nvPr/>
        </p:nvSpPr>
        <p:spPr>
          <a:xfrm>
            <a:off x="1078992" y="3337560"/>
            <a:ext cx="5989320" cy="374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20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5. Target Market</a:t>
            </a:r>
            <a:endParaRPr lang="en-US" sz="2320" dirty="0"/>
          </a:p>
        </p:txBody>
      </p:sp>
      <p:sp>
        <p:nvSpPr>
          <p:cNvPr id="9" name="Text 6"/>
          <p:cNvSpPr/>
          <p:nvPr/>
        </p:nvSpPr>
        <p:spPr>
          <a:xfrm>
            <a:off x="7571232" y="2066544"/>
            <a:ext cx="5989320" cy="374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20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2. Objective</a:t>
            </a:r>
            <a:endParaRPr lang="en-US" sz="2320" dirty="0"/>
          </a:p>
        </p:txBody>
      </p:sp>
      <p:sp>
        <p:nvSpPr>
          <p:cNvPr id="10" name="Text 7"/>
          <p:cNvSpPr/>
          <p:nvPr/>
        </p:nvSpPr>
        <p:spPr>
          <a:xfrm>
            <a:off x="7571232" y="6510528"/>
            <a:ext cx="5989320" cy="374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20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16. Go-To-Market Strategy</a:t>
            </a:r>
            <a:endParaRPr lang="en-US" sz="2320" dirty="0"/>
          </a:p>
        </p:txBody>
      </p:sp>
      <p:sp>
        <p:nvSpPr>
          <p:cNvPr id="11" name="Text 8"/>
          <p:cNvSpPr/>
          <p:nvPr/>
        </p:nvSpPr>
        <p:spPr>
          <a:xfrm>
            <a:off x="1078992" y="7141464"/>
            <a:ext cx="5989320" cy="374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20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17. Uniqueness &amp; Innovation</a:t>
            </a:r>
            <a:endParaRPr lang="en-US" sz="2320" dirty="0"/>
          </a:p>
        </p:txBody>
      </p:sp>
      <p:sp>
        <p:nvSpPr>
          <p:cNvPr id="12" name="Text 9"/>
          <p:cNvSpPr/>
          <p:nvPr/>
        </p:nvSpPr>
        <p:spPr>
          <a:xfrm>
            <a:off x="7571232" y="7141464"/>
            <a:ext cx="5989320" cy="374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20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18. Future Roadmap</a:t>
            </a:r>
            <a:endParaRPr lang="en-US" sz="2320" dirty="0"/>
          </a:p>
        </p:txBody>
      </p:sp>
      <p:sp>
        <p:nvSpPr>
          <p:cNvPr id="13" name="Text 10"/>
          <p:cNvSpPr/>
          <p:nvPr/>
        </p:nvSpPr>
        <p:spPr>
          <a:xfrm>
            <a:off x="1078992" y="3968496"/>
            <a:ext cx="5989320" cy="374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20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7. Business Model</a:t>
            </a:r>
            <a:endParaRPr lang="en-US" sz="2320" dirty="0"/>
          </a:p>
        </p:txBody>
      </p:sp>
      <p:sp>
        <p:nvSpPr>
          <p:cNvPr id="14" name="Text 11"/>
          <p:cNvSpPr/>
          <p:nvPr/>
        </p:nvSpPr>
        <p:spPr>
          <a:xfrm>
            <a:off x="7571232" y="4608576"/>
            <a:ext cx="5989320" cy="374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20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10. Preprocessing Steps</a:t>
            </a:r>
            <a:endParaRPr lang="en-US" sz="2320" dirty="0"/>
          </a:p>
        </p:txBody>
      </p:sp>
      <p:sp>
        <p:nvSpPr>
          <p:cNvPr id="15" name="Text 12"/>
          <p:cNvSpPr/>
          <p:nvPr/>
        </p:nvSpPr>
        <p:spPr>
          <a:xfrm>
            <a:off x="1078992" y="7781544"/>
            <a:ext cx="5989320" cy="374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20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19. Conclusion &amp; Final Ask</a:t>
            </a:r>
            <a:endParaRPr lang="en-US" sz="2320" dirty="0"/>
          </a:p>
        </p:txBody>
      </p:sp>
      <p:sp>
        <p:nvSpPr>
          <p:cNvPr id="16" name="Text 13"/>
          <p:cNvSpPr/>
          <p:nvPr/>
        </p:nvSpPr>
        <p:spPr>
          <a:xfrm>
            <a:off x="1078992" y="4608576"/>
            <a:ext cx="5989320" cy="374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20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9. Dataset Overview</a:t>
            </a:r>
            <a:endParaRPr lang="en-US" sz="2320" dirty="0"/>
          </a:p>
        </p:txBody>
      </p:sp>
      <p:sp>
        <p:nvSpPr>
          <p:cNvPr id="17" name="Text 14"/>
          <p:cNvSpPr/>
          <p:nvPr/>
        </p:nvSpPr>
        <p:spPr>
          <a:xfrm>
            <a:off x="7571232" y="3968496"/>
            <a:ext cx="5989320" cy="374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20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8. Logo &amp; Tagline Redesign</a:t>
            </a:r>
            <a:endParaRPr lang="en-US" sz="2320" dirty="0"/>
          </a:p>
        </p:txBody>
      </p:sp>
      <p:sp>
        <p:nvSpPr>
          <p:cNvPr id="18" name="Text 15"/>
          <p:cNvSpPr/>
          <p:nvPr/>
        </p:nvSpPr>
        <p:spPr>
          <a:xfrm>
            <a:off x="1078992" y="5239512"/>
            <a:ext cx="5989320" cy="374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20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11. Model Architecture</a:t>
            </a:r>
            <a:endParaRPr lang="en-US" sz="2320" dirty="0"/>
          </a:p>
        </p:txBody>
      </p:sp>
      <p:sp>
        <p:nvSpPr>
          <p:cNvPr id="19" name="Text 16"/>
          <p:cNvSpPr/>
          <p:nvPr/>
        </p:nvSpPr>
        <p:spPr>
          <a:xfrm>
            <a:off x="7571232" y="3337560"/>
            <a:ext cx="5989320" cy="374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20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6. Competitive Analysis</a:t>
            </a:r>
            <a:endParaRPr lang="en-US" sz="2320" dirty="0"/>
          </a:p>
        </p:txBody>
      </p:sp>
      <p:sp>
        <p:nvSpPr>
          <p:cNvPr id="20" name="Text 17"/>
          <p:cNvSpPr/>
          <p:nvPr/>
        </p:nvSpPr>
        <p:spPr>
          <a:xfrm>
            <a:off x="832104" y="649224"/>
            <a:ext cx="12984480" cy="10241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010"/>
              </a:lnSpc>
              <a:buNone/>
            </a:pPr>
            <a:r>
              <a:rPr lang="en-US" sz="6410" b="1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CONTENTS</a:t>
            </a:r>
            <a:endParaRPr lang="en-US" sz="6410" b="1" dirty="0"/>
          </a:p>
        </p:txBody>
      </p:sp>
      <p:sp>
        <p:nvSpPr>
          <p:cNvPr id="21" name="Text 18"/>
          <p:cNvSpPr/>
          <p:nvPr/>
        </p:nvSpPr>
        <p:spPr>
          <a:xfrm>
            <a:off x="7571232" y="5239512"/>
            <a:ext cx="5989320" cy="374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20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12. Training Parameters</a:t>
            </a:r>
            <a:endParaRPr lang="en-US" sz="2320" dirty="0"/>
          </a:p>
        </p:txBody>
      </p:sp>
      <p:sp>
        <p:nvSpPr>
          <p:cNvPr id="22" name="Text 19"/>
          <p:cNvSpPr/>
          <p:nvPr/>
        </p:nvSpPr>
        <p:spPr>
          <a:xfrm>
            <a:off x="1078992" y="6510528"/>
            <a:ext cx="5989320" cy="3749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20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15. MVP – Web Application Demo</a:t>
            </a:r>
            <a:endParaRPr lang="en-US" sz="23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2791" y="-12877"/>
            <a:ext cx="14673191" cy="82296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262" y="-6131"/>
            <a:ext cx="14630400" cy="283464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402" y="5422553"/>
            <a:ext cx="6345936" cy="1441252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499" y="3213631"/>
            <a:ext cx="6217742" cy="1441252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744146" y="3423122"/>
            <a:ext cx="587044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Manual blood group detection is time-consuming, error-prone, and inaccessible in remote areas.</a:t>
            </a:r>
            <a:endParaRPr lang="en-US" sz="2400" dirty="0"/>
          </a:p>
        </p:txBody>
      </p:sp>
      <p:sp>
        <p:nvSpPr>
          <p:cNvPr id="8" name="Text 2"/>
          <p:cNvSpPr/>
          <p:nvPr/>
        </p:nvSpPr>
        <p:spPr>
          <a:xfrm>
            <a:off x="666566" y="5805068"/>
            <a:ext cx="587044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High demand for rapid, reliable, and automated solutions.</a:t>
            </a:r>
            <a:endParaRPr lang="en-US" sz="2400" dirty="0"/>
          </a:p>
        </p:txBody>
      </p:sp>
      <p:sp>
        <p:nvSpPr>
          <p:cNvPr id="9" name="Text 0"/>
          <p:cNvSpPr/>
          <p:nvPr/>
        </p:nvSpPr>
        <p:spPr>
          <a:xfrm>
            <a:off x="457200" y="905256"/>
            <a:ext cx="12984480" cy="10241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010"/>
              </a:lnSpc>
              <a:buNone/>
            </a:pPr>
            <a:r>
              <a:rPr lang="en-US" sz="6410" b="1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1. Problem Statement</a:t>
            </a:r>
            <a:endParaRPr lang="en-US" sz="6410" b="1" dirty="0"/>
          </a:p>
        </p:txBody>
      </p:sp>
      <p:sp>
        <p:nvSpPr>
          <p:cNvPr id="19" name="Shape 9">
            <a:extLst>
              <a:ext uri="{FF2B5EF4-FFF2-40B4-BE49-F238E27FC236}">
                <a16:creationId xmlns:a16="http://schemas.microsoft.com/office/drawing/2014/main" id="{4976F0D4-0DEA-5B0B-70C1-B29C6C0B4705}"/>
              </a:ext>
            </a:extLst>
          </p:cNvPr>
          <p:cNvSpPr/>
          <p:nvPr/>
        </p:nvSpPr>
        <p:spPr>
          <a:xfrm>
            <a:off x="7842160" y="3372860"/>
            <a:ext cx="487442" cy="487442"/>
          </a:xfrm>
          <a:prstGeom prst="roundRect">
            <a:avLst>
              <a:gd name="adj" fmla="val 18669"/>
            </a:avLst>
          </a:prstGeom>
          <a:solidFill>
            <a:srgbClr val="740B0B"/>
          </a:solidFill>
          <a:ln w="7620">
            <a:solidFill>
              <a:srgbClr val="8D2424"/>
            </a:solidFill>
            <a:prstDash val="solid"/>
          </a:ln>
        </p:spPr>
      </p:sp>
      <p:sp>
        <p:nvSpPr>
          <p:cNvPr id="20" name="Text 10">
            <a:extLst>
              <a:ext uri="{FF2B5EF4-FFF2-40B4-BE49-F238E27FC236}">
                <a16:creationId xmlns:a16="http://schemas.microsoft.com/office/drawing/2014/main" id="{A8341622-33E9-43EF-3CE1-79D789D219BB}"/>
              </a:ext>
            </a:extLst>
          </p:cNvPr>
          <p:cNvSpPr/>
          <p:nvPr/>
        </p:nvSpPr>
        <p:spPr>
          <a:xfrm>
            <a:off x="7887699" y="3484419"/>
            <a:ext cx="301347" cy="3420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ctr" defTabSz="457200" rtl="0" eaLnBrk="1" fontAlgn="auto" latinLnBrk="0" hangingPunct="1">
              <a:lnSpc>
                <a:spcPts val="26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650" dirty="0">
                <a:solidFill>
                  <a:srgbClr val="FFE5E5"/>
                </a:solidFill>
                <a:latin typeface="Dela Gothic One" pitchFamily="34" charset="0"/>
                <a:ea typeface="Dela Gothic One" pitchFamily="34" charset="-122"/>
              </a:rPr>
              <a:t>1</a:t>
            </a:r>
            <a:endParaRPr kumimoji="0" lang="en-US" sz="26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21" name="Text 11">
            <a:extLst>
              <a:ext uri="{FF2B5EF4-FFF2-40B4-BE49-F238E27FC236}">
                <a16:creationId xmlns:a16="http://schemas.microsoft.com/office/drawing/2014/main" id="{436B2036-376A-A701-B113-EFE4ADF73AE9}"/>
              </a:ext>
            </a:extLst>
          </p:cNvPr>
          <p:cNvSpPr/>
          <p:nvPr/>
        </p:nvSpPr>
        <p:spPr>
          <a:xfrm>
            <a:off x="8445605" y="3473558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457200" rtl="0" eaLnBrk="1" fontAlgn="auto" latinLnBrk="0" hangingPunct="1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Significance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08F50863-CAF1-7477-262A-94F239F57409}"/>
              </a:ext>
            </a:extLst>
          </p:cNvPr>
          <p:cNvSpPr/>
          <p:nvPr/>
        </p:nvSpPr>
        <p:spPr>
          <a:xfrm>
            <a:off x="8445605" y="3907886"/>
            <a:ext cx="4209239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457200" rtl="0" eaLnBrk="1" fontAlgn="auto" latinLnBrk="0" hangingPunct="1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E5E5"/>
                </a:solidFill>
                <a:effectLst/>
                <a:uLnTx/>
                <a:uFillTx/>
                <a:latin typeface="DM Sans" pitchFamily="34" charset="0"/>
                <a:ea typeface="DM Sans" pitchFamily="34" charset="-122"/>
                <a:cs typeface="DM Sans" pitchFamily="34" charset="-120"/>
              </a:rPr>
              <a:t>Faster blood group identification is crucial in emergency and medical scenarios.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B5271244-3917-D7B3-BB7C-9A4BA6D0A8AA}"/>
              </a:ext>
            </a:extLst>
          </p:cNvPr>
          <p:cNvSpPr/>
          <p:nvPr/>
        </p:nvSpPr>
        <p:spPr>
          <a:xfrm>
            <a:off x="7887699" y="5565702"/>
            <a:ext cx="487442" cy="487442"/>
          </a:xfrm>
          <a:prstGeom prst="roundRect">
            <a:avLst>
              <a:gd name="adj" fmla="val 18669"/>
            </a:avLst>
          </a:prstGeom>
          <a:solidFill>
            <a:srgbClr val="740B0B"/>
          </a:solidFill>
          <a:ln w="7620">
            <a:solidFill>
              <a:srgbClr val="8D2424"/>
            </a:solidFill>
            <a:prstDash val="solid"/>
          </a:ln>
        </p:spPr>
      </p:sp>
      <p:sp>
        <p:nvSpPr>
          <p:cNvPr id="24" name="Text 14">
            <a:extLst>
              <a:ext uri="{FF2B5EF4-FFF2-40B4-BE49-F238E27FC236}">
                <a16:creationId xmlns:a16="http://schemas.microsoft.com/office/drawing/2014/main" id="{979D89E5-E33E-81D0-2753-91A02B31B7A0}"/>
              </a:ext>
            </a:extLst>
          </p:cNvPr>
          <p:cNvSpPr/>
          <p:nvPr/>
        </p:nvSpPr>
        <p:spPr>
          <a:xfrm>
            <a:off x="7973424" y="5673040"/>
            <a:ext cx="315992" cy="3420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ctr" defTabSz="457200" rtl="0" eaLnBrk="1" fontAlgn="auto" latinLnBrk="0" hangingPunct="1">
              <a:lnSpc>
                <a:spcPts val="26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650" dirty="0">
                <a:solidFill>
                  <a:srgbClr val="FFE5E5"/>
                </a:solidFill>
                <a:latin typeface="Dela Gothic One" pitchFamily="34" charset="0"/>
                <a:ea typeface="Dela Gothic One" pitchFamily="34" charset="-122"/>
              </a:rPr>
              <a:t>2</a:t>
            </a:r>
            <a:endParaRPr kumimoji="0" lang="en-US" sz="26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25" name="Text 15">
            <a:extLst>
              <a:ext uri="{FF2B5EF4-FFF2-40B4-BE49-F238E27FC236}">
                <a16:creationId xmlns:a16="http://schemas.microsoft.com/office/drawing/2014/main" id="{EB959846-A13A-F527-D9DB-2622F78617A9}"/>
              </a:ext>
            </a:extLst>
          </p:cNvPr>
          <p:cNvSpPr/>
          <p:nvPr/>
        </p:nvSpPr>
        <p:spPr>
          <a:xfrm>
            <a:off x="8492415" y="5626950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457200" rtl="0" eaLnBrk="1" fontAlgn="auto" latinLnBrk="0" hangingPunct="1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Benefits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134F117E-8F2D-4C2B-9CF2-20F04815729F}"/>
              </a:ext>
            </a:extLst>
          </p:cNvPr>
          <p:cNvSpPr/>
          <p:nvPr/>
        </p:nvSpPr>
        <p:spPr>
          <a:xfrm>
            <a:off x="8492415" y="6053144"/>
            <a:ext cx="3902785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457200" rtl="0" eaLnBrk="1" fontAlgn="auto" latinLnBrk="0" hangingPunct="1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E5E5"/>
                </a:solidFill>
                <a:effectLst/>
                <a:uLnTx/>
                <a:uFillTx/>
                <a:latin typeface="DM Sans" pitchFamily="34" charset="0"/>
                <a:ea typeface="DM Sans" pitchFamily="34" charset="-122"/>
                <a:cs typeface="DM Sans" pitchFamily="34" charset="-120"/>
              </a:rPr>
              <a:t>Reduces human errors and improves the accuracy of blood group testing.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8148" y="1209556"/>
            <a:ext cx="5701546" cy="71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457200" rtl="0" eaLnBrk="1" fontAlgn="auto" latinLnBrk="0" hangingPunct="1">
              <a:lnSpc>
                <a:spcPts val="5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srgbClr val="FAEBEB"/>
                </a:solidFill>
                <a:effectLst/>
                <a:uLnTx/>
                <a:uFillTx/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Abstract</a:t>
            </a:r>
            <a:endParaRPr kumimoji="0" lang="en-US" sz="6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758309" y="2314799"/>
            <a:ext cx="13476980" cy="20275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457200" rtl="0" eaLnBrk="1" fontAlgn="auto" latinLnBrk="0" hangingPunct="1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E5E5"/>
                </a:solidFill>
                <a:effectLst/>
                <a:uLnTx/>
                <a:uFillTx/>
                <a:latin typeface="DM Sans" pitchFamily="34" charset="0"/>
                <a:ea typeface="DM Sans" pitchFamily="34" charset="-122"/>
                <a:cs typeface="DM Sans" pitchFamily="34" charset="-120"/>
              </a:rPr>
              <a:t>This project focuses on automating blood group detection using spectroscopic images. Our approach utilizes a Machine learning model based on the VGG16 architecture, specifically fine-tuned for this classification task. This model has achieved a high accuracy of </a:t>
            </a:r>
            <a:r>
              <a:rPr lang="en-US" sz="200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87.34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E5E5"/>
                </a:solidFill>
                <a:effectLst/>
                <a:uLnTx/>
                <a:uFillTx/>
                <a:latin typeface="DM Sans" pitchFamily="34" charset="0"/>
                <a:ea typeface="DM Sans" pitchFamily="34" charset="-122"/>
                <a:cs typeface="DM Sans" pitchFamily="34" charset="-120"/>
              </a:rPr>
              <a:t>%, demonstrating its potential for efficient and reliable blood group determination. We have also developed a user-friendly web application that allows for easy integration into various medical settings.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58309" y="4342328"/>
            <a:ext cx="4226838" cy="2321362"/>
          </a:xfrm>
          <a:prstGeom prst="roundRect">
            <a:avLst>
              <a:gd name="adj" fmla="val 3920"/>
            </a:avLst>
          </a:prstGeom>
          <a:solidFill>
            <a:srgbClr val="740B0B"/>
          </a:solidFill>
          <a:ln w="7620">
            <a:solidFill>
              <a:srgbClr val="8D24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2504" y="4566523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457200" rtl="0" eaLnBrk="1" fontAlgn="auto" latinLnBrk="0" hangingPunct="1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0000"/>
                    <a:lumOff val="80000"/>
                  </a:schemeClr>
                </a:solidFill>
                <a:effectLst/>
                <a:uLnTx/>
                <a:uFillTx/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Objective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20000"/>
                  <a:lumOff val="80000"/>
                </a:scheme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82504" y="5052655"/>
            <a:ext cx="3778448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457200" rtl="0" eaLnBrk="1" fontAlgn="auto" latinLnBrk="0" hangingPunct="1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E5E5"/>
                </a:solidFill>
                <a:effectLst/>
                <a:uLnTx/>
                <a:uFillTx/>
                <a:latin typeface="DM Sans" pitchFamily="34" charset="0"/>
                <a:ea typeface="DM Sans" pitchFamily="34" charset="-122"/>
                <a:cs typeface="DM Sans" pitchFamily="34" charset="-120"/>
              </a:rPr>
              <a:t>Develop an automated system for blood group detection using image analysis and Machine learning.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201722" y="4342328"/>
            <a:ext cx="4226838" cy="2321362"/>
          </a:xfrm>
          <a:prstGeom prst="roundRect">
            <a:avLst>
              <a:gd name="adj" fmla="val 3920"/>
            </a:avLst>
          </a:prstGeom>
          <a:solidFill>
            <a:srgbClr val="740B0B"/>
          </a:solidFill>
          <a:ln w="7620">
            <a:solidFill>
              <a:srgbClr val="8D24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25916" y="4566523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457200" rtl="0" eaLnBrk="1" fontAlgn="auto" latinLnBrk="0" hangingPunct="1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0000"/>
                    <a:lumOff val="80000"/>
                  </a:schemeClr>
                </a:solidFill>
                <a:effectLst/>
                <a:uLnTx/>
                <a:uFillTx/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Approach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20000"/>
                  <a:lumOff val="80000"/>
                </a:scheme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25916" y="5052655"/>
            <a:ext cx="3778448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457200" rtl="0" eaLnBrk="1" fontAlgn="auto" latinLnBrk="0" hangingPunct="1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E5E5"/>
                </a:solidFill>
                <a:effectLst/>
                <a:uLnTx/>
                <a:uFillTx/>
                <a:latin typeface="DM Sans" pitchFamily="34" charset="0"/>
                <a:ea typeface="DM Sans" pitchFamily="34" charset="-122"/>
                <a:cs typeface="DM Sans" pitchFamily="34" charset="-120"/>
              </a:rPr>
              <a:t>Employ a Machine learning model based on VGG16 architecture, fine-tuned for 8-class blood group classification.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645134" y="4342328"/>
            <a:ext cx="4226838" cy="2321362"/>
          </a:xfrm>
          <a:prstGeom prst="roundRect">
            <a:avLst>
              <a:gd name="adj" fmla="val 3920"/>
            </a:avLst>
          </a:prstGeom>
          <a:solidFill>
            <a:srgbClr val="740B0B"/>
          </a:solidFill>
          <a:ln w="7620">
            <a:solidFill>
              <a:srgbClr val="8D24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69329" y="4566523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457200" rtl="0" eaLnBrk="1" fontAlgn="auto" latinLnBrk="0" hangingPunct="1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0000"/>
                    <a:lumOff val="80000"/>
                  </a:schemeClr>
                </a:solidFill>
                <a:effectLst/>
                <a:uLnTx/>
                <a:uFillTx/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Results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20000"/>
                  <a:lumOff val="80000"/>
                </a:schemeClr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9869329" y="5052655"/>
            <a:ext cx="3778448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457200" rtl="0" eaLnBrk="1" fontAlgn="auto" latinLnBrk="0" hangingPunct="1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E5E5"/>
                </a:solidFill>
                <a:effectLst/>
                <a:uLnTx/>
                <a:uFillTx/>
                <a:latin typeface="DM Sans" pitchFamily="34" charset="0"/>
                <a:ea typeface="DM Sans" pitchFamily="34" charset="-122"/>
                <a:cs typeface="DM Sans" pitchFamily="34" charset="-120"/>
              </a:rPr>
              <a:t>Achieved a </a:t>
            </a:r>
            <a:r>
              <a:rPr lang="en-US" sz="200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87.34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E5E5"/>
                </a:solidFill>
                <a:effectLst/>
                <a:uLnTx/>
                <a:uFillTx/>
                <a:latin typeface="DM Sans" pitchFamily="34" charset="0"/>
                <a:ea typeface="DM Sans" pitchFamily="34" charset="-122"/>
                <a:cs typeface="DM Sans" pitchFamily="34" charset="-120"/>
              </a:rPr>
              <a:t>% accuracy on the test dataset and developed a user-friendly web application for real-time predictions.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0" y="-9144"/>
            <a:ext cx="14630400" cy="8238744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6064" y="0"/>
            <a:ext cx="4974336" cy="82387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55776" y="2187928"/>
            <a:ext cx="750722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To develop an automated blood group detection system using spectroscopic images and machine learning.</a:t>
            </a:r>
            <a:endParaRPr lang="en-US" sz="2400" dirty="0"/>
          </a:p>
        </p:txBody>
      </p:sp>
      <p:sp>
        <p:nvSpPr>
          <p:cNvPr id="5" name="Text 1"/>
          <p:cNvSpPr/>
          <p:nvPr/>
        </p:nvSpPr>
        <p:spPr>
          <a:xfrm>
            <a:off x="1255776" y="3401568"/>
            <a:ext cx="7507224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Improve speed, reliability, and accessibility.</a:t>
            </a:r>
            <a:endParaRPr lang="en-US" sz="2400" dirty="0"/>
          </a:p>
        </p:txBody>
      </p:sp>
      <p:sp>
        <p:nvSpPr>
          <p:cNvPr id="6" name="Text 2"/>
          <p:cNvSpPr/>
          <p:nvPr/>
        </p:nvSpPr>
        <p:spPr>
          <a:xfrm>
            <a:off x="832104" y="1014984"/>
            <a:ext cx="8010144" cy="740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00"/>
              </a:lnSpc>
              <a:buNone/>
            </a:pPr>
            <a:r>
              <a:rPr lang="en-US" sz="6000" b="1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2. Objective</a:t>
            </a:r>
            <a:endParaRPr lang="en-US" sz="6000" b="1" dirty="0"/>
          </a:p>
        </p:txBody>
      </p:sp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1DB48F11-0217-C66A-885F-D0C875F3B0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12192"/>
            <a:ext cx="5486400" cy="8229600"/>
          </a:xfrm>
          <a:prstGeom prst="rect">
            <a:avLst/>
          </a:prstGeom>
        </p:spPr>
      </p:pic>
      <p:sp>
        <p:nvSpPr>
          <p:cNvPr id="8" name="Text 1">
            <a:extLst>
              <a:ext uri="{FF2B5EF4-FFF2-40B4-BE49-F238E27FC236}">
                <a16:creationId xmlns:a16="http://schemas.microsoft.com/office/drawing/2014/main" id="{03824750-2787-F57D-D495-3B9480C542AF}"/>
              </a:ext>
            </a:extLst>
          </p:cNvPr>
          <p:cNvSpPr/>
          <p:nvPr/>
        </p:nvSpPr>
        <p:spPr>
          <a:xfrm>
            <a:off x="1255776" y="4229100"/>
            <a:ext cx="7665720" cy="1351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50"/>
              </a:lnSpc>
              <a:buNone/>
            </a:pPr>
            <a:r>
              <a:rPr lang="en-US" sz="200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This project explores the use of machine learning to automate blood group detection using spectroscopic image processing. The goal is to develop a system that can accurately predict blood groups from images, leading to faster and more reliable blood group identification.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D3D0E9-CF3F-1495-9371-3B096E8FB5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3361" r="58390"/>
          <a:stretch/>
        </p:blipFill>
        <p:spPr>
          <a:xfrm>
            <a:off x="852470" y="1064156"/>
            <a:ext cx="6248239" cy="511986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4DEB1F5-680A-B593-A5C8-4A8D779DD8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8731444" y="892176"/>
            <a:ext cx="4629150" cy="546382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1FB3B6-EB23-DC1E-5164-8143A6062ADA}"/>
              </a:ext>
            </a:extLst>
          </p:cNvPr>
          <p:cNvSpPr txBox="1"/>
          <p:nvPr/>
        </p:nvSpPr>
        <p:spPr>
          <a:xfrm>
            <a:off x="400050" y="351853"/>
            <a:ext cx="123789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3600" b="1" i="0" u="none" strike="noStrike" kern="120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 Black" panose="020B0A04020102020204" pitchFamily="34" charset="0"/>
                <a:ea typeface="+mn-ea"/>
                <a:cs typeface="+mn-cs"/>
              </a:rPr>
              <a:t>Traditional Method Error  (Not 100% Accuracy)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99C2E15-6D22-8D7A-7FD6-6B7B054A09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7053691"/>
              </p:ext>
            </p:extLst>
          </p:nvPr>
        </p:nvGraphicFramePr>
        <p:xfrm>
          <a:off x="2540000" y="6407683"/>
          <a:ext cx="9753600" cy="1261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76800">
                  <a:extLst>
                    <a:ext uri="{9D8B030D-6E8A-4147-A177-3AD203B41FA5}">
                      <a16:colId xmlns:a16="http://schemas.microsoft.com/office/drawing/2014/main" val="630900620"/>
                    </a:ext>
                  </a:extLst>
                </a:gridCol>
                <a:gridCol w="4876800">
                  <a:extLst>
                    <a:ext uri="{9D8B030D-6E8A-4147-A177-3AD203B41FA5}">
                      <a16:colId xmlns:a16="http://schemas.microsoft.com/office/drawing/2014/main" val="34720221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Blood Group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14438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8</a:t>
                      </a:r>
                      <a:r>
                        <a:rPr lang="en-IN" sz="1200" dirty="0"/>
                        <a:t>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AB+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81025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After 8</a:t>
                      </a:r>
                      <a:r>
                        <a:rPr lang="en-IN" sz="1200" dirty="0"/>
                        <a:t>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49481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93363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38744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4630400" cy="283464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4507991"/>
            <a:ext cx="4142232" cy="1215475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8656" y="4507992"/>
            <a:ext cx="4142232" cy="1215474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6064" y="4507992"/>
            <a:ext cx="4142232" cy="1215474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1078992" y="4626864"/>
            <a:ext cx="367588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VGG16-based ML model trained on spectroscopic images</a:t>
            </a:r>
            <a:endParaRPr lang="en-US" sz="2400" dirty="0"/>
          </a:p>
        </p:txBody>
      </p:sp>
      <p:sp>
        <p:nvSpPr>
          <p:cNvPr id="8" name="Text 1"/>
          <p:cNvSpPr/>
          <p:nvPr/>
        </p:nvSpPr>
        <p:spPr>
          <a:xfrm>
            <a:off x="9893808" y="4626864"/>
            <a:ext cx="3675888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87.34% test accuracy</a:t>
            </a:r>
            <a:endParaRPr lang="en-US" sz="2400" dirty="0"/>
          </a:p>
        </p:txBody>
      </p:sp>
      <p:sp>
        <p:nvSpPr>
          <p:cNvPr id="9" name="Text 2"/>
          <p:cNvSpPr/>
          <p:nvPr/>
        </p:nvSpPr>
        <p:spPr>
          <a:xfrm>
            <a:off x="5486400" y="4626864"/>
            <a:ext cx="367588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Flask-based web app for real-time detection</a:t>
            </a:r>
            <a:endParaRPr lang="en-US" sz="2400" dirty="0"/>
          </a:p>
        </p:txBody>
      </p:sp>
      <p:sp>
        <p:nvSpPr>
          <p:cNvPr id="10" name="Text 3"/>
          <p:cNvSpPr/>
          <p:nvPr/>
        </p:nvSpPr>
        <p:spPr>
          <a:xfrm>
            <a:off x="841248" y="3134812"/>
            <a:ext cx="12984480" cy="740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00"/>
              </a:lnSpc>
              <a:buNone/>
            </a:pPr>
            <a:r>
              <a:rPr lang="en-US" sz="4640" b="1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3. Proposed Solution</a:t>
            </a:r>
            <a:endParaRPr lang="en-US" sz="4640" b="1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209371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86145" y="2556034"/>
            <a:ext cx="4407932" cy="5509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457200" rtl="0" eaLnBrk="1" fontAlgn="auto" latinLnBrk="0" hangingPunct="1">
              <a:lnSpc>
                <a:spcPts val="43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AEBEB"/>
                </a:solidFill>
                <a:effectLst/>
                <a:uLnTx/>
                <a:uFillTx/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Methodology</a:t>
            </a:r>
            <a:endParaRPr kumimoji="0" lang="en-US" sz="4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4" name="Text 1"/>
          <p:cNvSpPr/>
          <p:nvPr/>
        </p:nvSpPr>
        <p:spPr>
          <a:xfrm>
            <a:off x="586145" y="3358158"/>
            <a:ext cx="13458111" cy="536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4572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FFE5E5"/>
                </a:solidFill>
                <a:effectLst/>
                <a:uLnTx/>
                <a:uFillTx/>
                <a:latin typeface="DM Sans" pitchFamily="34" charset="0"/>
                <a:ea typeface="DM Sans" pitchFamily="34" charset="-122"/>
                <a:cs typeface="DM Sans" pitchFamily="34" charset="-120"/>
              </a:rPr>
              <a:t>The methodology involves a series of steps, starting with data Preprocessing , followed by model architecture, evaluation, and finally, deployment. Each step plays a crucial role in building a robust and accurate system for automated blood group detection.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5" name="Shape 2"/>
          <p:cNvSpPr/>
          <p:nvPr/>
        </p:nvSpPr>
        <p:spPr>
          <a:xfrm>
            <a:off x="7303770" y="4082534"/>
            <a:ext cx="22860" cy="3684627"/>
          </a:xfrm>
          <a:prstGeom prst="roundRect">
            <a:avLst>
              <a:gd name="adj" fmla="val 307746"/>
            </a:avLst>
          </a:prstGeom>
          <a:solidFill>
            <a:srgbClr val="8D2424"/>
          </a:solidFill>
          <a:ln/>
        </p:spPr>
      </p:sp>
      <p:sp>
        <p:nvSpPr>
          <p:cNvPr id="6" name="Shape 3"/>
          <p:cNvSpPr/>
          <p:nvPr/>
        </p:nvSpPr>
        <p:spPr>
          <a:xfrm>
            <a:off x="6563499" y="4447818"/>
            <a:ext cx="586145" cy="22860"/>
          </a:xfrm>
          <a:prstGeom prst="roundRect">
            <a:avLst>
              <a:gd name="adj" fmla="val 307746"/>
            </a:avLst>
          </a:prstGeom>
          <a:solidFill>
            <a:srgbClr val="8D2424"/>
          </a:solidFill>
          <a:ln/>
        </p:spPr>
      </p:sp>
      <p:sp>
        <p:nvSpPr>
          <p:cNvPr id="7" name="Shape 4"/>
          <p:cNvSpPr/>
          <p:nvPr/>
        </p:nvSpPr>
        <p:spPr>
          <a:xfrm>
            <a:off x="7126784" y="4270891"/>
            <a:ext cx="376833" cy="376833"/>
          </a:xfrm>
          <a:prstGeom prst="roundRect">
            <a:avLst>
              <a:gd name="adj" fmla="val 18669"/>
            </a:avLst>
          </a:prstGeom>
          <a:solidFill>
            <a:srgbClr val="740B0B"/>
          </a:solidFill>
          <a:ln w="7620">
            <a:solidFill>
              <a:srgbClr val="8D242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237393" y="4327088"/>
            <a:ext cx="155496" cy="26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ctr" defTabSz="457200" rtl="0" eaLnBrk="1" fontAlgn="auto" latinLnBrk="0" hangingPunct="1">
              <a:lnSpc>
                <a:spcPts val="20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50" b="0" i="0" u="none" strike="noStrike" kern="1200" cap="none" spc="0" normalizeH="0" baseline="0" noProof="0" dirty="0">
                <a:ln>
                  <a:noFill/>
                </a:ln>
                <a:solidFill>
                  <a:srgbClr val="FFE5E5"/>
                </a:solidFill>
                <a:effectLst/>
                <a:uLnTx/>
                <a:uFillTx/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1</a:t>
            </a:r>
            <a:endParaRPr kumimoji="0" lang="en-US" sz="20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9" name="Text 6"/>
          <p:cNvSpPr/>
          <p:nvPr/>
        </p:nvSpPr>
        <p:spPr>
          <a:xfrm>
            <a:off x="3772138" y="4249936"/>
            <a:ext cx="2621875" cy="2753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r" defTabSz="457200" rtl="0" eaLnBrk="1" fontAlgn="auto" latinLnBrk="0" hangingPunct="1"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Data Preprocessing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Text 7"/>
          <p:cNvSpPr/>
          <p:nvPr/>
        </p:nvSpPr>
        <p:spPr>
          <a:xfrm>
            <a:off x="586145" y="4625816"/>
            <a:ext cx="5807869" cy="536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r" defTabSz="4572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FFE5E5"/>
                </a:solidFill>
                <a:effectLst/>
                <a:uLnTx/>
                <a:uFillTx/>
                <a:latin typeface="DM Sans" pitchFamily="34" charset="0"/>
                <a:ea typeface="DM Sans" pitchFamily="34" charset="-122"/>
                <a:cs typeface="DM Sans" pitchFamily="34" charset="-120"/>
              </a:rPr>
              <a:t>Image resizing, augmentation, and splitting into training, validation, and test sets.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7480756" y="5285184"/>
            <a:ext cx="586145" cy="22860"/>
          </a:xfrm>
          <a:prstGeom prst="roundRect">
            <a:avLst>
              <a:gd name="adj" fmla="val 307746"/>
            </a:avLst>
          </a:prstGeom>
          <a:solidFill>
            <a:srgbClr val="8D2424"/>
          </a:solidFill>
          <a:ln/>
        </p:spPr>
      </p:sp>
      <p:sp>
        <p:nvSpPr>
          <p:cNvPr id="12" name="Shape 9"/>
          <p:cNvSpPr/>
          <p:nvPr/>
        </p:nvSpPr>
        <p:spPr>
          <a:xfrm>
            <a:off x="7126784" y="5108258"/>
            <a:ext cx="376833" cy="376833"/>
          </a:xfrm>
          <a:prstGeom prst="roundRect">
            <a:avLst>
              <a:gd name="adj" fmla="val 18669"/>
            </a:avLst>
          </a:prstGeom>
          <a:solidFill>
            <a:srgbClr val="740B0B"/>
          </a:solidFill>
          <a:ln w="7620">
            <a:solidFill>
              <a:srgbClr val="8D242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204770" y="5164455"/>
            <a:ext cx="220742" cy="26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ctr" defTabSz="457200" rtl="0" eaLnBrk="1" fontAlgn="auto" latinLnBrk="0" hangingPunct="1">
              <a:lnSpc>
                <a:spcPts val="20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50" b="0" i="0" u="none" strike="noStrike" kern="1200" cap="none" spc="0" normalizeH="0" baseline="0" noProof="0" dirty="0">
                <a:ln>
                  <a:noFill/>
                </a:ln>
                <a:solidFill>
                  <a:srgbClr val="FFE5E5"/>
                </a:solidFill>
                <a:effectLst/>
                <a:uLnTx/>
                <a:uFillTx/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2</a:t>
            </a:r>
            <a:endParaRPr kumimoji="0" lang="en-US" sz="20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236387" y="5087303"/>
            <a:ext cx="2526268" cy="2753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457200" rtl="0" eaLnBrk="1" fontAlgn="auto" latinLnBrk="0" hangingPunct="1"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Model Architecture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236387" y="5463183"/>
            <a:ext cx="5807869" cy="536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4572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FFE5E5"/>
                </a:solidFill>
                <a:effectLst/>
                <a:uLnTx/>
                <a:uFillTx/>
                <a:latin typeface="DM Sans" pitchFamily="34" charset="0"/>
                <a:ea typeface="DM Sans" pitchFamily="34" charset="-122"/>
                <a:cs typeface="DM Sans" pitchFamily="34" charset="-120"/>
              </a:rPr>
              <a:t>Utilization of a pretrained VGG16 network, fine-tuned for 8-class classification, with custom dense layers and softmax activation.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6563499" y="6038850"/>
            <a:ext cx="586145" cy="22860"/>
          </a:xfrm>
          <a:prstGeom prst="roundRect">
            <a:avLst>
              <a:gd name="adj" fmla="val 307746"/>
            </a:avLst>
          </a:prstGeom>
          <a:solidFill>
            <a:srgbClr val="8D2424"/>
          </a:solidFill>
          <a:ln/>
        </p:spPr>
      </p:sp>
      <p:sp>
        <p:nvSpPr>
          <p:cNvPr id="17" name="Shape 14"/>
          <p:cNvSpPr/>
          <p:nvPr/>
        </p:nvSpPr>
        <p:spPr>
          <a:xfrm>
            <a:off x="7126784" y="5861923"/>
            <a:ext cx="376833" cy="376833"/>
          </a:xfrm>
          <a:prstGeom prst="roundRect">
            <a:avLst>
              <a:gd name="adj" fmla="val 18669"/>
            </a:avLst>
          </a:prstGeom>
          <a:solidFill>
            <a:srgbClr val="740B0B"/>
          </a:solidFill>
          <a:ln w="7620">
            <a:solidFill>
              <a:srgbClr val="8D242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198697" y="5918121"/>
            <a:ext cx="232886" cy="26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ctr" defTabSz="457200" rtl="0" eaLnBrk="1" fontAlgn="auto" latinLnBrk="0" hangingPunct="1">
              <a:lnSpc>
                <a:spcPts val="20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50" b="0" i="0" u="none" strike="noStrike" kern="1200" cap="none" spc="0" normalizeH="0" baseline="0" noProof="0" dirty="0">
                <a:ln>
                  <a:noFill/>
                </a:ln>
                <a:solidFill>
                  <a:srgbClr val="FFE5E5"/>
                </a:solidFill>
                <a:effectLst/>
                <a:uLnTx/>
                <a:uFillTx/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3</a:t>
            </a:r>
            <a:endParaRPr kumimoji="0" lang="en-US" sz="20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4190048" y="5840968"/>
            <a:ext cx="2203966" cy="2753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r" defTabSz="457200" rtl="0" eaLnBrk="1" fontAlgn="auto" latinLnBrk="0" hangingPunct="1"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Evaluation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586145" y="6216848"/>
            <a:ext cx="5807869" cy="536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r" defTabSz="4572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FFE5E5"/>
                </a:solidFill>
                <a:effectLst/>
                <a:uLnTx/>
                <a:uFillTx/>
                <a:latin typeface="DM Sans" pitchFamily="34" charset="0"/>
                <a:ea typeface="DM Sans" pitchFamily="34" charset="-122"/>
                <a:cs typeface="DM Sans" pitchFamily="34" charset="-120"/>
              </a:rPr>
              <a:t>Assessment of model performance using metrics such as accuracy, confusion matrix, and loss.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7480756" y="6792516"/>
            <a:ext cx="586145" cy="22860"/>
          </a:xfrm>
          <a:prstGeom prst="roundRect">
            <a:avLst>
              <a:gd name="adj" fmla="val 307746"/>
            </a:avLst>
          </a:prstGeom>
          <a:solidFill>
            <a:srgbClr val="8D2424"/>
          </a:solidFill>
          <a:ln/>
        </p:spPr>
      </p:sp>
      <p:sp>
        <p:nvSpPr>
          <p:cNvPr id="22" name="Shape 19"/>
          <p:cNvSpPr/>
          <p:nvPr/>
        </p:nvSpPr>
        <p:spPr>
          <a:xfrm>
            <a:off x="7126784" y="6615589"/>
            <a:ext cx="376833" cy="376833"/>
          </a:xfrm>
          <a:prstGeom prst="roundRect">
            <a:avLst>
              <a:gd name="adj" fmla="val 18669"/>
            </a:avLst>
          </a:prstGeom>
          <a:solidFill>
            <a:srgbClr val="740B0B"/>
          </a:solidFill>
          <a:ln w="7620">
            <a:solidFill>
              <a:srgbClr val="8D2424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192982" y="6671786"/>
            <a:ext cx="244316" cy="26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ctr" defTabSz="457200" rtl="0" eaLnBrk="1" fontAlgn="auto" latinLnBrk="0" hangingPunct="1">
              <a:lnSpc>
                <a:spcPts val="20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50" b="0" i="0" u="none" strike="noStrike" kern="1200" cap="none" spc="0" normalizeH="0" baseline="0" noProof="0" dirty="0">
                <a:ln>
                  <a:noFill/>
                </a:ln>
                <a:solidFill>
                  <a:srgbClr val="FFE5E5"/>
                </a:solidFill>
                <a:effectLst/>
                <a:uLnTx/>
                <a:uFillTx/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4</a:t>
            </a:r>
            <a:endParaRPr kumimoji="0" lang="en-US" sz="20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8236387" y="6594634"/>
            <a:ext cx="2203966" cy="2753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457200" rtl="0" eaLnBrk="1" fontAlgn="auto" latinLnBrk="0" hangingPunct="1"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Deployment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8236387" y="6970514"/>
            <a:ext cx="5807869" cy="536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4572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FFE5E5"/>
                </a:solidFill>
                <a:effectLst/>
                <a:uLnTx/>
                <a:uFillTx/>
                <a:latin typeface="DM Sans" pitchFamily="34" charset="0"/>
                <a:ea typeface="DM Sans" pitchFamily="34" charset="-122"/>
                <a:cs typeface="DM Sans" pitchFamily="34" charset="-120"/>
              </a:rPr>
              <a:t>Implementation of a Flask-based web application for real-time blood group predictions.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870410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38744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" y="0"/>
            <a:ext cx="14575536" cy="8174736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0648" y="4960620"/>
            <a:ext cx="6345936" cy="566928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956" y="4997196"/>
            <a:ext cx="6345936" cy="566928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" y="4032504"/>
            <a:ext cx="6345936" cy="566928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956" y="5993892"/>
            <a:ext cx="12957048" cy="566928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500" y="4059936"/>
            <a:ext cx="6345936" cy="566928"/>
          </a:xfrm>
          <a:prstGeom prst="rect">
            <a:avLst/>
          </a:prstGeom>
        </p:spPr>
      </p:pic>
      <p:sp>
        <p:nvSpPr>
          <p:cNvPr id="9" name="Text 0"/>
          <p:cNvSpPr/>
          <p:nvPr/>
        </p:nvSpPr>
        <p:spPr>
          <a:xfrm>
            <a:off x="7562089" y="4146804"/>
            <a:ext cx="5870448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Emergency Services</a:t>
            </a:r>
            <a:endParaRPr lang="en-US" sz="2400" dirty="0"/>
          </a:p>
        </p:txBody>
      </p:sp>
      <p:sp>
        <p:nvSpPr>
          <p:cNvPr id="10" name="Text 1"/>
          <p:cNvSpPr/>
          <p:nvPr/>
        </p:nvSpPr>
        <p:spPr>
          <a:xfrm>
            <a:off x="950977" y="4133088"/>
            <a:ext cx="5870448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Hospitals &amp; Blood Banks</a:t>
            </a:r>
            <a:endParaRPr lang="en-US" sz="2400" dirty="0"/>
          </a:p>
        </p:txBody>
      </p:sp>
      <p:sp>
        <p:nvSpPr>
          <p:cNvPr id="11" name="Text 2"/>
          <p:cNvSpPr/>
          <p:nvPr/>
        </p:nvSpPr>
        <p:spPr>
          <a:xfrm>
            <a:off x="832104" y="2944368"/>
            <a:ext cx="12984480" cy="740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00"/>
              </a:lnSpc>
              <a:buNone/>
            </a:pPr>
            <a:r>
              <a:rPr lang="en-US" sz="4640" b="1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5. Target Market</a:t>
            </a:r>
            <a:endParaRPr lang="en-US" sz="4640" b="1" dirty="0"/>
          </a:p>
        </p:txBody>
      </p:sp>
      <p:sp>
        <p:nvSpPr>
          <p:cNvPr id="12" name="Text 3"/>
          <p:cNvSpPr/>
          <p:nvPr/>
        </p:nvSpPr>
        <p:spPr>
          <a:xfrm>
            <a:off x="7562089" y="5074920"/>
            <a:ext cx="5870448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Military &amp; Disaster Teams</a:t>
            </a:r>
            <a:endParaRPr lang="en-US" sz="2400" dirty="0"/>
          </a:p>
        </p:txBody>
      </p:sp>
      <p:sp>
        <p:nvSpPr>
          <p:cNvPr id="13" name="Text 4"/>
          <p:cNvSpPr/>
          <p:nvPr/>
        </p:nvSpPr>
        <p:spPr>
          <a:xfrm>
            <a:off x="950977" y="6069330"/>
            <a:ext cx="12481560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Medical Research Labs</a:t>
            </a:r>
            <a:endParaRPr lang="en-US" sz="2400" dirty="0"/>
          </a:p>
        </p:txBody>
      </p:sp>
      <p:sp>
        <p:nvSpPr>
          <p:cNvPr id="14" name="Text 5"/>
          <p:cNvSpPr/>
          <p:nvPr/>
        </p:nvSpPr>
        <p:spPr>
          <a:xfrm>
            <a:off x="950977" y="5070348"/>
            <a:ext cx="5870448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Remote Clinics</a:t>
            </a:r>
            <a:endParaRPr lang="en-US" sz="2400" dirty="0"/>
          </a:p>
        </p:txBody>
      </p:sp>
      <p:pic>
        <p:nvPicPr>
          <p:cNvPr id="17" name="Image 2" descr="preencoded.png">
            <a:extLst>
              <a:ext uri="{FF2B5EF4-FFF2-40B4-BE49-F238E27FC236}">
                <a16:creationId xmlns:a16="http://schemas.microsoft.com/office/drawing/2014/main" id="{4CC79276-13DD-8601-96DE-307269C0196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58984" y="1133856"/>
            <a:ext cx="4142232" cy="1488186"/>
          </a:xfrm>
          <a:prstGeom prst="rect">
            <a:avLst/>
          </a:prstGeom>
        </p:spPr>
      </p:pic>
      <p:pic>
        <p:nvPicPr>
          <p:cNvPr id="18" name="Image 3" descr="preencoded.png">
            <a:extLst>
              <a:ext uri="{FF2B5EF4-FFF2-40B4-BE49-F238E27FC236}">
                <a16:creationId xmlns:a16="http://schemas.microsoft.com/office/drawing/2014/main" id="{195A15A4-218B-127C-49A1-618ED6256C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956" y="1120140"/>
            <a:ext cx="4142232" cy="1488186"/>
          </a:xfrm>
          <a:prstGeom prst="rect">
            <a:avLst/>
          </a:prstGeom>
        </p:spPr>
      </p:pic>
      <p:pic>
        <p:nvPicPr>
          <p:cNvPr id="19" name="Image 4" descr="preencoded.png">
            <a:extLst>
              <a:ext uri="{FF2B5EF4-FFF2-40B4-BE49-F238E27FC236}">
                <a16:creationId xmlns:a16="http://schemas.microsoft.com/office/drawing/2014/main" id="{862FD6F1-C933-247B-8501-3B54B17598B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81244" y="1149858"/>
            <a:ext cx="4257294" cy="1488186"/>
          </a:xfrm>
          <a:prstGeom prst="rect">
            <a:avLst/>
          </a:prstGeom>
        </p:spPr>
      </p:pic>
      <p:sp>
        <p:nvSpPr>
          <p:cNvPr id="20" name="Text 0">
            <a:extLst>
              <a:ext uri="{FF2B5EF4-FFF2-40B4-BE49-F238E27FC236}">
                <a16:creationId xmlns:a16="http://schemas.microsoft.com/office/drawing/2014/main" id="{FE8202AE-61BB-5C11-894C-BE0CB94E4B7C}"/>
              </a:ext>
            </a:extLst>
          </p:cNvPr>
          <p:cNvSpPr/>
          <p:nvPr/>
        </p:nvSpPr>
        <p:spPr>
          <a:xfrm>
            <a:off x="10392156" y="1403604"/>
            <a:ext cx="367588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Online survey: 86% doctors support AI-aided diagnostics</a:t>
            </a:r>
            <a:endParaRPr lang="en-US" sz="2400" dirty="0"/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84225AFE-888F-BB4D-FB1F-8EB8702F21E1}"/>
              </a:ext>
            </a:extLst>
          </p:cNvPr>
          <p:cNvSpPr/>
          <p:nvPr/>
        </p:nvSpPr>
        <p:spPr>
          <a:xfrm>
            <a:off x="790956" y="169164"/>
            <a:ext cx="12984480" cy="740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00"/>
              </a:lnSpc>
              <a:buNone/>
            </a:pPr>
            <a:r>
              <a:rPr lang="en-US" sz="4640" b="1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4. Market Research &amp; Validation</a:t>
            </a:r>
            <a:endParaRPr lang="en-US" sz="4640" b="1" dirty="0"/>
          </a:p>
        </p:txBody>
      </p:sp>
      <p:sp>
        <p:nvSpPr>
          <p:cNvPr id="22" name="Text 2">
            <a:extLst>
              <a:ext uri="{FF2B5EF4-FFF2-40B4-BE49-F238E27FC236}">
                <a16:creationId xmlns:a16="http://schemas.microsoft.com/office/drawing/2014/main" id="{D9F0739E-C5FB-C2B0-8F1D-57EBABBE642B}"/>
              </a:ext>
            </a:extLst>
          </p:cNvPr>
          <p:cNvSpPr/>
          <p:nvPr/>
        </p:nvSpPr>
        <p:spPr>
          <a:xfrm>
            <a:off x="841248" y="1369314"/>
            <a:ext cx="367588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118M blood donations per year globally (WHO)</a:t>
            </a:r>
            <a:endParaRPr lang="en-US" sz="2400" dirty="0"/>
          </a:p>
        </p:txBody>
      </p:sp>
      <p:sp>
        <p:nvSpPr>
          <p:cNvPr id="23" name="Text 3">
            <a:extLst>
              <a:ext uri="{FF2B5EF4-FFF2-40B4-BE49-F238E27FC236}">
                <a16:creationId xmlns:a16="http://schemas.microsoft.com/office/drawing/2014/main" id="{A115BBBA-A59C-BDE1-8CEC-175BDF4FFD95}"/>
              </a:ext>
            </a:extLst>
          </p:cNvPr>
          <p:cNvSpPr/>
          <p:nvPr/>
        </p:nvSpPr>
        <p:spPr>
          <a:xfrm>
            <a:off x="5591557" y="1415034"/>
            <a:ext cx="367588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Hospitals and emergency services need faster diagnostics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38744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" y="36576"/>
            <a:ext cx="14575536" cy="81747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5872505"/>
              </p:ext>
            </p:extLst>
          </p:nvPr>
        </p:nvGraphicFramePr>
        <p:xfrm>
          <a:off x="699911" y="3127248"/>
          <a:ext cx="13116675" cy="3040317"/>
        </p:xfrm>
        <a:graphic>
          <a:graphicData uri="http://schemas.openxmlformats.org/drawingml/2006/table">
            <a:tbl>
              <a:tblPr/>
              <a:tblGrid>
                <a:gridCol w="2889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75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33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058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4086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96112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60"/>
                        </a:lnSpc>
                        <a:buNone/>
                      </a:pPr>
                      <a:r>
                        <a:rPr lang="en-US" sz="3600" b="1" dirty="0">
                          <a:solidFill>
                            <a:srgbClr val="FFFF00"/>
                          </a:solidFill>
                          <a:latin typeface="思源黑体-思源黑体-Regular" pitchFamily="34" charset="0"/>
                          <a:ea typeface="思源黑体-思源黑体-Regular" pitchFamily="34" charset="-122"/>
                          <a:cs typeface="思源黑体-思源黑体-Regular" pitchFamily="34" charset="-120"/>
                        </a:rPr>
                        <a:t>Method</a:t>
                      </a:r>
                      <a:endParaRPr lang="en-US" sz="3600" b="1" dirty="0">
                        <a:solidFill>
                          <a:srgbClr val="FFFF00"/>
                        </a:solidFill>
                      </a:endParaRPr>
                    </a:p>
                  </a:txBody>
                  <a:tcPr marL="234950" marR="234950" marT="234950" marB="234950">
                    <a:lnL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60"/>
                        </a:lnSpc>
                        <a:buNone/>
                      </a:pPr>
                      <a:r>
                        <a:rPr lang="en-US" sz="3600" b="1" dirty="0">
                          <a:solidFill>
                            <a:srgbClr val="FFFF00"/>
                          </a:solidFill>
                          <a:latin typeface="思源黑体-思源黑体-Regular" pitchFamily="34" charset="0"/>
                          <a:ea typeface="思源黑体-思源黑体-Regular" pitchFamily="34" charset="-122"/>
                          <a:cs typeface="思源黑体-思源黑体-Regular" pitchFamily="34" charset="-120"/>
                        </a:rPr>
                        <a:t>Time</a:t>
                      </a:r>
                      <a:endParaRPr lang="en-US" sz="3600" b="1" dirty="0">
                        <a:solidFill>
                          <a:srgbClr val="FFFF00"/>
                        </a:solidFill>
                      </a:endParaRPr>
                    </a:p>
                  </a:txBody>
                  <a:tcPr marL="234950" marR="234950" marT="234950" marB="234950">
                    <a:lnL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60"/>
                        </a:lnSpc>
                        <a:buNone/>
                      </a:pPr>
                      <a:r>
                        <a:rPr lang="en-US" sz="3600" b="1" dirty="0">
                          <a:solidFill>
                            <a:srgbClr val="FFFF00"/>
                          </a:solidFill>
                          <a:latin typeface="思源黑体-思源黑体-Regular" pitchFamily="34" charset="0"/>
                          <a:ea typeface="思源黑体-思源黑体-Regular" pitchFamily="34" charset="-122"/>
                          <a:cs typeface="思源黑体-思源黑体-Regular" pitchFamily="34" charset="-120"/>
                        </a:rPr>
                        <a:t>Accuracy</a:t>
                      </a:r>
                      <a:endParaRPr lang="en-US" sz="3600" b="1" dirty="0">
                        <a:solidFill>
                          <a:srgbClr val="FFFF00"/>
                        </a:solidFill>
                      </a:endParaRPr>
                    </a:p>
                  </a:txBody>
                  <a:tcPr marL="234950" marR="234950" marT="234950" marB="234950">
                    <a:lnL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60"/>
                        </a:lnSpc>
                        <a:buNone/>
                      </a:pPr>
                      <a:r>
                        <a:rPr lang="en-US" sz="3600" b="1" dirty="0">
                          <a:solidFill>
                            <a:srgbClr val="FFFF00"/>
                          </a:solidFill>
                          <a:latin typeface="思源黑体-思源黑体-Regular" pitchFamily="34" charset="0"/>
                          <a:ea typeface="思源黑体-思源黑体-Regular" pitchFamily="34" charset="-122"/>
                          <a:cs typeface="思源黑体-思源黑体-Regular" pitchFamily="34" charset="-120"/>
                        </a:rPr>
                        <a:t>Portability</a:t>
                      </a:r>
                      <a:endParaRPr lang="en-US" sz="3600" b="1" dirty="0">
                        <a:solidFill>
                          <a:srgbClr val="FFFF00"/>
                        </a:solidFill>
                      </a:endParaRPr>
                    </a:p>
                  </a:txBody>
                  <a:tcPr marL="234950" marR="234950" marT="234950" marB="234950">
                    <a:lnL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60"/>
                        </a:lnSpc>
                        <a:buNone/>
                      </a:pPr>
                      <a:r>
                        <a:rPr lang="en-US" sz="3600" b="1" dirty="0">
                          <a:solidFill>
                            <a:srgbClr val="FFFF00"/>
                          </a:solidFill>
                          <a:latin typeface="思源黑体-思源黑体-Regular" pitchFamily="34" charset="0"/>
                          <a:ea typeface="思源黑体-思源黑体-Regular" pitchFamily="34" charset="-122"/>
                          <a:cs typeface="思源黑体-思源黑体-Regular" pitchFamily="34" charset="-120"/>
                        </a:rPr>
                        <a:t>Human</a:t>
                      </a:r>
                    </a:p>
                    <a:p>
                      <a:pPr marL="0" indent="0" algn="l">
                        <a:lnSpc>
                          <a:spcPts val="1660"/>
                        </a:lnSpc>
                        <a:buNone/>
                      </a:pPr>
                      <a:r>
                        <a:rPr lang="en-US" sz="3600" b="1" dirty="0">
                          <a:solidFill>
                            <a:srgbClr val="FFFF00"/>
                          </a:solidFill>
                          <a:latin typeface="思源黑体-思源黑体-Regular" pitchFamily="34" charset="0"/>
                          <a:ea typeface="思源黑体-思源黑体-Regular" pitchFamily="34" charset="-122"/>
                          <a:cs typeface="思源黑体-思源黑体-Regular" pitchFamily="34" charset="-120"/>
                        </a:rPr>
                        <a:t>              Error</a:t>
                      </a:r>
                      <a:endParaRPr lang="en-US" sz="3600" b="1" dirty="0">
                        <a:solidFill>
                          <a:srgbClr val="FFFF00"/>
                        </a:solidFill>
                      </a:endParaRPr>
                    </a:p>
                  </a:txBody>
                  <a:tcPr marL="234950" marR="234950" marT="234950" marB="234950">
                    <a:lnL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60"/>
                        </a:lnSpc>
                        <a:buNone/>
                      </a:pPr>
                      <a:r>
                        <a:rPr lang="en-US" sz="2800" dirty="0">
                          <a:solidFill>
                            <a:srgbClr val="D7D7D7"/>
                          </a:solidFill>
                          <a:latin typeface="思源黑体-思源黑体-Regular" pitchFamily="34" charset="0"/>
                          <a:ea typeface="思源黑体-思源黑体-Regular" pitchFamily="34" charset="-122"/>
                          <a:cs typeface="思源黑体-思源黑体-Regular" pitchFamily="34" charset="-120"/>
                        </a:rPr>
                        <a:t>Traditional Lab</a:t>
                      </a:r>
                      <a:endParaRPr lang="en-US" sz="2800" dirty="0"/>
                    </a:p>
                  </a:txBody>
                  <a:tcPr marL="234950" marR="234950" marT="234950" marB="234950">
                    <a:lnL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6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D7D7D7"/>
                          </a:solidFill>
                          <a:latin typeface="思源黑体-思源黑体-Regular" pitchFamily="34" charset="0"/>
                          <a:ea typeface="思源黑体-思源黑体-Regular" pitchFamily="34" charset="-122"/>
                          <a:cs typeface="思源黑体-思源黑体-Regular" pitchFamily="34" charset="-120"/>
                        </a:rPr>
                        <a:t>High</a:t>
                      </a:r>
                      <a:endParaRPr lang="en-US" sz="2400" dirty="0"/>
                    </a:p>
                  </a:txBody>
                  <a:tcPr marL="234950" marR="234950" marT="234950" marB="234950">
                    <a:lnL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6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D7D7D7"/>
                          </a:solidFill>
                          <a:latin typeface="思源黑体-思源黑体-Regular" pitchFamily="34" charset="0"/>
                          <a:ea typeface="思源黑体-思源黑体-Regular" pitchFamily="34" charset="-122"/>
                        </a:rPr>
                        <a:t>High</a:t>
                      </a:r>
                      <a:endParaRPr lang="en-US" sz="2400" dirty="0"/>
                    </a:p>
                  </a:txBody>
                  <a:tcPr marL="234950" marR="234950" marT="234950" marB="234950">
                    <a:lnL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6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D7D7D7"/>
                          </a:solidFill>
                          <a:latin typeface="思源黑体-思源黑体-Regular" pitchFamily="34" charset="0"/>
                          <a:ea typeface="思源黑体-思源黑体-Regular" pitchFamily="34" charset="-122"/>
                          <a:cs typeface="思源黑体-思源黑体-Regular" pitchFamily="34" charset="-120"/>
                        </a:rPr>
                        <a:t>Low</a:t>
                      </a:r>
                      <a:endParaRPr lang="en-US" sz="2400" dirty="0"/>
                    </a:p>
                  </a:txBody>
                  <a:tcPr marL="234950" marR="234950" marT="234950" marB="234950">
                    <a:lnL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6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D7D7D7"/>
                          </a:solidFill>
                          <a:latin typeface="思源黑体-思源黑体-Regular" pitchFamily="34" charset="0"/>
                          <a:ea typeface="思源黑体-思源黑体-Regular" pitchFamily="34" charset="-122"/>
                          <a:cs typeface="思源黑体-思源黑体-Regular" pitchFamily="34" charset="-120"/>
                        </a:rPr>
                        <a:t>High</a:t>
                      </a:r>
                      <a:endParaRPr lang="en-US" sz="2400" dirty="0"/>
                    </a:p>
                  </a:txBody>
                  <a:tcPr marL="234950" marR="234950" marT="234950" marB="234950">
                    <a:lnL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60"/>
                        </a:lnSpc>
                        <a:buNone/>
                      </a:pPr>
                      <a:r>
                        <a:rPr lang="en-US" sz="2800" dirty="0">
                          <a:solidFill>
                            <a:srgbClr val="D7D7D7"/>
                          </a:solidFill>
                          <a:latin typeface="思源黑体-思源黑体-Regular" pitchFamily="34" charset="0"/>
                          <a:ea typeface="思源黑体-思源黑体-Regular" pitchFamily="34" charset="-122"/>
                          <a:cs typeface="思源黑体-思源黑体-Regular" pitchFamily="34" charset="-120"/>
                        </a:rPr>
                        <a:t>BioVision (ML)</a:t>
                      </a:r>
                      <a:endParaRPr lang="en-US" sz="2800" dirty="0"/>
                    </a:p>
                  </a:txBody>
                  <a:tcPr marL="234950" marR="234950" marT="234950" marB="234950">
                    <a:lnL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6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D7D7D7"/>
                          </a:solidFill>
                          <a:latin typeface="思源黑体-思源黑体-Regular" pitchFamily="34" charset="0"/>
                          <a:ea typeface="思源黑体-思源黑体-Regular" pitchFamily="34" charset="-122"/>
                          <a:cs typeface="思源黑体-思源黑体-Regular" pitchFamily="34" charset="-120"/>
                        </a:rPr>
                        <a:t>Low</a:t>
                      </a:r>
                      <a:endParaRPr lang="en-US" sz="2400" dirty="0"/>
                    </a:p>
                  </a:txBody>
                  <a:tcPr marL="234950" marR="234950" marT="234950" marB="234950">
                    <a:lnL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6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D7D7D7"/>
                          </a:solidFill>
                          <a:latin typeface="思源黑体-思源黑体-Regular" pitchFamily="34" charset="0"/>
                          <a:ea typeface="思源黑体-思源黑体-Regular" pitchFamily="34" charset="-122"/>
                          <a:cs typeface="思源黑体-思源黑体-Regular" pitchFamily="34" charset="-120"/>
                        </a:rPr>
                        <a:t>High</a:t>
                      </a:r>
                      <a:endParaRPr lang="en-US" sz="2400" dirty="0"/>
                    </a:p>
                  </a:txBody>
                  <a:tcPr marL="234950" marR="234950" marT="234950" marB="234950">
                    <a:lnL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6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D7D7D7"/>
                          </a:solidFill>
                          <a:latin typeface="思源黑体-思源黑体-Regular" pitchFamily="34" charset="0"/>
                          <a:ea typeface="思源黑体-思源黑体-Regular" pitchFamily="34" charset="-122"/>
                          <a:cs typeface="思源黑体-思源黑体-Regular" pitchFamily="34" charset="-120"/>
                        </a:rPr>
                        <a:t>High</a:t>
                      </a:r>
                      <a:endParaRPr lang="en-US" sz="2400" dirty="0"/>
                    </a:p>
                  </a:txBody>
                  <a:tcPr marL="234950" marR="234950" marT="234950" marB="234950">
                    <a:lnL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1660"/>
                        </a:lnSpc>
                        <a:buNone/>
                      </a:pPr>
                      <a:r>
                        <a:rPr lang="en-US" sz="2400" dirty="0">
                          <a:solidFill>
                            <a:srgbClr val="D7D7D7"/>
                          </a:solidFill>
                          <a:latin typeface="思源黑体-思源黑体-Regular" pitchFamily="34" charset="0"/>
                          <a:ea typeface="思源黑体-思源黑体-Regular" pitchFamily="34" charset="-122"/>
                          <a:cs typeface="思源黑体-思源黑体-Regular" pitchFamily="34" charset="-120"/>
                        </a:rPr>
                        <a:t>Low</a:t>
                      </a:r>
                      <a:endParaRPr lang="en-US" sz="2400" dirty="0"/>
                    </a:p>
                  </a:txBody>
                  <a:tcPr marL="234950" marR="234950" marT="234950" marB="234950">
                    <a:lnL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970" cap="flat" cmpd="sng" algn="ctr">
                      <a:solidFill>
                        <a:srgbClr val="4242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 0"/>
          <p:cNvSpPr/>
          <p:nvPr/>
        </p:nvSpPr>
        <p:spPr>
          <a:xfrm>
            <a:off x="832104" y="1911096"/>
            <a:ext cx="12984480" cy="740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00"/>
              </a:lnSpc>
              <a:buNone/>
            </a:pPr>
            <a:r>
              <a:rPr lang="en-US" sz="4640" b="1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6. Competitive Analysis</a:t>
            </a:r>
            <a:endParaRPr lang="en-US" sz="4640" b="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644F4ED-8C86-9122-B5EB-19D54021A258}"/>
              </a:ext>
            </a:extLst>
          </p:cNvPr>
          <p:cNvSpPr/>
          <p:nvPr/>
        </p:nvSpPr>
        <p:spPr>
          <a:xfrm>
            <a:off x="822960" y="800100"/>
            <a:ext cx="12984480" cy="740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00"/>
              </a:lnSpc>
              <a:buNone/>
            </a:pPr>
            <a:r>
              <a:rPr lang="en-US" sz="4640" b="1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7. Business Model</a:t>
            </a:r>
            <a:endParaRPr lang="en-US" sz="4640" b="1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1763DD0-03E1-B58F-1381-72019ABE8B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552337"/>
              </p:ext>
            </p:extLst>
          </p:nvPr>
        </p:nvGraphicFramePr>
        <p:xfrm>
          <a:off x="1006476" y="3018314"/>
          <a:ext cx="12617448" cy="356616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3154362">
                  <a:extLst>
                    <a:ext uri="{9D8B030D-6E8A-4147-A177-3AD203B41FA5}">
                      <a16:colId xmlns:a16="http://schemas.microsoft.com/office/drawing/2014/main" val="3194271809"/>
                    </a:ext>
                  </a:extLst>
                </a:gridCol>
                <a:gridCol w="3154362">
                  <a:extLst>
                    <a:ext uri="{9D8B030D-6E8A-4147-A177-3AD203B41FA5}">
                      <a16:colId xmlns:a16="http://schemas.microsoft.com/office/drawing/2014/main" val="946798843"/>
                    </a:ext>
                  </a:extLst>
                </a:gridCol>
                <a:gridCol w="3154362">
                  <a:extLst>
                    <a:ext uri="{9D8B030D-6E8A-4147-A177-3AD203B41FA5}">
                      <a16:colId xmlns:a16="http://schemas.microsoft.com/office/drawing/2014/main" val="1940856383"/>
                    </a:ext>
                  </a:extLst>
                </a:gridCol>
                <a:gridCol w="3154362">
                  <a:extLst>
                    <a:ext uri="{9D8B030D-6E8A-4147-A177-3AD203B41FA5}">
                      <a16:colId xmlns:a16="http://schemas.microsoft.com/office/drawing/2014/main" val="4174519028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n-IN" sz="1800" b="1" dirty="0"/>
                        <a:t>#</a:t>
                      </a:r>
                      <a:endParaRPr lang="en-IN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1800" b="1"/>
                        <a:t>Revenue Stream</a:t>
                      </a:r>
                      <a:endParaRPr lang="en-IN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1800" b="1"/>
                        <a:t>Model</a:t>
                      </a:r>
                      <a:endParaRPr lang="en-IN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1800" b="1"/>
                        <a:t>Estimated Revenue (Annual)</a:t>
                      </a:r>
                      <a:endParaRPr lang="en-IN" sz="18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2152466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IN" sz="180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B2B Licensing to Hospitals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1800"/>
                        <a:t>₹1,50,000/year per hospital; target 10 hospitals in year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₹15,00,000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506286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IN" sz="180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Subscription for Research Labs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1800"/>
                        <a:t>₹3,000/month per lab; targeting 20 labs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₹7,20,000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2114429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IN" sz="180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Freemium Web App (Premium Users)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1800"/>
                        <a:t>₹499/month per premium user; assume 1,000 paid users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₹59,88,000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8797786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IN" sz="1800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Infrared Imaging Device (Hardware)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1800"/>
                        <a:t>₹15,000/device; expected sale of 500 devices/year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₹75,00,000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57413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endParaRPr lang="en-IN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1800" b="1"/>
                        <a:t>Total Potential Revenue (Year 1)</a:t>
                      </a:r>
                      <a:endParaRPr lang="en-GB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IN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1800" b="1" dirty="0"/>
                        <a:t>₹1,57,08,000</a:t>
                      </a:r>
                      <a:endParaRPr lang="en-IN"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16045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C616738-5654-5D92-3B45-C6064D11C25C}"/>
              </a:ext>
            </a:extLst>
          </p:cNvPr>
          <p:cNvSpPr txBox="1"/>
          <p:nvPr/>
        </p:nvSpPr>
        <p:spPr>
          <a:xfrm>
            <a:off x="925157" y="1993758"/>
            <a:ext cx="7315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FFC000"/>
                </a:solidFill>
              </a:rPr>
              <a:t>💰 </a:t>
            </a:r>
            <a:r>
              <a:rPr lang="en-GB" sz="2800" b="1" dirty="0">
                <a:solidFill>
                  <a:srgbClr val="FFC000"/>
                </a:solidFill>
              </a:rPr>
              <a:t>Revenue Streams (How We Earn)</a:t>
            </a:r>
            <a:endParaRPr lang="en-IN" sz="2800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63990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660609A-C4A6-6EC9-B5D7-8A5F43885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7094308"/>
              </p:ext>
            </p:extLst>
          </p:nvPr>
        </p:nvGraphicFramePr>
        <p:xfrm>
          <a:off x="769807" y="1828800"/>
          <a:ext cx="12617451" cy="457200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4205817">
                  <a:extLst>
                    <a:ext uri="{9D8B030D-6E8A-4147-A177-3AD203B41FA5}">
                      <a16:colId xmlns:a16="http://schemas.microsoft.com/office/drawing/2014/main" val="1768298844"/>
                    </a:ext>
                  </a:extLst>
                </a:gridCol>
                <a:gridCol w="4205817">
                  <a:extLst>
                    <a:ext uri="{9D8B030D-6E8A-4147-A177-3AD203B41FA5}">
                      <a16:colId xmlns:a16="http://schemas.microsoft.com/office/drawing/2014/main" val="3606204853"/>
                    </a:ext>
                  </a:extLst>
                </a:gridCol>
                <a:gridCol w="4205817">
                  <a:extLst>
                    <a:ext uri="{9D8B030D-6E8A-4147-A177-3AD203B41FA5}">
                      <a16:colId xmlns:a16="http://schemas.microsoft.com/office/drawing/2014/main" val="222581944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n-IN" sz="1800" b="1"/>
                        <a:t>Category</a:t>
                      </a:r>
                      <a:endParaRPr lang="en-IN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1800" b="1" dirty="0"/>
                        <a:t>Description</a:t>
                      </a:r>
                      <a:endParaRPr lang="en-IN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1800" b="1"/>
                        <a:t>Estimated Annual Cost</a:t>
                      </a:r>
                      <a:endParaRPr lang="en-IN" sz="18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060689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IN" sz="1800" b="1"/>
                        <a:t>Cloud Hosting</a:t>
                      </a:r>
                      <a:endParaRPr lang="en-IN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1800"/>
                        <a:t>AWS/GCP server usage, storage, and bandwidth for API and web deployment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₹2,00,000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7951568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IN" sz="1800" b="1"/>
                        <a:t>Model Maintenance &amp; Updates</a:t>
                      </a:r>
                      <a:endParaRPr lang="en-IN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1800"/>
                        <a:t>Developer salaries (part-time), dataset cleaning, retraining, bug fixes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₹4,00,000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122769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IN" sz="1800" b="1"/>
                        <a:t>Customer Support &amp; Management</a:t>
                      </a:r>
                      <a:endParaRPr lang="en-IN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1800"/>
                        <a:t>Handling client issues, onboarding support, and technical documentation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₹1,00,000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389821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IN" sz="1800" b="1"/>
                        <a:t>Hardware Manufacturing (IR device)</a:t>
                      </a:r>
                      <a:endParaRPr lang="en-IN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1800" dirty="0"/>
                        <a:t>Manufacturing cost per unit (₹8,000 x 500 units)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₹40,00,000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9248186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IN" sz="1800" b="1"/>
                        <a:t>Marketing &amp; Branding</a:t>
                      </a:r>
                      <a:endParaRPr lang="en-IN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Digital ads, conference demos, branding materials (posters, logos, social media)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₹2,50,000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2320497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IN" sz="1800" b="1"/>
                        <a:t>Legal &amp; Compliance</a:t>
                      </a:r>
                      <a:endParaRPr lang="en-IN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1800"/>
                        <a:t>Licensing, data privacy compliance (e.g., HIPAA equivalent), consulting fees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₹1,00,000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627074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endParaRPr lang="en-IN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1800" b="1"/>
                        <a:t>Total Estimated Cost (Year 1)</a:t>
                      </a:r>
                      <a:endParaRPr lang="en-GB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230419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43E7453-2A69-2331-82E6-6CCC2432EB35}"/>
              </a:ext>
            </a:extLst>
          </p:cNvPr>
          <p:cNvSpPr txBox="1"/>
          <p:nvPr/>
        </p:nvSpPr>
        <p:spPr>
          <a:xfrm>
            <a:off x="812838" y="6922111"/>
            <a:ext cx="838495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>
                <a:solidFill>
                  <a:srgbClr val="FFFF00"/>
                </a:solidFill>
                <a:highlight>
                  <a:srgbClr val="000000"/>
                </a:highlight>
              </a:rPr>
              <a:t>📊 Projected Year-1 Profit:</a:t>
            </a:r>
          </a:p>
          <a:p>
            <a:r>
              <a:rPr lang="en-GB" sz="2400" b="1" dirty="0">
                <a:solidFill>
                  <a:srgbClr val="FFFF00"/>
                </a:solidFill>
                <a:highlight>
                  <a:srgbClr val="000000"/>
                </a:highlight>
              </a:rPr>
              <a:t>Revenue (₹1,57,08,000) – Cost (₹50,50,000) = ₹1,06,58,000</a:t>
            </a:r>
            <a:endParaRPr lang="en-GB" sz="2400" dirty="0">
              <a:solidFill>
                <a:srgbClr val="FFFF00"/>
              </a:solidFill>
              <a:highlight>
                <a:srgbClr val="000000"/>
              </a:highlight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D92AA6-A2D2-C1D3-B8F9-462B171198A1}"/>
              </a:ext>
            </a:extLst>
          </p:cNvPr>
          <p:cNvSpPr txBox="1"/>
          <p:nvPr/>
        </p:nvSpPr>
        <p:spPr>
          <a:xfrm>
            <a:off x="634701" y="909477"/>
            <a:ext cx="7315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FFC000"/>
                </a:solidFill>
              </a:rPr>
              <a:t>💸 </a:t>
            </a:r>
            <a:r>
              <a:rPr lang="en-GB" sz="2800" b="1" dirty="0">
                <a:solidFill>
                  <a:srgbClr val="FFC000"/>
                </a:solidFill>
              </a:rPr>
              <a:t>Cost Structure (Where We Spend)</a:t>
            </a:r>
            <a:endParaRPr lang="en-IN" sz="2800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12451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38744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00584" y="-211836"/>
            <a:ext cx="14575536" cy="8174736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55986" y="2376678"/>
            <a:ext cx="1005840" cy="115214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88736" y="2304288"/>
            <a:ext cx="1298448" cy="1152144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97864" y="2376678"/>
            <a:ext cx="1435608" cy="1152144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4721352" y="3732276"/>
            <a:ext cx="38313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Classes: A+, A-, AB+, AB-, B+, B-, O+</a:t>
            </a:r>
            <a:endParaRPr lang="en-US" sz="2400" dirty="0"/>
          </a:p>
        </p:txBody>
      </p:sp>
      <p:sp>
        <p:nvSpPr>
          <p:cNvPr id="8" name="Text 1"/>
          <p:cNvSpPr/>
          <p:nvPr/>
        </p:nvSpPr>
        <p:spPr>
          <a:xfrm>
            <a:off x="694944" y="920496"/>
            <a:ext cx="12984480" cy="740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00"/>
              </a:lnSpc>
              <a:buNone/>
            </a:pPr>
            <a:r>
              <a:rPr lang="en-US" sz="4640" b="1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9. Dataset Overview</a:t>
            </a:r>
            <a:endParaRPr lang="en-US" sz="4640" b="1" dirty="0"/>
          </a:p>
        </p:txBody>
      </p:sp>
      <p:sp>
        <p:nvSpPr>
          <p:cNvPr id="9" name="Text 2"/>
          <p:cNvSpPr/>
          <p:nvPr/>
        </p:nvSpPr>
        <p:spPr>
          <a:xfrm>
            <a:off x="9264396" y="3732276"/>
            <a:ext cx="38313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Samples: Train (46), Validation (14), Test (11)</a:t>
            </a:r>
            <a:endParaRPr lang="en-US" sz="2400" dirty="0"/>
          </a:p>
        </p:txBody>
      </p:sp>
      <p:sp>
        <p:nvSpPr>
          <p:cNvPr id="10" name="Text 3"/>
          <p:cNvSpPr/>
          <p:nvPr/>
        </p:nvSpPr>
        <p:spPr>
          <a:xfrm>
            <a:off x="0" y="3727704"/>
            <a:ext cx="3831336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    Source: Kaggle</a:t>
            </a:r>
            <a:endParaRPr lang="en-US" sz="2400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6AE24F7B-CA7B-44E3-CC98-03FCCEB71A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7330070"/>
              </p:ext>
            </p:extLst>
          </p:nvPr>
        </p:nvGraphicFramePr>
        <p:xfrm>
          <a:off x="1315973" y="4692396"/>
          <a:ext cx="11553360" cy="29276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76680">
                  <a:extLst>
                    <a:ext uri="{9D8B030D-6E8A-4147-A177-3AD203B41FA5}">
                      <a16:colId xmlns:a16="http://schemas.microsoft.com/office/drawing/2014/main" val="2975620197"/>
                    </a:ext>
                  </a:extLst>
                </a:gridCol>
                <a:gridCol w="5776680">
                  <a:extLst>
                    <a:ext uri="{9D8B030D-6E8A-4147-A177-3AD203B41FA5}">
                      <a16:colId xmlns:a16="http://schemas.microsoft.com/office/drawing/2014/main" val="973696329"/>
                    </a:ext>
                  </a:extLst>
                </a:gridCol>
              </a:tblGrid>
              <a:tr h="585521">
                <a:tc>
                  <a:txBody>
                    <a:bodyPr/>
                    <a:lstStyle/>
                    <a:p>
                      <a:r>
                        <a:rPr lang="en-IN" dirty="0"/>
                        <a:t>Dataset Overview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Details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8916226"/>
                  </a:ext>
                </a:extLst>
              </a:tr>
              <a:tr h="585521">
                <a:tc>
                  <a:txBody>
                    <a:bodyPr/>
                    <a:lstStyle/>
                    <a:p>
                      <a:r>
                        <a:rPr lang="en-IN" dirty="0"/>
                        <a:t>Number of Classes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7(A+, A-, AB+, AB-, B+,B-,O+)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2872648"/>
                  </a:ext>
                </a:extLst>
              </a:tr>
              <a:tr h="585521">
                <a:tc>
                  <a:txBody>
                    <a:bodyPr/>
                    <a:lstStyle/>
                    <a:p>
                      <a:r>
                        <a:rPr lang="en-IN" dirty="0"/>
                        <a:t>Training 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46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3837913"/>
                  </a:ext>
                </a:extLst>
              </a:tr>
              <a:tr h="585521">
                <a:tc>
                  <a:txBody>
                    <a:bodyPr/>
                    <a:lstStyle/>
                    <a:p>
                      <a:r>
                        <a:rPr lang="en-IN" dirty="0"/>
                        <a:t>Validation 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2746543"/>
                  </a:ext>
                </a:extLst>
              </a:tr>
              <a:tr h="585521">
                <a:tc>
                  <a:txBody>
                    <a:bodyPr/>
                    <a:lstStyle/>
                    <a:p>
                      <a:r>
                        <a:rPr lang="en-IN" dirty="0"/>
                        <a:t>Test 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01996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3B025-37DF-BF54-95C3-362F27915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C9396FD1-36CB-FC55-D4EF-51CC5A7A2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38744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C9B0D3CC-962F-54B2-5005-72B98D7C83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00584" y="-211836"/>
            <a:ext cx="14575536" cy="8174736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B25BA591-C057-7D81-0D6F-CF3C8650FF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55986" y="2376678"/>
            <a:ext cx="1005840" cy="1152144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A020004E-423C-A65C-CA11-DC57D0D845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88736" y="2304288"/>
            <a:ext cx="1298448" cy="1152144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D85A892F-1484-7D04-98DC-4978F174C53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97864" y="2376678"/>
            <a:ext cx="1435608" cy="1152144"/>
          </a:xfrm>
          <a:prstGeom prst="rect">
            <a:avLst/>
          </a:prstGeom>
        </p:spPr>
      </p:pic>
      <p:sp>
        <p:nvSpPr>
          <p:cNvPr id="7" name="Text 0">
            <a:extLst>
              <a:ext uri="{FF2B5EF4-FFF2-40B4-BE49-F238E27FC236}">
                <a16:creationId xmlns:a16="http://schemas.microsoft.com/office/drawing/2014/main" id="{835321FB-D5F9-4CD5-0154-0B97D05BD38F}"/>
              </a:ext>
            </a:extLst>
          </p:cNvPr>
          <p:cNvSpPr/>
          <p:nvPr/>
        </p:nvSpPr>
        <p:spPr>
          <a:xfrm>
            <a:off x="4721352" y="3732276"/>
            <a:ext cx="38313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D7D7D7"/>
                </a:solidFill>
                <a:effectLst/>
                <a:uLnTx/>
                <a:uFillTx/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Classes: A+, A-, AB+, AB-, B+, B-, O+,O-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83DC6E17-6355-BF1B-BC2C-74BC23B29B12}"/>
              </a:ext>
            </a:extLst>
          </p:cNvPr>
          <p:cNvSpPr/>
          <p:nvPr/>
        </p:nvSpPr>
        <p:spPr>
          <a:xfrm>
            <a:off x="694944" y="920496"/>
            <a:ext cx="12984480" cy="740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ts val="5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40" b="1" i="0" u="none" strike="noStrike" kern="1200" cap="none" spc="0" normalizeH="0" baseline="0" noProof="0" dirty="0">
                <a:ln>
                  <a:noFill/>
                </a:ln>
                <a:solidFill>
                  <a:srgbClr val="EFE396"/>
                </a:solidFill>
                <a:effectLst/>
                <a:uLnTx/>
                <a:uFillTx/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9. Updated Dataset Overview</a:t>
            </a:r>
            <a:endParaRPr kumimoji="0" lang="en-US" sz="464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679743AF-ABD4-43D3-0D32-00F6A0CD520F}"/>
              </a:ext>
            </a:extLst>
          </p:cNvPr>
          <p:cNvSpPr/>
          <p:nvPr/>
        </p:nvSpPr>
        <p:spPr>
          <a:xfrm>
            <a:off x="9264396" y="3732276"/>
            <a:ext cx="38313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D7D7D7"/>
                </a:solidFill>
                <a:effectLst/>
                <a:uLnTx/>
                <a:uFillTx/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Samples: Train (</a:t>
            </a: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2800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D7D7D7"/>
                </a:solidFill>
                <a:effectLst/>
                <a:uLnTx/>
                <a:uFillTx/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), Validation (</a:t>
            </a: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600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D7D7D7"/>
                </a:solidFill>
                <a:effectLst/>
                <a:uLnTx/>
                <a:uFillTx/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), Test (</a:t>
            </a: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600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D7D7D7"/>
                </a:solidFill>
                <a:effectLst/>
                <a:uLnTx/>
                <a:uFillTx/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C8CEC37-B43B-FAF8-AC2C-1CE1BB60C5AE}"/>
              </a:ext>
            </a:extLst>
          </p:cNvPr>
          <p:cNvSpPr/>
          <p:nvPr/>
        </p:nvSpPr>
        <p:spPr>
          <a:xfrm>
            <a:off x="0" y="3727704"/>
            <a:ext cx="3831336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ctr" defTabSz="914400" rtl="0" eaLnBrk="1" fontAlgn="auto" latinLnBrk="0" hangingPunct="1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       Source: Kaggle+</a:t>
            </a:r>
            <a:r>
              <a:rPr lang="en-IN" sz="2400" b="0" i="0" dirty="0">
                <a:solidFill>
                  <a:srgbClr val="EEF0FF"/>
                </a:solidFill>
                <a:effectLst/>
                <a:latin typeface="Google Sans"/>
              </a:rPr>
              <a:t>Synthetic data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A455EBC-2454-D8B1-842F-B1E9B9ECBC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4132395"/>
              </p:ext>
            </p:extLst>
          </p:nvPr>
        </p:nvGraphicFramePr>
        <p:xfrm>
          <a:off x="1315973" y="4692396"/>
          <a:ext cx="11553360" cy="29276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76680">
                  <a:extLst>
                    <a:ext uri="{9D8B030D-6E8A-4147-A177-3AD203B41FA5}">
                      <a16:colId xmlns:a16="http://schemas.microsoft.com/office/drawing/2014/main" val="2975620197"/>
                    </a:ext>
                  </a:extLst>
                </a:gridCol>
                <a:gridCol w="5776680">
                  <a:extLst>
                    <a:ext uri="{9D8B030D-6E8A-4147-A177-3AD203B41FA5}">
                      <a16:colId xmlns:a16="http://schemas.microsoft.com/office/drawing/2014/main" val="973696329"/>
                    </a:ext>
                  </a:extLst>
                </a:gridCol>
              </a:tblGrid>
              <a:tr h="585521">
                <a:tc>
                  <a:txBody>
                    <a:bodyPr/>
                    <a:lstStyle/>
                    <a:p>
                      <a:r>
                        <a:rPr lang="en-IN" dirty="0"/>
                        <a:t>Dataset Overview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Details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8916226"/>
                  </a:ext>
                </a:extLst>
              </a:tr>
              <a:tr h="585521">
                <a:tc>
                  <a:txBody>
                    <a:bodyPr/>
                    <a:lstStyle/>
                    <a:p>
                      <a:r>
                        <a:rPr lang="en-IN" dirty="0"/>
                        <a:t>Number of Classes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8(A+, A-, AB+, AB-, B+,B-,O+,O-)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2872648"/>
                  </a:ext>
                </a:extLst>
              </a:tr>
              <a:tr h="585521">
                <a:tc>
                  <a:txBody>
                    <a:bodyPr/>
                    <a:lstStyle/>
                    <a:p>
                      <a:r>
                        <a:rPr lang="en-IN" dirty="0"/>
                        <a:t>Training 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2800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3837913"/>
                  </a:ext>
                </a:extLst>
              </a:tr>
              <a:tr h="585521">
                <a:tc>
                  <a:txBody>
                    <a:bodyPr/>
                    <a:lstStyle/>
                    <a:p>
                      <a:r>
                        <a:rPr lang="en-IN" dirty="0"/>
                        <a:t>Validation 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600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2746543"/>
                  </a:ext>
                </a:extLst>
              </a:tr>
              <a:tr h="585521">
                <a:tc>
                  <a:txBody>
                    <a:bodyPr/>
                    <a:lstStyle/>
                    <a:p>
                      <a:r>
                        <a:rPr lang="en-IN" dirty="0"/>
                        <a:t>Test 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600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01996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71608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CF9DD00-1A17-D732-7DA1-1258257567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6475" y="2232755"/>
            <a:ext cx="9314986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✅ Split : 70% Train, 15% Validation, 15% Test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D96259C-24FC-BA2E-8EBF-E009AE8D65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8450610"/>
              </p:ext>
            </p:extLst>
          </p:nvPr>
        </p:nvGraphicFramePr>
        <p:xfrm>
          <a:off x="1653091" y="3703619"/>
          <a:ext cx="10137288" cy="2309908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379096">
                  <a:extLst>
                    <a:ext uri="{9D8B030D-6E8A-4147-A177-3AD203B41FA5}">
                      <a16:colId xmlns:a16="http://schemas.microsoft.com/office/drawing/2014/main" val="3544458977"/>
                    </a:ext>
                  </a:extLst>
                </a:gridCol>
                <a:gridCol w="3379096">
                  <a:extLst>
                    <a:ext uri="{9D8B030D-6E8A-4147-A177-3AD203B41FA5}">
                      <a16:colId xmlns:a16="http://schemas.microsoft.com/office/drawing/2014/main" val="1620685593"/>
                    </a:ext>
                  </a:extLst>
                </a:gridCol>
                <a:gridCol w="3379096">
                  <a:extLst>
                    <a:ext uri="{9D8B030D-6E8A-4147-A177-3AD203B41FA5}">
                      <a16:colId xmlns:a16="http://schemas.microsoft.com/office/drawing/2014/main" val="1728585501"/>
                    </a:ext>
                  </a:extLst>
                </a:gridCol>
              </a:tblGrid>
              <a:tr h="577477">
                <a:tc>
                  <a:txBody>
                    <a:bodyPr/>
                    <a:lstStyle/>
                    <a:p>
                      <a:r>
                        <a:rPr lang="en-IN" dirty="0"/>
                        <a:t>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Images per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Total images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6104621"/>
                  </a:ext>
                </a:extLst>
              </a:tr>
              <a:tr h="577477">
                <a:tc>
                  <a:txBody>
                    <a:bodyPr/>
                    <a:lstStyle/>
                    <a:p>
                      <a:r>
                        <a:rPr lang="en-IN" dirty="0"/>
                        <a:t>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350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2800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4605446"/>
                  </a:ext>
                </a:extLst>
              </a:tr>
              <a:tr h="577477">
                <a:tc>
                  <a:txBody>
                    <a:bodyPr/>
                    <a:lstStyle/>
                    <a:p>
                      <a:r>
                        <a:rPr lang="en-IN" dirty="0"/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600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1471517"/>
                  </a:ext>
                </a:extLst>
              </a:tr>
              <a:tr h="577477">
                <a:tc>
                  <a:txBody>
                    <a:bodyPr/>
                    <a:lstStyle/>
                    <a:p>
                      <a:r>
                        <a:rPr lang="en-IN" dirty="0"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600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269336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139680B-1017-4DC9-BE64-8E06A051BBE4}"/>
              </a:ext>
            </a:extLst>
          </p:cNvPr>
          <p:cNvSpPr txBox="1"/>
          <p:nvPr/>
        </p:nvSpPr>
        <p:spPr>
          <a:xfrm>
            <a:off x="1006475" y="1054279"/>
            <a:ext cx="944995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✅ </a:t>
            </a:r>
            <a:r>
              <a:rPr lang="en-US" altLang="en-US" sz="3200" b="1" dirty="0">
                <a:solidFill>
                  <a:prstClr val="white"/>
                </a:solidFill>
                <a:latin typeface="Arial" panose="020B0604020202020204" pitchFamily="34" charset="0"/>
              </a:rPr>
              <a:t>Dataset Size: 500*8= 4000</a:t>
            </a:r>
            <a:endParaRPr kumimoji="0" lang="en-US" altLang="en-U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13482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93F62FCE-8400-84F3-16F0-780C4D086E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578"/>
            <a:ext cx="14630400" cy="823874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24AC25-867E-DFE0-6956-0B9A4267BA7D}"/>
              </a:ext>
            </a:extLst>
          </p:cNvPr>
          <p:cNvSpPr txBox="1"/>
          <p:nvPr/>
        </p:nvSpPr>
        <p:spPr>
          <a:xfrm>
            <a:off x="720763" y="654430"/>
            <a:ext cx="94344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dirty="0">
                <a:solidFill>
                  <a:schemeClr val="bg1"/>
                </a:solidFill>
              </a:rPr>
              <a:t>Subset Classification Based on Temperature Range</a:t>
            </a:r>
            <a:endParaRPr lang="en-IN" sz="3200" dirty="0">
              <a:solidFill>
                <a:schemeClr val="bg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2E9015E-98A6-935C-2815-D068528DF4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8861092"/>
              </p:ext>
            </p:extLst>
          </p:nvPr>
        </p:nvGraphicFramePr>
        <p:xfrm>
          <a:off x="2097741" y="2585655"/>
          <a:ext cx="9642438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4146">
                  <a:extLst>
                    <a:ext uri="{9D8B030D-6E8A-4147-A177-3AD203B41FA5}">
                      <a16:colId xmlns:a16="http://schemas.microsoft.com/office/drawing/2014/main" val="1945135794"/>
                    </a:ext>
                  </a:extLst>
                </a:gridCol>
                <a:gridCol w="3214146">
                  <a:extLst>
                    <a:ext uri="{9D8B030D-6E8A-4147-A177-3AD203B41FA5}">
                      <a16:colId xmlns:a16="http://schemas.microsoft.com/office/drawing/2014/main" val="3619632383"/>
                    </a:ext>
                  </a:extLst>
                </a:gridCol>
                <a:gridCol w="3214146">
                  <a:extLst>
                    <a:ext uri="{9D8B030D-6E8A-4147-A177-3AD203B41FA5}">
                      <a16:colId xmlns:a16="http://schemas.microsoft.com/office/drawing/2014/main" val="4269551478"/>
                    </a:ext>
                  </a:extLst>
                </a:gridCol>
              </a:tblGrid>
              <a:tr h="5783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dirty="0"/>
                        <a:t>Subset Category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dirty="0"/>
                        <a:t>Temperature Range (°C)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dirty="0"/>
                        <a:t>Description</a:t>
                      </a:r>
                    </a:p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933662"/>
                  </a:ext>
                </a:extLst>
              </a:tr>
              <a:tr h="82617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1" dirty="0"/>
                        <a:t>Low</a:t>
                      </a:r>
                      <a:endParaRPr lang="en-IN" sz="1800" dirty="0"/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dirty="0"/>
                        <a:t>Below 36°C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dirty="0"/>
                        <a:t>Indicates cooler blood sample images</a:t>
                      </a:r>
                    </a:p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7966313"/>
                  </a:ext>
                </a:extLst>
              </a:tr>
              <a:tr h="82617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1" dirty="0"/>
                        <a:t>Normal</a:t>
                      </a:r>
                      <a:endParaRPr lang="en-IN" sz="1800" dirty="0"/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dirty="0"/>
                        <a:t>36°C – 37.5°C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dirty="0"/>
                        <a:t>Represents typical physiological conditions</a:t>
                      </a:r>
                    </a:p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2426843"/>
                  </a:ext>
                </a:extLst>
              </a:tr>
              <a:tr h="335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1" dirty="0"/>
                        <a:t>High</a:t>
                      </a:r>
                      <a:endParaRPr lang="en-IN" sz="1800" dirty="0"/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/>
                        <a:t>Above 37.5°</a:t>
                      </a:r>
                      <a:r>
                        <a:rPr lang="en-IN" sz="1800" dirty="0"/>
                        <a:t>C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dirty="0"/>
                        <a:t>Simulates fever or heated sample conditions</a:t>
                      </a:r>
                    </a:p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94384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29825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A4B8C65-09F1-5F54-92B1-22EAB3342E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024" y="1213773"/>
            <a:ext cx="11835668" cy="6508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9775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4630400" cy="8238744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3" y="0"/>
            <a:ext cx="4974336" cy="8238744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5647831" y="808808"/>
            <a:ext cx="8010144" cy="740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00"/>
              </a:lnSpc>
              <a:buNone/>
            </a:pPr>
            <a:r>
              <a:rPr lang="en-US" sz="4640" b="1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10. Preprocessing Steps</a:t>
            </a:r>
            <a:endParaRPr lang="en-US" sz="4640" b="1" dirty="0"/>
          </a:p>
        </p:txBody>
      </p:sp>
      <p:sp>
        <p:nvSpPr>
          <p:cNvPr id="10" name="Text 3"/>
          <p:cNvSpPr/>
          <p:nvPr/>
        </p:nvSpPr>
        <p:spPr>
          <a:xfrm>
            <a:off x="6574536" y="4162044"/>
            <a:ext cx="201168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endParaRPr lang="en-US" sz="1850" dirty="0"/>
          </a:p>
        </p:txBody>
      </p:sp>
      <p:sp>
        <p:nvSpPr>
          <p:cNvPr id="31" name="Shape 1">
            <a:extLst>
              <a:ext uri="{FF2B5EF4-FFF2-40B4-BE49-F238E27FC236}">
                <a16:creationId xmlns:a16="http://schemas.microsoft.com/office/drawing/2014/main" id="{BD5435DF-5038-2119-4E84-31E9362685C3}"/>
              </a:ext>
            </a:extLst>
          </p:cNvPr>
          <p:cNvSpPr/>
          <p:nvPr/>
        </p:nvSpPr>
        <p:spPr>
          <a:xfrm>
            <a:off x="6554391" y="2209443"/>
            <a:ext cx="30480" cy="4924544"/>
          </a:xfrm>
          <a:prstGeom prst="roundRect">
            <a:avLst>
              <a:gd name="adj" fmla="val 298550"/>
            </a:avLst>
          </a:prstGeom>
          <a:solidFill>
            <a:srgbClr val="8D2424"/>
          </a:solidFill>
          <a:ln/>
        </p:spPr>
      </p:sp>
      <p:sp>
        <p:nvSpPr>
          <p:cNvPr id="32" name="Shape 2">
            <a:extLst>
              <a:ext uri="{FF2B5EF4-FFF2-40B4-BE49-F238E27FC236}">
                <a16:creationId xmlns:a16="http://schemas.microsoft.com/office/drawing/2014/main" id="{2D24C639-5F9D-AD9E-520E-6A757D2499CF}"/>
              </a:ext>
            </a:extLst>
          </p:cNvPr>
          <p:cNvSpPr/>
          <p:nvPr/>
        </p:nvSpPr>
        <p:spPr>
          <a:xfrm>
            <a:off x="6782872" y="2681645"/>
            <a:ext cx="758309" cy="30480"/>
          </a:xfrm>
          <a:prstGeom prst="roundRect">
            <a:avLst>
              <a:gd name="adj" fmla="val 298550"/>
            </a:avLst>
          </a:prstGeom>
          <a:solidFill>
            <a:srgbClr val="8D2424"/>
          </a:solidFill>
          <a:ln/>
        </p:spPr>
      </p:sp>
      <p:sp>
        <p:nvSpPr>
          <p:cNvPr id="33" name="Shape 3">
            <a:extLst>
              <a:ext uri="{FF2B5EF4-FFF2-40B4-BE49-F238E27FC236}">
                <a16:creationId xmlns:a16="http://schemas.microsoft.com/office/drawing/2014/main" id="{FC38CD7B-C7A4-CACC-4FEB-C129DDB78455}"/>
              </a:ext>
            </a:extLst>
          </p:cNvPr>
          <p:cNvSpPr/>
          <p:nvPr/>
        </p:nvSpPr>
        <p:spPr>
          <a:xfrm>
            <a:off x="6341150" y="2413993"/>
            <a:ext cx="487442" cy="487442"/>
          </a:xfrm>
          <a:prstGeom prst="roundRect">
            <a:avLst>
              <a:gd name="adj" fmla="val 18669"/>
            </a:avLst>
          </a:prstGeom>
          <a:solidFill>
            <a:srgbClr val="740B0B"/>
          </a:solidFill>
          <a:ln w="7620">
            <a:solidFill>
              <a:srgbClr val="8D2424"/>
            </a:solidFill>
            <a:prstDash val="solid"/>
          </a:ln>
        </p:spPr>
      </p:sp>
      <p:sp>
        <p:nvSpPr>
          <p:cNvPr id="34" name="Text 4">
            <a:extLst>
              <a:ext uri="{FF2B5EF4-FFF2-40B4-BE49-F238E27FC236}">
                <a16:creationId xmlns:a16="http://schemas.microsoft.com/office/drawing/2014/main" id="{7029113B-C99A-56BD-0752-A649E90A289C}"/>
              </a:ext>
            </a:extLst>
          </p:cNvPr>
          <p:cNvSpPr/>
          <p:nvPr/>
        </p:nvSpPr>
        <p:spPr>
          <a:xfrm>
            <a:off x="6469023" y="2525792"/>
            <a:ext cx="201097" cy="3420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dirty="0">
                <a:solidFill>
                  <a:srgbClr val="FFE5E5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1</a:t>
            </a:r>
            <a:endParaRPr lang="en-US" sz="2650" dirty="0"/>
          </a:p>
        </p:txBody>
      </p:sp>
      <p:sp>
        <p:nvSpPr>
          <p:cNvPr id="35" name="Text 5">
            <a:extLst>
              <a:ext uri="{FF2B5EF4-FFF2-40B4-BE49-F238E27FC236}">
                <a16:creationId xmlns:a16="http://schemas.microsoft.com/office/drawing/2014/main" id="{74DBFB2E-DD2E-AA4F-FBE1-FADE209CF662}"/>
              </a:ext>
            </a:extLst>
          </p:cNvPr>
          <p:cNvSpPr/>
          <p:nvPr/>
        </p:nvSpPr>
        <p:spPr>
          <a:xfrm>
            <a:off x="7761208" y="2426018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800" dirty="0">
                <a:solidFill>
                  <a:srgbClr val="FFE5E5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Normalization</a:t>
            </a:r>
            <a:endParaRPr lang="en-US" sz="2800" dirty="0"/>
          </a:p>
        </p:txBody>
      </p:sp>
      <p:sp>
        <p:nvSpPr>
          <p:cNvPr id="36" name="Text 6">
            <a:extLst>
              <a:ext uri="{FF2B5EF4-FFF2-40B4-BE49-F238E27FC236}">
                <a16:creationId xmlns:a16="http://schemas.microsoft.com/office/drawing/2014/main" id="{990ECA40-A4DF-3E67-B032-77D10748373C}"/>
              </a:ext>
            </a:extLst>
          </p:cNvPr>
          <p:cNvSpPr/>
          <p:nvPr/>
        </p:nvSpPr>
        <p:spPr>
          <a:xfrm>
            <a:off x="7761208" y="2912150"/>
            <a:ext cx="6110883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00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Images are normalized to a common scale for consistent processing.</a:t>
            </a:r>
            <a:endParaRPr lang="en-US" sz="2000" dirty="0"/>
          </a:p>
        </p:txBody>
      </p:sp>
      <p:sp>
        <p:nvSpPr>
          <p:cNvPr id="37" name="Shape 7">
            <a:extLst>
              <a:ext uri="{FF2B5EF4-FFF2-40B4-BE49-F238E27FC236}">
                <a16:creationId xmlns:a16="http://schemas.microsoft.com/office/drawing/2014/main" id="{4CA8AA02-2D55-8B0B-B4A2-9C3429195FC8}"/>
              </a:ext>
            </a:extLst>
          </p:cNvPr>
          <p:cNvSpPr/>
          <p:nvPr/>
        </p:nvSpPr>
        <p:spPr>
          <a:xfrm>
            <a:off x="6782872" y="4510921"/>
            <a:ext cx="758309" cy="30480"/>
          </a:xfrm>
          <a:prstGeom prst="roundRect">
            <a:avLst>
              <a:gd name="adj" fmla="val 298550"/>
            </a:avLst>
          </a:prstGeom>
          <a:solidFill>
            <a:srgbClr val="8D2424"/>
          </a:solidFill>
          <a:ln/>
        </p:spPr>
      </p:sp>
      <p:sp>
        <p:nvSpPr>
          <p:cNvPr id="38" name="Shape 8">
            <a:extLst>
              <a:ext uri="{FF2B5EF4-FFF2-40B4-BE49-F238E27FC236}">
                <a16:creationId xmlns:a16="http://schemas.microsoft.com/office/drawing/2014/main" id="{16E88168-4C36-9778-1A7B-0F0FAB8987FC}"/>
              </a:ext>
            </a:extLst>
          </p:cNvPr>
          <p:cNvSpPr/>
          <p:nvPr/>
        </p:nvSpPr>
        <p:spPr>
          <a:xfrm>
            <a:off x="6325910" y="4282440"/>
            <a:ext cx="487442" cy="487442"/>
          </a:xfrm>
          <a:prstGeom prst="roundRect">
            <a:avLst>
              <a:gd name="adj" fmla="val 18669"/>
            </a:avLst>
          </a:prstGeom>
          <a:solidFill>
            <a:srgbClr val="740B0B"/>
          </a:solidFill>
          <a:ln w="7620">
            <a:solidFill>
              <a:srgbClr val="8D2424"/>
            </a:solidFill>
            <a:prstDash val="solid"/>
          </a:ln>
        </p:spPr>
      </p:sp>
      <p:sp>
        <p:nvSpPr>
          <p:cNvPr id="39" name="Text 9">
            <a:extLst>
              <a:ext uri="{FF2B5EF4-FFF2-40B4-BE49-F238E27FC236}">
                <a16:creationId xmlns:a16="http://schemas.microsoft.com/office/drawing/2014/main" id="{897315F3-02C3-10E8-041C-8A189E97E98F}"/>
              </a:ext>
            </a:extLst>
          </p:cNvPr>
          <p:cNvSpPr/>
          <p:nvPr/>
        </p:nvSpPr>
        <p:spPr>
          <a:xfrm>
            <a:off x="6426756" y="4355068"/>
            <a:ext cx="285631" cy="3420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dirty="0">
                <a:solidFill>
                  <a:srgbClr val="FFE5E5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2</a:t>
            </a:r>
            <a:endParaRPr lang="en-US" sz="2650" dirty="0"/>
          </a:p>
        </p:txBody>
      </p:sp>
      <p:sp>
        <p:nvSpPr>
          <p:cNvPr id="40" name="Text 10">
            <a:extLst>
              <a:ext uri="{FF2B5EF4-FFF2-40B4-BE49-F238E27FC236}">
                <a16:creationId xmlns:a16="http://schemas.microsoft.com/office/drawing/2014/main" id="{FAC7995D-E5CC-C88C-0825-AD2859AD293D}"/>
              </a:ext>
            </a:extLst>
          </p:cNvPr>
          <p:cNvSpPr/>
          <p:nvPr/>
        </p:nvSpPr>
        <p:spPr>
          <a:xfrm>
            <a:off x="7761208" y="4255294"/>
            <a:ext cx="285071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800" dirty="0">
                <a:solidFill>
                  <a:srgbClr val="FFE5E5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Resizing</a:t>
            </a:r>
            <a:endParaRPr lang="en-US" sz="2800" dirty="0"/>
          </a:p>
        </p:txBody>
      </p:sp>
      <p:sp>
        <p:nvSpPr>
          <p:cNvPr id="41" name="Text 11">
            <a:extLst>
              <a:ext uri="{FF2B5EF4-FFF2-40B4-BE49-F238E27FC236}">
                <a16:creationId xmlns:a16="http://schemas.microsoft.com/office/drawing/2014/main" id="{21291180-8ABC-6DD1-8C7C-4010700D7C90}"/>
              </a:ext>
            </a:extLst>
          </p:cNvPr>
          <p:cNvSpPr/>
          <p:nvPr/>
        </p:nvSpPr>
        <p:spPr>
          <a:xfrm>
            <a:off x="7761208" y="4741426"/>
            <a:ext cx="6110883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00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Images are resized to a uniform size for model input.</a:t>
            </a:r>
            <a:endParaRPr lang="en-US" sz="2000" dirty="0"/>
          </a:p>
        </p:txBody>
      </p:sp>
      <p:sp>
        <p:nvSpPr>
          <p:cNvPr id="42" name="Shape 12">
            <a:extLst>
              <a:ext uri="{FF2B5EF4-FFF2-40B4-BE49-F238E27FC236}">
                <a16:creationId xmlns:a16="http://schemas.microsoft.com/office/drawing/2014/main" id="{33426749-C522-AF74-F290-480A0A98A88E}"/>
              </a:ext>
            </a:extLst>
          </p:cNvPr>
          <p:cNvSpPr/>
          <p:nvPr/>
        </p:nvSpPr>
        <p:spPr>
          <a:xfrm>
            <a:off x="6782872" y="5993487"/>
            <a:ext cx="758309" cy="30480"/>
          </a:xfrm>
          <a:prstGeom prst="roundRect">
            <a:avLst>
              <a:gd name="adj" fmla="val 298550"/>
            </a:avLst>
          </a:prstGeom>
          <a:solidFill>
            <a:srgbClr val="8D2424"/>
          </a:solidFill>
          <a:ln/>
        </p:spPr>
      </p:sp>
      <p:sp>
        <p:nvSpPr>
          <p:cNvPr id="43" name="Shape 13">
            <a:extLst>
              <a:ext uri="{FF2B5EF4-FFF2-40B4-BE49-F238E27FC236}">
                <a16:creationId xmlns:a16="http://schemas.microsoft.com/office/drawing/2014/main" id="{3DE755D9-63F8-49F8-4A2D-4FD8F00FE128}"/>
              </a:ext>
            </a:extLst>
          </p:cNvPr>
          <p:cNvSpPr/>
          <p:nvPr/>
        </p:nvSpPr>
        <p:spPr>
          <a:xfrm>
            <a:off x="6325910" y="5765006"/>
            <a:ext cx="487442" cy="487442"/>
          </a:xfrm>
          <a:prstGeom prst="roundRect">
            <a:avLst>
              <a:gd name="adj" fmla="val 18669"/>
            </a:avLst>
          </a:prstGeom>
          <a:solidFill>
            <a:srgbClr val="740B0B"/>
          </a:solidFill>
          <a:ln w="7620">
            <a:solidFill>
              <a:srgbClr val="8D2424"/>
            </a:solidFill>
            <a:prstDash val="solid"/>
          </a:ln>
        </p:spPr>
      </p:sp>
      <p:sp>
        <p:nvSpPr>
          <p:cNvPr id="44" name="Text 14">
            <a:extLst>
              <a:ext uri="{FF2B5EF4-FFF2-40B4-BE49-F238E27FC236}">
                <a16:creationId xmlns:a16="http://schemas.microsoft.com/office/drawing/2014/main" id="{FF1C47ED-1360-1019-5BB9-7CA0E2A5F950}"/>
              </a:ext>
            </a:extLst>
          </p:cNvPr>
          <p:cNvSpPr/>
          <p:nvPr/>
        </p:nvSpPr>
        <p:spPr>
          <a:xfrm>
            <a:off x="6418898" y="5837634"/>
            <a:ext cx="301347" cy="3420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dirty="0">
                <a:solidFill>
                  <a:srgbClr val="FFE5E5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3</a:t>
            </a:r>
            <a:endParaRPr lang="en-US" sz="2650" dirty="0"/>
          </a:p>
        </p:txBody>
      </p:sp>
      <p:sp>
        <p:nvSpPr>
          <p:cNvPr id="45" name="Text 15">
            <a:extLst>
              <a:ext uri="{FF2B5EF4-FFF2-40B4-BE49-F238E27FC236}">
                <a16:creationId xmlns:a16="http://schemas.microsoft.com/office/drawing/2014/main" id="{3448593D-9F37-65EB-C2C6-0C29B14B103D}"/>
              </a:ext>
            </a:extLst>
          </p:cNvPr>
          <p:cNvSpPr/>
          <p:nvPr/>
        </p:nvSpPr>
        <p:spPr>
          <a:xfrm>
            <a:off x="7761208" y="5737860"/>
            <a:ext cx="3287673" cy="35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800" dirty="0">
                <a:solidFill>
                  <a:srgbClr val="FFE5E5"/>
                </a:solidFill>
                <a:latin typeface="Dela Gothic One" pitchFamily="34" charset="0"/>
                <a:ea typeface="Dela Gothic One" pitchFamily="34" charset="-122"/>
                <a:cs typeface="Dela Gothic One" pitchFamily="34" charset="-120"/>
              </a:rPr>
              <a:t>Data Augmentation</a:t>
            </a:r>
            <a:endParaRPr lang="en-US" sz="2800" dirty="0"/>
          </a:p>
        </p:txBody>
      </p:sp>
      <p:sp>
        <p:nvSpPr>
          <p:cNvPr id="46" name="Text 16">
            <a:extLst>
              <a:ext uri="{FF2B5EF4-FFF2-40B4-BE49-F238E27FC236}">
                <a16:creationId xmlns:a16="http://schemas.microsoft.com/office/drawing/2014/main" id="{F306FB3F-864E-7727-0A37-399DE9583E6F}"/>
              </a:ext>
            </a:extLst>
          </p:cNvPr>
          <p:cNvSpPr/>
          <p:nvPr/>
        </p:nvSpPr>
        <p:spPr>
          <a:xfrm>
            <a:off x="7761208" y="6223992"/>
            <a:ext cx="6110883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000" dirty="0">
                <a:solidFill>
                  <a:srgbClr val="FFE5E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Techniques like rotation and zoom are applied to increase dataset diversity.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578"/>
            <a:ext cx="14630400" cy="8238744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6064" y="0"/>
            <a:ext cx="4974336" cy="8238744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186" y="3171479"/>
            <a:ext cx="7734484" cy="667513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5" y="5677642"/>
            <a:ext cx="7862628" cy="740665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4398617"/>
            <a:ext cx="7803854" cy="667513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1072782" y="5900043"/>
            <a:ext cx="4571661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Classification:  blood group classes</a:t>
            </a:r>
            <a:endParaRPr lang="en-US" sz="2400" dirty="0"/>
          </a:p>
        </p:txBody>
      </p:sp>
      <p:sp>
        <p:nvSpPr>
          <p:cNvPr id="8" name="Text 1"/>
          <p:cNvSpPr/>
          <p:nvPr/>
        </p:nvSpPr>
        <p:spPr>
          <a:xfrm>
            <a:off x="813816" y="3321860"/>
            <a:ext cx="367851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Base: Pretrained VGG16</a:t>
            </a:r>
            <a:endParaRPr lang="en-US" sz="2400" dirty="0"/>
          </a:p>
        </p:txBody>
      </p:sp>
      <p:sp>
        <p:nvSpPr>
          <p:cNvPr id="9" name="Text 2"/>
          <p:cNvSpPr/>
          <p:nvPr/>
        </p:nvSpPr>
        <p:spPr>
          <a:xfrm>
            <a:off x="755042" y="4560798"/>
            <a:ext cx="7862628" cy="505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Custom Layers: GlobalAveragePooling2D, Dense, Softmax</a:t>
            </a:r>
            <a:endParaRPr lang="en-US" sz="2400" dirty="0"/>
          </a:p>
        </p:txBody>
      </p:sp>
      <p:sp>
        <p:nvSpPr>
          <p:cNvPr id="10" name="Text 3"/>
          <p:cNvSpPr/>
          <p:nvPr/>
        </p:nvSpPr>
        <p:spPr>
          <a:xfrm>
            <a:off x="813816" y="2206681"/>
            <a:ext cx="8010144" cy="740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00"/>
              </a:lnSpc>
              <a:buNone/>
            </a:pPr>
            <a:r>
              <a:rPr lang="en-US" sz="4640" b="1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11. Model Architecture</a:t>
            </a:r>
            <a:endParaRPr lang="en-US" sz="4640" b="1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38744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4630400" cy="283464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6306" y="1339596"/>
            <a:ext cx="475488" cy="475488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3188" y="1385316"/>
            <a:ext cx="475488" cy="475488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1385316"/>
            <a:ext cx="475488" cy="475488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9457182" y="1472184"/>
            <a:ext cx="173736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20"/>
              </a:lnSpc>
              <a:buNone/>
            </a:pPr>
            <a:r>
              <a:rPr lang="en-US" sz="2320" dirty="0">
                <a:solidFill>
                  <a:srgbClr val="FFFFFF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3</a:t>
            </a:r>
            <a:endParaRPr lang="en-US" sz="2320" dirty="0"/>
          </a:p>
        </p:txBody>
      </p:sp>
      <p:sp>
        <p:nvSpPr>
          <p:cNvPr id="8" name="Text 1"/>
          <p:cNvSpPr/>
          <p:nvPr/>
        </p:nvSpPr>
        <p:spPr>
          <a:xfrm>
            <a:off x="5100066" y="1490472"/>
            <a:ext cx="173736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20"/>
              </a:lnSpc>
              <a:buNone/>
            </a:pPr>
            <a:r>
              <a:rPr lang="en-US" sz="2320" dirty="0">
                <a:solidFill>
                  <a:srgbClr val="FFFFFF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2</a:t>
            </a:r>
            <a:endParaRPr lang="en-US" sz="2320" dirty="0"/>
          </a:p>
        </p:txBody>
      </p:sp>
      <p:sp>
        <p:nvSpPr>
          <p:cNvPr id="9" name="Text 2"/>
          <p:cNvSpPr/>
          <p:nvPr/>
        </p:nvSpPr>
        <p:spPr>
          <a:xfrm>
            <a:off x="992124" y="1472184"/>
            <a:ext cx="173736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20"/>
              </a:lnSpc>
              <a:buNone/>
            </a:pPr>
            <a:r>
              <a:rPr lang="en-US" sz="2320" dirty="0">
                <a:solidFill>
                  <a:srgbClr val="FFFFFF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1</a:t>
            </a:r>
            <a:endParaRPr lang="en-US" sz="2320" dirty="0"/>
          </a:p>
        </p:txBody>
      </p:sp>
      <p:sp>
        <p:nvSpPr>
          <p:cNvPr id="10" name="Text 3"/>
          <p:cNvSpPr/>
          <p:nvPr/>
        </p:nvSpPr>
        <p:spPr>
          <a:xfrm>
            <a:off x="5545836" y="1472184"/>
            <a:ext cx="3538728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Batch Size: 16</a:t>
            </a:r>
            <a:endParaRPr lang="en-US" sz="2400" dirty="0"/>
          </a:p>
        </p:txBody>
      </p:sp>
      <p:sp>
        <p:nvSpPr>
          <p:cNvPr id="11" name="Text 4"/>
          <p:cNvSpPr/>
          <p:nvPr/>
        </p:nvSpPr>
        <p:spPr>
          <a:xfrm>
            <a:off x="10003536" y="1339596"/>
            <a:ext cx="35387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Loss Function: Categorical CrossEntropy (Loss: 0.39)</a:t>
            </a:r>
            <a:endParaRPr lang="en-US" sz="2400" dirty="0"/>
          </a:p>
        </p:txBody>
      </p:sp>
      <p:sp>
        <p:nvSpPr>
          <p:cNvPr id="12" name="Text 5"/>
          <p:cNvSpPr/>
          <p:nvPr/>
        </p:nvSpPr>
        <p:spPr>
          <a:xfrm>
            <a:off x="363474" y="214884"/>
            <a:ext cx="12984480" cy="740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00"/>
              </a:lnSpc>
              <a:buNone/>
            </a:pPr>
            <a:r>
              <a:rPr lang="en-US" sz="4640" b="1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12. Training Parameters</a:t>
            </a:r>
            <a:endParaRPr lang="en-US" sz="4640" b="1" dirty="0"/>
          </a:p>
        </p:txBody>
      </p:sp>
      <p:sp>
        <p:nvSpPr>
          <p:cNvPr id="13" name="Text 6"/>
          <p:cNvSpPr/>
          <p:nvPr/>
        </p:nvSpPr>
        <p:spPr>
          <a:xfrm>
            <a:off x="1467612" y="1453896"/>
            <a:ext cx="3538728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Epochs: 25</a:t>
            </a:r>
            <a:endParaRPr lang="en-US" sz="2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08DB38-F937-2EEC-E47F-A60437C406FB}"/>
              </a:ext>
            </a:extLst>
          </p:cNvPr>
          <p:cNvSpPr txBox="1"/>
          <p:nvPr/>
        </p:nvSpPr>
        <p:spPr>
          <a:xfrm>
            <a:off x="363474" y="2956816"/>
            <a:ext cx="5444346" cy="858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8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Output Screenshot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61B1C4C-A2CF-19AE-3F00-16C2D5DB84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822" y="3937111"/>
            <a:ext cx="12936755" cy="390248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9EE33FF-D849-A475-7553-DCFBCA4FBD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713" y="1839558"/>
            <a:ext cx="12498544" cy="19560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8E07124-9B95-5AE0-1F82-5F65AD0EE5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713" y="4821303"/>
            <a:ext cx="12498544" cy="2101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8143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38744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" y="36576"/>
            <a:ext cx="14575536" cy="8174736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6732" y="3263811"/>
            <a:ext cx="1127308" cy="1289901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70756" y="3263811"/>
            <a:ext cx="1127308" cy="1289901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44308" y="3063160"/>
            <a:ext cx="1127308" cy="1490552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610284" y="3063160"/>
            <a:ext cx="1127308" cy="1490552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960120" y="4791456"/>
            <a:ext cx="271576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Training Accuracy: 87.36%</a:t>
            </a:r>
            <a:endParaRPr lang="en-US" sz="2400" dirty="0"/>
          </a:p>
        </p:txBody>
      </p:sp>
      <p:sp>
        <p:nvSpPr>
          <p:cNvPr id="9" name="Text 1"/>
          <p:cNvSpPr/>
          <p:nvPr/>
        </p:nvSpPr>
        <p:spPr>
          <a:xfrm>
            <a:off x="10605855" y="4803173"/>
            <a:ext cx="313616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Metrics Used: Accuracy, Precision, Recall, F1 Score</a:t>
            </a:r>
            <a:endParaRPr lang="en-US" sz="2400" dirty="0"/>
          </a:p>
        </p:txBody>
      </p:sp>
      <p:sp>
        <p:nvSpPr>
          <p:cNvPr id="10" name="Text 2"/>
          <p:cNvSpPr/>
          <p:nvPr/>
        </p:nvSpPr>
        <p:spPr>
          <a:xfrm>
            <a:off x="7626096" y="4791456"/>
            <a:ext cx="2715768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Test Accuracy: </a:t>
            </a:r>
          </a:p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87.34%</a:t>
            </a:r>
            <a:endParaRPr lang="en-US" sz="2400" dirty="0"/>
          </a:p>
        </p:txBody>
      </p:sp>
      <p:sp>
        <p:nvSpPr>
          <p:cNvPr id="11" name="Text 3"/>
          <p:cNvSpPr/>
          <p:nvPr/>
        </p:nvSpPr>
        <p:spPr>
          <a:xfrm>
            <a:off x="694944" y="1574687"/>
            <a:ext cx="12984480" cy="740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00"/>
              </a:lnSpc>
              <a:buNone/>
            </a:pPr>
            <a:r>
              <a:rPr lang="en-US" sz="4640" b="1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13. Evaluation Metrics</a:t>
            </a:r>
            <a:endParaRPr lang="en-US" sz="4640" b="1" dirty="0"/>
          </a:p>
        </p:txBody>
      </p:sp>
      <p:sp>
        <p:nvSpPr>
          <p:cNvPr id="12" name="Text 4"/>
          <p:cNvSpPr/>
          <p:nvPr/>
        </p:nvSpPr>
        <p:spPr>
          <a:xfrm>
            <a:off x="4297680" y="4791456"/>
            <a:ext cx="271576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Validation Accuracy: 86.83%</a:t>
            </a:r>
            <a:endParaRPr lang="en-US" sz="2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38744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" y="36576"/>
            <a:ext cx="14575536" cy="8174736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521208" y="420624"/>
            <a:ext cx="12984480" cy="740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00"/>
              </a:lnSpc>
              <a:buNone/>
            </a:pPr>
            <a:r>
              <a:rPr lang="en-US" sz="4640" b="1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14. Confusion Matrix</a:t>
            </a:r>
            <a:endParaRPr lang="en-US" sz="4640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2900AC0-51A8-6D33-EECE-03FE5B84AA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9592" y="4503419"/>
            <a:ext cx="7548250" cy="345186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7EA332B-F297-5C56-DDE3-D1514FFE9A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555" y="1161288"/>
            <a:ext cx="7491198" cy="3148553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DA83E-D307-FE4D-8422-B140E6588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73E948BE-56BA-4960-A571-ABDC7A5E05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38744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3F4ACA63-8172-2FCE-45CC-A863ED2AB9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" y="36576"/>
            <a:ext cx="14575536" cy="8174736"/>
          </a:xfrm>
          <a:prstGeom prst="rect">
            <a:avLst/>
          </a:prstGeom>
        </p:spPr>
      </p:pic>
      <p:sp>
        <p:nvSpPr>
          <p:cNvPr id="7" name="Text 1">
            <a:extLst>
              <a:ext uri="{FF2B5EF4-FFF2-40B4-BE49-F238E27FC236}">
                <a16:creationId xmlns:a16="http://schemas.microsoft.com/office/drawing/2014/main" id="{9AB6FECB-6C60-C6B5-CAA4-596E2F83F84A}"/>
              </a:ext>
            </a:extLst>
          </p:cNvPr>
          <p:cNvSpPr/>
          <p:nvPr/>
        </p:nvSpPr>
        <p:spPr>
          <a:xfrm>
            <a:off x="521208" y="420624"/>
            <a:ext cx="12984480" cy="740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00"/>
              </a:lnSpc>
              <a:buNone/>
            </a:pPr>
            <a:r>
              <a:rPr lang="en-US" sz="4640" b="1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14. Updated Confusion Matrix</a:t>
            </a:r>
            <a:endParaRPr lang="en-US" sz="464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9F2504-6111-63A8-592D-56AC2A7F08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927" y="1150525"/>
            <a:ext cx="9487715" cy="5929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8203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CDDDEE5-9F63-FE7C-CAF1-86AF2903D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5016" y="492162"/>
            <a:ext cx="9316123" cy="6987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1930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38744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4974336" cy="8238744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5584" y="4133088"/>
            <a:ext cx="475488" cy="475488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5584" y="5614416"/>
            <a:ext cx="475488" cy="475488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5584" y="4873752"/>
            <a:ext cx="475488" cy="475488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5971032" y="4224528"/>
            <a:ext cx="173736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20"/>
              </a:lnSpc>
              <a:buNone/>
            </a:pPr>
            <a:r>
              <a:rPr lang="en-US" sz="2320" dirty="0">
                <a:solidFill>
                  <a:srgbClr val="FFFFFF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1</a:t>
            </a:r>
            <a:endParaRPr lang="en-US" sz="2320" dirty="0"/>
          </a:p>
        </p:txBody>
      </p:sp>
      <p:sp>
        <p:nvSpPr>
          <p:cNvPr id="8" name="Text 1"/>
          <p:cNvSpPr/>
          <p:nvPr/>
        </p:nvSpPr>
        <p:spPr>
          <a:xfrm>
            <a:off x="5971032" y="5696712"/>
            <a:ext cx="173736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20"/>
              </a:lnSpc>
              <a:buNone/>
            </a:pPr>
            <a:r>
              <a:rPr lang="en-US" sz="2320" dirty="0">
                <a:solidFill>
                  <a:srgbClr val="FFFFFF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3</a:t>
            </a:r>
            <a:endParaRPr lang="en-US" sz="2320" dirty="0"/>
          </a:p>
        </p:txBody>
      </p:sp>
      <p:sp>
        <p:nvSpPr>
          <p:cNvPr id="9" name="Text 2"/>
          <p:cNvSpPr/>
          <p:nvPr/>
        </p:nvSpPr>
        <p:spPr>
          <a:xfrm>
            <a:off x="5971032" y="4965192"/>
            <a:ext cx="173736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20"/>
              </a:lnSpc>
              <a:buNone/>
            </a:pPr>
            <a:r>
              <a:rPr lang="en-US" sz="2320" dirty="0">
                <a:solidFill>
                  <a:srgbClr val="FFFFFF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2</a:t>
            </a:r>
            <a:endParaRPr lang="en-US" sz="2320" dirty="0"/>
          </a:p>
        </p:txBody>
      </p:sp>
      <p:sp>
        <p:nvSpPr>
          <p:cNvPr id="10" name="Text 3"/>
          <p:cNvSpPr/>
          <p:nvPr/>
        </p:nvSpPr>
        <p:spPr>
          <a:xfrm>
            <a:off x="6583680" y="4901184"/>
            <a:ext cx="7214616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Upload image </a:t>
            </a:r>
            <a:r>
              <a:rPr lang="en-US" sz="240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and Temp.→ </a:t>
            </a: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Get result</a:t>
            </a:r>
            <a:endParaRPr lang="en-US" sz="2400" dirty="0"/>
          </a:p>
        </p:txBody>
      </p:sp>
      <p:sp>
        <p:nvSpPr>
          <p:cNvPr id="11" name="Text 4"/>
          <p:cNvSpPr/>
          <p:nvPr/>
        </p:nvSpPr>
        <p:spPr>
          <a:xfrm>
            <a:off x="6583680" y="5641848"/>
            <a:ext cx="7214616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Demo screenshots / small GIF preview</a:t>
            </a:r>
            <a:endParaRPr lang="en-US" sz="2400" dirty="0"/>
          </a:p>
        </p:txBody>
      </p:sp>
      <p:sp>
        <p:nvSpPr>
          <p:cNvPr id="12" name="Text 5"/>
          <p:cNvSpPr/>
          <p:nvPr/>
        </p:nvSpPr>
        <p:spPr>
          <a:xfrm>
            <a:off x="5806440" y="2139696"/>
            <a:ext cx="801014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800"/>
              </a:lnSpc>
              <a:buNone/>
            </a:pPr>
            <a:r>
              <a:rPr lang="en-US" sz="4640" b="1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15. MVP – Web Application Demo</a:t>
            </a:r>
            <a:endParaRPr lang="en-US" sz="4640" b="1" dirty="0"/>
          </a:p>
        </p:txBody>
      </p:sp>
      <p:sp>
        <p:nvSpPr>
          <p:cNvPr id="13" name="Text 6"/>
          <p:cNvSpPr/>
          <p:nvPr/>
        </p:nvSpPr>
        <p:spPr>
          <a:xfrm>
            <a:off x="6583680" y="4160520"/>
            <a:ext cx="7214616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Flask-based app for real-time predictions</a:t>
            </a:r>
            <a:endParaRPr lang="en-US" sz="2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86BD0C8-57BB-050B-B98A-AA19F8AFAAE0}"/>
              </a:ext>
            </a:extLst>
          </p:cNvPr>
          <p:cNvSpPr txBox="1"/>
          <p:nvPr/>
        </p:nvSpPr>
        <p:spPr>
          <a:xfrm>
            <a:off x="406797" y="967129"/>
            <a:ext cx="55880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800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User Interface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54C3387-896E-0A70-8A86-533E2AC015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42" t="9724" r="1683"/>
          <a:stretch>
            <a:fillRect/>
          </a:stretch>
        </p:blipFill>
        <p:spPr>
          <a:xfrm>
            <a:off x="1598905" y="3130475"/>
            <a:ext cx="9309349" cy="3763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2080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00A0BE9-9659-0AA4-B109-C24007F946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152" y="2273611"/>
            <a:ext cx="13931153" cy="3682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72084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844C226-0C1E-EC84-8EB5-98E4DFE80B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654" y="1434538"/>
            <a:ext cx="8520057" cy="492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54677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B48DCBE-24EF-FE08-3AAF-C4EDABD419A1}"/>
              </a:ext>
            </a:extLst>
          </p:cNvPr>
          <p:cNvSpPr txBox="1"/>
          <p:nvPr/>
        </p:nvSpPr>
        <p:spPr>
          <a:xfrm>
            <a:off x="957430" y="780938"/>
            <a:ext cx="7315200" cy="520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EFE396"/>
                </a:solidFill>
                <a:effectLst/>
                <a:uLnTx/>
                <a:uFillTx/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16. Go-To-Market Strategy</a:t>
            </a:r>
            <a:endParaRPr kumimoji="0" lang="en-US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D734E6-01C9-BA94-0E72-A13822E00C6A}"/>
              </a:ext>
            </a:extLst>
          </p:cNvPr>
          <p:cNvSpPr txBox="1"/>
          <p:nvPr/>
        </p:nvSpPr>
        <p:spPr>
          <a:xfrm>
            <a:off x="1796527" y="2076226"/>
            <a:ext cx="9176273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FFFF00"/>
                </a:solidFill>
                <a:highlight>
                  <a:srgbClr val="000000"/>
                </a:highlight>
              </a:rPr>
              <a:t>Target hospitals, labs, and researchers.</a:t>
            </a:r>
          </a:p>
          <a:p>
            <a:pPr>
              <a:buFont typeface="Arial" panose="020B0604020202020204" pitchFamily="34" charset="0"/>
              <a:buChar char="•"/>
            </a:pPr>
            <a:endParaRPr lang="en-GB" sz="2400" dirty="0">
              <a:solidFill>
                <a:srgbClr val="FFFF00"/>
              </a:solidFill>
              <a:highlight>
                <a:srgbClr val="000000"/>
              </a:highlight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FFFF00"/>
                </a:solidFill>
                <a:highlight>
                  <a:srgbClr val="000000"/>
                </a:highlight>
              </a:rPr>
              <a:t>Promote via SEO, social media, and email outreach.</a:t>
            </a:r>
          </a:p>
          <a:p>
            <a:pPr>
              <a:buFont typeface="Arial" panose="020B0604020202020204" pitchFamily="34" charset="0"/>
              <a:buChar char="•"/>
            </a:pPr>
            <a:endParaRPr lang="en-GB" sz="2400" dirty="0">
              <a:solidFill>
                <a:srgbClr val="FFFF00"/>
              </a:solidFill>
              <a:highlight>
                <a:srgbClr val="000000"/>
              </a:highlight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FFFF00"/>
                </a:solidFill>
                <a:highlight>
                  <a:srgbClr val="000000"/>
                </a:highlight>
              </a:rPr>
              <a:t>Offer freemium web app to drive adoption.</a:t>
            </a:r>
          </a:p>
          <a:p>
            <a:pPr>
              <a:buFont typeface="Arial" panose="020B0604020202020204" pitchFamily="34" charset="0"/>
              <a:buChar char="•"/>
            </a:pPr>
            <a:endParaRPr lang="en-GB" sz="2400" dirty="0">
              <a:solidFill>
                <a:srgbClr val="FFFF00"/>
              </a:solidFill>
              <a:highlight>
                <a:srgbClr val="000000"/>
              </a:highlight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FFFF00"/>
                </a:solidFill>
                <a:highlight>
                  <a:srgbClr val="000000"/>
                </a:highlight>
              </a:rPr>
              <a:t>Partner with med-tech firms and hospital IT providers.</a:t>
            </a:r>
          </a:p>
          <a:p>
            <a:pPr>
              <a:buFont typeface="Arial" panose="020B0604020202020204" pitchFamily="34" charset="0"/>
              <a:buChar char="•"/>
            </a:pPr>
            <a:endParaRPr lang="en-GB" sz="2400" dirty="0">
              <a:solidFill>
                <a:srgbClr val="FFFF00"/>
              </a:solidFill>
              <a:highlight>
                <a:srgbClr val="000000"/>
              </a:highlight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FFFF00"/>
                </a:solidFill>
                <a:highlight>
                  <a:srgbClr val="000000"/>
                </a:highlight>
              </a:rPr>
              <a:t>Attend medical expos and tech conferences.</a:t>
            </a:r>
          </a:p>
          <a:p>
            <a:pPr>
              <a:buFont typeface="Arial" panose="020B0604020202020204" pitchFamily="34" charset="0"/>
              <a:buChar char="•"/>
            </a:pPr>
            <a:endParaRPr lang="en-GB" sz="2400" dirty="0">
              <a:solidFill>
                <a:srgbClr val="FFFF00"/>
              </a:solidFill>
              <a:highlight>
                <a:srgbClr val="000000"/>
              </a:highlight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FFFF00"/>
                </a:solidFill>
                <a:highlight>
                  <a:srgbClr val="000000"/>
                </a:highlight>
              </a:rPr>
              <a:t>Share tutorials and case studies online.</a:t>
            </a:r>
          </a:p>
          <a:p>
            <a:pPr>
              <a:buFont typeface="Arial" panose="020B0604020202020204" pitchFamily="34" charset="0"/>
              <a:buChar char="•"/>
            </a:pPr>
            <a:endParaRPr lang="en-GB" sz="2400" dirty="0">
              <a:solidFill>
                <a:srgbClr val="FFFF00"/>
              </a:solidFill>
              <a:highlight>
                <a:srgbClr val="000000"/>
              </a:highlight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FFFF00"/>
                </a:solidFill>
                <a:highlight>
                  <a:srgbClr val="000000"/>
                </a:highlight>
              </a:rPr>
              <a:t>Gather feedback to improve and retain users.</a:t>
            </a:r>
          </a:p>
        </p:txBody>
      </p:sp>
    </p:spTree>
    <p:extLst>
      <p:ext uri="{BB962C8B-B14F-4D97-AF65-F5344CB8AC3E}">
        <p14:creationId xmlns:p14="http://schemas.microsoft.com/office/powerpoint/2010/main" val="38233657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4514"/>
            <a:ext cx="14630400" cy="8238744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4974336" cy="8238744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4429027"/>
            <a:ext cx="475488" cy="475488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3905" y="5603807"/>
            <a:ext cx="475488" cy="475488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7047" y="2110402"/>
            <a:ext cx="475488" cy="475488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325086"/>
            <a:ext cx="475488" cy="475488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6577923" y="4547278"/>
            <a:ext cx="173736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20"/>
              </a:lnSpc>
              <a:buNone/>
            </a:pPr>
            <a:r>
              <a:rPr lang="en-US" sz="2320" dirty="0">
                <a:solidFill>
                  <a:srgbClr val="FFFFFF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3</a:t>
            </a:r>
            <a:endParaRPr lang="en-US" sz="2320" dirty="0"/>
          </a:p>
        </p:txBody>
      </p:sp>
      <p:sp>
        <p:nvSpPr>
          <p:cNvPr id="9" name="Text 1"/>
          <p:cNvSpPr/>
          <p:nvPr/>
        </p:nvSpPr>
        <p:spPr>
          <a:xfrm>
            <a:off x="6554781" y="5733288"/>
            <a:ext cx="173736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20"/>
              </a:lnSpc>
              <a:buNone/>
            </a:pPr>
            <a:r>
              <a:rPr lang="en-US" sz="2320" dirty="0">
                <a:solidFill>
                  <a:srgbClr val="FFFFFF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4</a:t>
            </a:r>
            <a:endParaRPr lang="en-US" sz="2320" dirty="0"/>
          </a:p>
        </p:txBody>
      </p:sp>
      <p:sp>
        <p:nvSpPr>
          <p:cNvPr id="10" name="Text 2"/>
          <p:cNvSpPr/>
          <p:nvPr/>
        </p:nvSpPr>
        <p:spPr>
          <a:xfrm>
            <a:off x="6496812" y="2241522"/>
            <a:ext cx="173736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20"/>
              </a:lnSpc>
              <a:buNone/>
            </a:pPr>
            <a:r>
              <a:rPr lang="en-US" sz="2320" dirty="0">
                <a:solidFill>
                  <a:srgbClr val="FFFFFF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1</a:t>
            </a:r>
            <a:endParaRPr lang="en-US" sz="2320" dirty="0"/>
          </a:p>
        </p:txBody>
      </p:sp>
      <p:sp>
        <p:nvSpPr>
          <p:cNvPr id="11" name="Text 3"/>
          <p:cNvSpPr/>
          <p:nvPr/>
        </p:nvSpPr>
        <p:spPr>
          <a:xfrm>
            <a:off x="6583680" y="3483864"/>
            <a:ext cx="173736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20"/>
              </a:lnSpc>
              <a:buNone/>
            </a:pPr>
            <a:r>
              <a:rPr lang="en-US" sz="2320" dirty="0">
                <a:solidFill>
                  <a:srgbClr val="FFFFFF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2</a:t>
            </a:r>
            <a:endParaRPr lang="en-US" sz="2320" dirty="0"/>
          </a:p>
        </p:txBody>
      </p:sp>
      <p:sp>
        <p:nvSpPr>
          <p:cNvPr id="12" name="Text 4"/>
          <p:cNvSpPr/>
          <p:nvPr/>
        </p:nvSpPr>
        <p:spPr>
          <a:xfrm>
            <a:off x="7232903" y="3390138"/>
            <a:ext cx="548639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ML-Powered Prediction – 87.34% accurate</a:t>
            </a:r>
            <a:endParaRPr lang="en-US" sz="2400" dirty="0"/>
          </a:p>
        </p:txBody>
      </p:sp>
      <p:sp>
        <p:nvSpPr>
          <p:cNvPr id="13" name="Text 5"/>
          <p:cNvSpPr/>
          <p:nvPr/>
        </p:nvSpPr>
        <p:spPr>
          <a:xfrm>
            <a:off x="7181990" y="2107692"/>
            <a:ext cx="4558453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InfraRed Spectroscopic Imaging (vs. traditional agglutination)</a:t>
            </a:r>
            <a:endParaRPr lang="en-US" sz="2400" dirty="0"/>
          </a:p>
        </p:txBody>
      </p:sp>
      <p:sp>
        <p:nvSpPr>
          <p:cNvPr id="14" name="Text 6"/>
          <p:cNvSpPr/>
          <p:nvPr/>
        </p:nvSpPr>
        <p:spPr>
          <a:xfrm>
            <a:off x="7227089" y="4515274"/>
            <a:ext cx="503264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Portable, Real-time Web App</a:t>
            </a:r>
            <a:endParaRPr lang="en-US" sz="2400" dirty="0"/>
          </a:p>
        </p:txBody>
      </p:sp>
      <p:sp>
        <p:nvSpPr>
          <p:cNvPr id="15" name="Text 7"/>
          <p:cNvSpPr/>
          <p:nvPr/>
        </p:nvSpPr>
        <p:spPr>
          <a:xfrm>
            <a:off x="5815584" y="1060704"/>
            <a:ext cx="8010144" cy="740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00"/>
              </a:lnSpc>
              <a:buNone/>
            </a:pPr>
            <a:r>
              <a:rPr lang="en-US" sz="4640" b="1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17. Uniqueness &amp; Innovation</a:t>
            </a:r>
            <a:endParaRPr lang="en-US" sz="4640" b="1" dirty="0"/>
          </a:p>
        </p:txBody>
      </p:sp>
      <p:sp>
        <p:nvSpPr>
          <p:cNvPr id="16" name="Text 8"/>
          <p:cNvSpPr/>
          <p:nvPr/>
        </p:nvSpPr>
        <p:spPr>
          <a:xfrm>
            <a:off x="7232903" y="5603807"/>
            <a:ext cx="468816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No skilled personnel needed</a:t>
            </a:r>
            <a:endParaRPr lang="en-US" sz="2400" dirty="0"/>
          </a:p>
        </p:txBody>
      </p:sp>
      <p:pic>
        <p:nvPicPr>
          <p:cNvPr id="17" name="Image 0" descr="preencoded.png">
            <a:extLst>
              <a:ext uri="{FF2B5EF4-FFF2-40B4-BE49-F238E27FC236}">
                <a16:creationId xmlns:a16="http://schemas.microsoft.com/office/drawing/2014/main" id="{16703BCC-ACBC-4464-26DB-9A34E4A8D0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38744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" y="36576"/>
            <a:ext cx="14575536" cy="8174736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2605" y="2810047"/>
            <a:ext cx="2351872" cy="1878341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4988" y="2839963"/>
            <a:ext cx="1420594" cy="1878341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87652" y="2851252"/>
            <a:ext cx="1878341" cy="1878341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26426" y="2839963"/>
            <a:ext cx="2115107" cy="1878341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822960" y="1092708"/>
            <a:ext cx="12984480" cy="740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00"/>
              </a:lnSpc>
              <a:buNone/>
            </a:pPr>
            <a:r>
              <a:rPr lang="en-US" sz="4640" b="1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18. Future Roadmap</a:t>
            </a:r>
            <a:endParaRPr lang="en-US" sz="4640" b="1" dirty="0"/>
          </a:p>
        </p:txBody>
      </p:sp>
      <p:sp>
        <p:nvSpPr>
          <p:cNvPr id="9" name="Text 1"/>
          <p:cNvSpPr/>
          <p:nvPr/>
        </p:nvSpPr>
        <p:spPr>
          <a:xfrm>
            <a:off x="4297680" y="4956048"/>
            <a:ext cx="2715768" cy="338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Deploy as mobile app</a:t>
            </a:r>
            <a:endParaRPr lang="en-US" sz="2400" dirty="0"/>
          </a:p>
        </p:txBody>
      </p:sp>
      <p:sp>
        <p:nvSpPr>
          <p:cNvPr id="10" name="Text 2"/>
          <p:cNvSpPr/>
          <p:nvPr/>
        </p:nvSpPr>
        <p:spPr>
          <a:xfrm>
            <a:off x="960120" y="4956048"/>
            <a:ext cx="271576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Add O-, rare blood groups</a:t>
            </a:r>
            <a:endParaRPr lang="en-US" sz="2400" dirty="0"/>
          </a:p>
        </p:txBody>
      </p:sp>
      <p:sp>
        <p:nvSpPr>
          <p:cNvPr id="11" name="Text 3"/>
          <p:cNvSpPr/>
          <p:nvPr/>
        </p:nvSpPr>
        <p:spPr>
          <a:xfrm>
            <a:off x="7626096" y="4956048"/>
            <a:ext cx="271576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Integrate with hospital databases</a:t>
            </a:r>
            <a:endParaRPr lang="en-US" sz="2400" dirty="0"/>
          </a:p>
        </p:txBody>
      </p:sp>
      <p:sp>
        <p:nvSpPr>
          <p:cNvPr id="12" name="Text 4"/>
          <p:cNvSpPr/>
          <p:nvPr/>
        </p:nvSpPr>
        <p:spPr>
          <a:xfrm>
            <a:off x="10963656" y="4956048"/>
            <a:ext cx="271576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Hardware prototype with IR camera</a:t>
            </a:r>
            <a:endParaRPr lang="en-US" sz="2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38744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" y="25287"/>
            <a:ext cx="14575536" cy="8174736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4155" y="2105265"/>
            <a:ext cx="1916304" cy="1530471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6498" y="2225507"/>
            <a:ext cx="1330516" cy="1759237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5780" y="2226330"/>
            <a:ext cx="2109280" cy="1684593"/>
          </a:xfrm>
          <a:prstGeom prst="rect">
            <a:avLst/>
          </a:prstGeom>
        </p:spPr>
      </p:pic>
      <p:sp>
        <p:nvSpPr>
          <p:cNvPr id="9" name="Text 0"/>
          <p:cNvSpPr/>
          <p:nvPr/>
        </p:nvSpPr>
        <p:spPr>
          <a:xfrm>
            <a:off x="10436174" y="4181251"/>
            <a:ext cx="3134473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Support for field testing, scaling, mentorship, and funding</a:t>
            </a:r>
            <a:endParaRPr lang="en-US" sz="2400" dirty="0"/>
          </a:p>
        </p:txBody>
      </p:sp>
      <p:sp>
        <p:nvSpPr>
          <p:cNvPr id="11" name="Text 2"/>
          <p:cNvSpPr/>
          <p:nvPr/>
        </p:nvSpPr>
        <p:spPr>
          <a:xfrm>
            <a:off x="832104" y="4319467"/>
            <a:ext cx="271576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Successfully built an ML system with 87.34% test accuracy</a:t>
            </a:r>
            <a:endParaRPr lang="en-US" sz="2400" dirty="0"/>
          </a:p>
        </p:txBody>
      </p:sp>
      <p:sp>
        <p:nvSpPr>
          <p:cNvPr id="12" name="Text 3"/>
          <p:cNvSpPr/>
          <p:nvPr/>
        </p:nvSpPr>
        <p:spPr>
          <a:xfrm>
            <a:off x="5664423" y="4260109"/>
            <a:ext cx="271576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400" dirty="0">
                <a:solidFill>
                  <a:srgbClr val="D7D7D7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Real-time web interface ready</a:t>
            </a:r>
            <a:endParaRPr lang="en-US" sz="2400" dirty="0"/>
          </a:p>
        </p:txBody>
      </p:sp>
      <p:sp>
        <p:nvSpPr>
          <p:cNvPr id="14" name="Text 5"/>
          <p:cNvSpPr/>
          <p:nvPr/>
        </p:nvSpPr>
        <p:spPr>
          <a:xfrm>
            <a:off x="832104" y="694944"/>
            <a:ext cx="12984480" cy="740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800"/>
              </a:lnSpc>
              <a:buNone/>
            </a:pPr>
            <a:r>
              <a:rPr lang="en-US" sz="4640" b="1" dirty="0">
                <a:solidFill>
                  <a:srgbClr val="EFE396"/>
                </a:solidFill>
                <a:latin typeface="思源黑体-思源黑体-Regular" pitchFamily="34" charset="0"/>
                <a:ea typeface="思源黑体-思源黑体-Regular" pitchFamily="34" charset="-122"/>
                <a:cs typeface="思源黑体-思源黑体-Regular" pitchFamily="34" charset="-120"/>
              </a:rPr>
              <a:t>19. Conclusion &amp; Final Ask</a:t>
            </a:r>
            <a:endParaRPr lang="en-US" sz="4640" b="1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AD4805B-1D3C-E229-B4AE-4D838D6E92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8969" y="1346779"/>
            <a:ext cx="2169488" cy="162502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2C6FCF6-14B7-C0B3-87D4-BB70E8A11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421" y="1336301"/>
            <a:ext cx="2177864" cy="162502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83086E0-8594-D197-9DF5-8A01837DF7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453" y="5261084"/>
            <a:ext cx="2081831" cy="173217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C2B4235-1A6E-77F4-3310-F4A16461568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10295"/>
          <a:stretch>
            <a:fillRect/>
          </a:stretch>
        </p:blipFill>
        <p:spPr>
          <a:xfrm>
            <a:off x="4544645" y="3246502"/>
            <a:ext cx="2116014" cy="18478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0F71D33-2940-B7F9-80FE-FB308AA5AFC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8336"/>
          <a:stretch>
            <a:fillRect/>
          </a:stretch>
        </p:blipFill>
        <p:spPr>
          <a:xfrm>
            <a:off x="9162281" y="3246501"/>
            <a:ext cx="2119630" cy="185322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1AB0A1D-A2B0-8629-726B-A862BF752F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28969" y="5261084"/>
            <a:ext cx="2169488" cy="173217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8F6ECBB-55D8-1302-15E1-424396691A5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62281" y="5342830"/>
            <a:ext cx="2119630" cy="158625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7FD653B-19FB-8160-FB1A-7BAA98313C07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17573" b="10425"/>
          <a:stretch>
            <a:fillRect/>
          </a:stretch>
        </p:blipFill>
        <p:spPr>
          <a:xfrm>
            <a:off x="9138786" y="1336300"/>
            <a:ext cx="2143125" cy="162502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2276C7C4-E38F-3D8A-30E4-32923227FDC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1655" y="3251880"/>
            <a:ext cx="2119630" cy="1847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51485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F46216B-77A9-411A-B9D3-5023FCB70208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496</TotalTime>
  <Words>1438</Words>
  <Application>Microsoft Office PowerPoint</Application>
  <PresentationFormat>Custom</PresentationFormat>
  <Paragraphs>297</Paragraphs>
  <Slides>34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34</vt:i4>
      </vt:variant>
    </vt:vector>
  </HeadingPairs>
  <TitlesOfParts>
    <vt:vector size="46" baseType="lpstr">
      <vt:lpstr>Arial</vt:lpstr>
      <vt:lpstr>Arial Black</vt:lpstr>
      <vt:lpstr>Calibri</vt:lpstr>
      <vt:lpstr>Calibri Light</vt:lpstr>
      <vt:lpstr>Century Gothic</vt:lpstr>
      <vt:lpstr>Dela Gothic One</vt:lpstr>
      <vt:lpstr>DM Sans</vt:lpstr>
      <vt:lpstr>Google Sans</vt:lpstr>
      <vt:lpstr>Wingdings 3</vt:lpstr>
      <vt:lpstr>思源黑体-思源黑体-Regular</vt:lpstr>
      <vt:lpstr>Ion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rahul patel</cp:lastModifiedBy>
  <cp:revision>16</cp:revision>
  <dcterms:created xsi:type="dcterms:W3CDTF">2025-04-07T09:35:05Z</dcterms:created>
  <dcterms:modified xsi:type="dcterms:W3CDTF">2025-12-23T11:27:58Z</dcterms:modified>
</cp:coreProperties>
</file>